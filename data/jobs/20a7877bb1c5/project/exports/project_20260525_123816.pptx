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大家好，今天我汇报的主题是围绕这家公司的盈利质量进行深度分析。先来看封面，这是我们分析的对象——一家在商用车视频监控领域深耕的企业。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简单介绍一下公司背景。这家公司主要从事商用车视频监控系统的研发、生产和销售，客户覆盖国内外主流商用车厂商。近年来，公司经历了疫情冲击、供应链波动等多重挑战，业务处在调整恢复阶段。我们今天的分析，就是要穿透这些表面波动，看清公司真实的盈利质量和财务健康状况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接下来，我们正式进入第一个核心分析板块——盈利质量分析。这个部分我们将从两个维度展开：一是利润的含金量，二是盈利的成长性。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看营收和净利润的变化趋势。营收方面，2021年是17.6亿元，2022年下滑到13.8亿元，2023年又回升到16.6亿元，呈现出一个先降后升的V型走势。净利润也同样经历了先跌后涨的过程。这说明公司正在从低谷中走出，营收恢复速度较快。那这里面利润的含金量如何？成长性能否持续？我们需要进一步深挖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好，接下来我们进入第二个分析板块——盈利持续性与杜邦分析。我们要回答一个关键问题：盈利的回升是昙花一现，还是具备可持续性？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盈利持续性方面，我们重点观察了主营业务收入的稳定性、客户集中度以及行业周期影响。从数据来看，公司的核心产品需求在后疫情时代逐步回暖，海外订单也在恢复，这为盈利的持续改善提供了支撑。但也要注意到，行业竞争在加剧，毛利率的持续提升还需要进一步观察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通过杜邦分析拆解，我们可以更清晰地看到盈利回升的驱动力。首先，盈利能力回升主要依靠销售净利率修复驱动，这说明公司产品定价能力和成本控制都在改善。其次，资产使用效率保持稳健，说明运营管理没有出现大的问题。最后，财务杠杆在降低，财务风险在减小，公司的安全边际在提升。整体来看，这次盈利改善是有质量、有支撑的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做一个总结和展望。后疫情时代，全球商用车的视频监控需求正在增长，同时人工智能技术的赋能也为行业带来了新的增长机会。基于公司改善的盈利质量和稳健的财务结构，我们持谨慎乐观的态度。以上就是我的汇报，谢谢大家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aba8f9f2afe064bd.jpg"/>
  <Relationship Id="rId3" Type="http://schemas.openxmlformats.org/officeDocument/2006/relationships/image" Target="../media/image_5df81132dc4e0206.png"/>
  <Relationship Id="rId4" Type="http://schemas.openxmlformats.org/officeDocument/2006/relationships/image" Target="../media/image_14759fffdf10fc72.png"/>
  <Relationship Id="rId5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aba8f9f2afe064bd.jpg"/>
  <Relationship Id="rId3" Type="http://schemas.openxmlformats.org/officeDocument/2006/relationships/image" Target="../media/image_14759fffdf10fc72.png"/>
  <Relationship Id="rId4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aba8f9f2afe064bd.jpg"/>
  <Relationship Id="rId3" Type="http://schemas.openxmlformats.org/officeDocument/2006/relationships/image" Target="../media/image_14759fffdf10fc72.png"/>
  <Relationship Id="rId4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1e6f46a7f3b83295.png"/>
  <Relationship Id="rId3" Type="http://schemas.openxmlformats.org/officeDocument/2006/relationships/image" Target="../media/image_120e3f4572486287.jpg"/>
  <Relationship Id="rId4" Type="http://schemas.openxmlformats.org/officeDocument/2006/relationships/image" Target="../media/image_14759fffdf10fc72.png"/>
  <Relationship Id="rId5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aba8f9f2afe064bd.jpg"/>
  <Relationship Id="rId3" Type="http://schemas.openxmlformats.org/officeDocument/2006/relationships/image" Target="../media/image_14759fffdf10fc72.png"/>
  <Relationship Id="rId4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14759fffdf10fc72.png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14759fffdf10fc72.png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aba8f9f2afe064bd.jpg"/>
  <Relationship Id="rId3" Type="http://schemas.openxmlformats.org/officeDocument/2006/relationships/image" Target="../media/image_5df81132dc4e0206.png"/>
  <Relationship Id="rId4" Type="http://schemas.openxmlformats.org/officeDocument/2006/relationships/image" Target="../media/image_14759fffdf10fc72.png"/>
  <Relationship Id="rId5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grpSp>
        <p:nvGrpSpPr>
          <p:cNvPr id="7" name="Group 7"/>
          <p:cNvGrpSpPr/>
          <p:nvPr/>
        </p:nvGrpSpPr>
        <p:grpSpPr>
          <a:xfrm>
            <a:off x="-947738" y="3856006"/>
            <a:ext cx="3247169" cy="3523107"/>
            <a:chOff x="-947738" y="3856006"/>
            <a:chExt cx="3247169" cy="3523107"/>
          </a:xfrm>
        </p:grpSpPr>
        <p:sp>
          <p:nvSpPr>
            <p:cNvPr id="5" name="Freeform 5"/>
            <p:cNvSpPr/>
            <p:nvPr/>
          </p:nvSpPr>
          <p:spPr>
            <a:xfrm>
              <a:off x="-947738" y="3856006"/>
              <a:ext cx="2656046" cy="2582132"/>
            </a:xfrm>
            <a:custGeom>
              <a:avLst/>
              <a:gdLst/>
              <a:ahLst/>
              <a:cxnLst/>
              <a:rect l="l" t="t" r="r" b="b"/>
              <a:pathLst>
                <a:path w="2656046" h="2582132">
                  <a:moveTo>
                    <a:pt x="1158716" y="12668"/>
                  </a:moveTo>
                  <a:cubicBezTo>
                    <a:pt x="1233392" y="20288"/>
                    <a:pt x="1306163" y="56293"/>
                    <a:pt x="1358932" y="123444"/>
                  </a:cubicBezTo>
                  <a:cubicBezTo>
                    <a:pt x="1358932" y="123444"/>
                    <a:pt x="1358932" y="123444"/>
                    <a:pt x="2544413" y="1613345"/>
                  </a:cubicBezTo>
                  <a:lnTo>
                    <a:pt x="2656046" y="1753648"/>
                  </a:lnTo>
                  <a:lnTo>
                    <a:pt x="2656046" y="2136267"/>
                  </a:lnTo>
                  <a:lnTo>
                    <a:pt x="2618804" y="2175796"/>
                  </a:lnTo>
                  <a:cubicBezTo>
                    <a:pt x="2579370" y="2208181"/>
                    <a:pt x="2530221" y="2231041"/>
                    <a:pt x="2473261" y="2239518"/>
                  </a:cubicBezTo>
                  <a:cubicBezTo>
                    <a:pt x="2473261" y="2239518"/>
                    <a:pt x="2473261" y="2239518"/>
                    <a:pt x="403003" y="2548509"/>
                  </a:cubicBezTo>
                  <a:cubicBezTo>
                    <a:pt x="177546" y="2582132"/>
                    <a:pt x="0" y="2359724"/>
                    <a:pt x="82391" y="2147316"/>
                  </a:cubicBezTo>
                  <a:cubicBezTo>
                    <a:pt x="82391" y="2147316"/>
                    <a:pt x="82391" y="2147316"/>
                    <a:pt x="851059" y="199263"/>
                  </a:cubicBezTo>
                  <a:cubicBezTo>
                    <a:pt x="903922" y="66294"/>
                    <a:pt x="1034129" y="0"/>
                    <a:pt x="1158716" y="12668"/>
                  </a:cubicBezTo>
                  <a:close/>
                </a:path>
              </a:pathLst>
            </a:custGeom>
            <a:solidFill>
              <a:srgbClr val="6C92C0">
                <a:alpha val="66000"/>
              </a:srgbClr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-283654" y="4149757"/>
              <a:ext cx="2583085" cy="3229356"/>
            </a:xfrm>
            <a:custGeom>
              <a:avLst/>
              <a:gdLst/>
              <a:ahLst/>
              <a:cxnLst/>
              <a:rect l="l" t="t" r="r" b="b"/>
              <a:pathLst>
                <a:path w="2583085" h="3229356">
                  <a:moveTo>
                    <a:pt x="2583085" y="0"/>
                  </a:moveTo>
                  <a:lnTo>
                    <a:pt x="2583085" y="3229356"/>
                  </a:lnTo>
                  <a:lnTo>
                    <a:pt x="1817846" y="3229356"/>
                  </a:lnTo>
                  <a:lnTo>
                    <a:pt x="1550480" y="3097530"/>
                  </a:lnTo>
                  <a:cubicBezTo>
                    <a:pt x="1231964" y="2940368"/>
                    <a:pt x="880491" y="2767012"/>
                    <a:pt x="492633" y="2575750"/>
                  </a:cubicBezTo>
                  <a:cubicBezTo>
                    <a:pt x="42101" y="2353532"/>
                    <a:pt x="0" y="1727740"/>
                    <a:pt x="415862" y="1446657"/>
                  </a:cubicBezTo>
                  <a:cubicBezTo>
                    <a:pt x="415862" y="1446657"/>
                    <a:pt x="415862" y="1446657"/>
                    <a:pt x="2474690" y="72295"/>
                  </a:cubicBezTo>
                  <a:close/>
                </a:path>
              </a:pathLst>
            </a:custGeom>
            <a:solidFill>
              <a:srgbClr val="48A2A0">
                <a:alpha val="45000"/>
              </a:srgbClr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9087040" y="-1443800"/>
            <a:ext cx="3204401" cy="4893660"/>
            <a:chOff x="9087040" y="-1443800"/>
            <a:chExt cx="3204401" cy="4893660"/>
          </a:xfrm>
        </p:grpSpPr>
        <p:sp>
          <p:nvSpPr>
            <p:cNvPr id="8" name="Freeform 8"/>
            <p:cNvSpPr/>
            <p:nvPr/>
          </p:nvSpPr>
          <p:spPr>
            <a:xfrm>
              <a:off x="9087040" y="-1443800"/>
              <a:ext cx="3204401" cy="3482054"/>
            </a:xfrm>
            <a:custGeom>
              <a:avLst/>
              <a:gdLst/>
              <a:ahLst/>
              <a:cxnLst/>
              <a:rect l="l" t="t" r="r" b="b"/>
              <a:pathLst>
                <a:path w="3204401" h="3482054">
                  <a:moveTo>
                    <a:pt x="0" y="0"/>
                  </a:moveTo>
                  <a:lnTo>
                    <a:pt x="45911" y="11620"/>
                  </a:lnTo>
                  <a:cubicBezTo>
                    <a:pt x="152590" y="46101"/>
                    <a:pt x="252793" y="109633"/>
                    <a:pt x="334899" y="204502"/>
                  </a:cubicBezTo>
                  <a:cubicBezTo>
                    <a:pt x="334899" y="204502"/>
                    <a:pt x="334899" y="204502"/>
                    <a:pt x="3098673" y="3361277"/>
                  </a:cubicBezTo>
                  <a:lnTo>
                    <a:pt x="3204401" y="3482054"/>
                  </a:lnTo>
                  <a:lnTo>
                    <a:pt x="0" y="3482054"/>
                  </a:lnTo>
                  <a:close/>
                </a:path>
              </a:pathLst>
            </a:custGeom>
            <a:solidFill>
              <a:srgbClr val="6C92C0">
                <a:alpha val="5000"/>
              </a:srgbClr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9102280" y="-843629"/>
              <a:ext cx="1443323" cy="4293489"/>
            </a:xfrm>
            <a:custGeom>
              <a:avLst/>
              <a:gdLst/>
              <a:ahLst/>
              <a:cxnLst/>
              <a:rect l="l" t="t" r="r" b="b"/>
              <a:pathLst>
                <a:path w="1443323" h="4293489">
                  <a:moveTo>
                    <a:pt x="898970" y="2286"/>
                  </a:moveTo>
                  <a:cubicBezTo>
                    <a:pt x="1208342" y="18002"/>
                    <a:pt x="1443323" y="324326"/>
                    <a:pt x="1343787" y="640842"/>
                  </a:cubicBezTo>
                  <a:cubicBezTo>
                    <a:pt x="1343787" y="640842"/>
                    <a:pt x="1343787" y="640842"/>
                    <a:pt x="316801" y="3971830"/>
                  </a:cubicBezTo>
                  <a:cubicBezTo>
                    <a:pt x="266986" y="4130040"/>
                    <a:pt x="151067" y="4239578"/>
                    <a:pt x="14478" y="4289203"/>
                  </a:cubicBezTo>
                  <a:lnTo>
                    <a:pt x="0" y="4293489"/>
                  </a:lnTo>
                  <a:lnTo>
                    <a:pt x="0" y="187738"/>
                  </a:lnTo>
                  <a:lnTo>
                    <a:pt x="164306" y="150304"/>
                  </a:lnTo>
                  <a:cubicBezTo>
                    <a:pt x="350996" y="107823"/>
                    <a:pt x="550164" y="62484"/>
                    <a:pt x="762572" y="14097"/>
                  </a:cubicBezTo>
                  <a:cubicBezTo>
                    <a:pt x="809053" y="3715"/>
                    <a:pt x="854773" y="0"/>
                    <a:pt x="898970" y="2286"/>
                  </a:cubicBezTo>
                  <a:close/>
                </a:path>
              </a:pathLst>
            </a:custGeom>
            <a:solidFill>
              <a:srgbClr val="6C92C0">
                <a:alpha val="78000"/>
              </a:srgbClr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9734645" y="-218884"/>
              <a:ext cx="1191863" cy="1032224"/>
            </a:xfrm>
            <a:custGeom>
              <a:avLst/>
              <a:gdLst/>
              <a:ahLst/>
              <a:cxnLst/>
              <a:rect l="l" t="t" r="r" b="b"/>
              <a:pathLst>
                <a:path w="1191863" h="1032224">
                  <a:moveTo>
                    <a:pt x="487966" y="83153"/>
                  </a:moveTo>
                  <a:cubicBezTo>
                    <a:pt x="47435" y="845534"/>
                    <a:pt x="47435" y="845534"/>
                    <a:pt x="47435" y="845534"/>
                  </a:cubicBezTo>
                  <a:cubicBezTo>
                    <a:pt x="0" y="928783"/>
                    <a:pt x="60007" y="1032224"/>
                    <a:pt x="155924" y="1032224"/>
                  </a:cubicBezTo>
                  <a:cubicBezTo>
                    <a:pt x="1035939" y="1032224"/>
                    <a:pt x="1035939" y="1032224"/>
                    <a:pt x="1035939" y="1032224"/>
                  </a:cubicBezTo>
                  <a:cubicBezTo>
                    <a:pt x="1132808" y="1032224"/>
                    <a:pt x="1191863" y="928783"/>
                    <a:pt x="1144429" y="845534"/>
                  </a:cubicBezTo>
                  <a:cubicBezTo>
                    <a:pt x="703898" y="83153"/>
                    <a:pt x="703898" y="83153"/>
                    <a:pt x="703898" y="83153"/>
                  </a:cubicBezTo>
                  <a:cubicBezTo>
                    <a:pt x="656463" y="0"/>
                    <a:pt x="536353" y="0"/>
                    <a:pt x="487966" y="83153"/>
                  </a:cubicBezTo>
                  <a:close/>
                </a:path>
              </a:pathLst>
            </a:custGeom>
            <a:solidFill>
              <a:srgbClr val="48A2A0">
                <a:alpha val="68000"/>
              </a:srgbClr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749647" y="1837658"/>
            <a:ext cx="8692706" cy="1317022"/>
            <a:chOff x="1749647" y="1837658"/>
            <a:chExt cx="8692706" cy="1317022"/>
          </a:xfrm>
        </p:grpSpPr>
        <p:sp>
          <p:nvSpPr>
            <p:cNvPr id="12" name="Rectangle 12"/>
            <p:cNvSpPr/>
            <p:nvPr/>
          </p:nvSpPr>
          <p:spPr>
            <a:xfrm>
              <a:off x="1749647" y="1837658"/>
              <a:ext cx="8692706" cy="108842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904905" y="2057400"/>
              <a:ext cx="8382191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400" dirty="0">
                  <a:solidFill>
                    <a:srgbClr val="48A2A0"/>
                  </a:solidFill>
                  <a:latin typeface="微软雅黑"/>
                  <a:ea typeface="Microsoft YaHei"/>
                  <a:cs typeface="微软雅黑"/>
                </a:rPr>
                <a:t>Anchor — 结构性锚点分析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513862" y="3674269"/>
            <a:ext cx="2550795" cy="416052"/>
            <a:chOff x="6513862" y="3674269"/>
            <a:chExt cx="2550795" cy="416052"/>
          </a:xfrm>
        </p:grpSpPr>
        <p:grpSp>
          <p:nvGrpSpPr>
            <p:cNvPr id="17" name="Group 17"/>
            <p:cNvGrpSpPr/>
            <p:nvPr/>
          </p:nvGrpSpPr>
          <p:grpSpPr>
            <a:xfrm>
              <a:off x="7058882" y="3674269"/>
              <a:ext cx="2005775" cy="416052"/>
              <a:chOff x="7058882" y="3674269"/>
              <a:chExt cx="2005775" cy="416052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7058882" y="3674269"/>
                <a:ext cx="2005775" cy="416052"/>
              </a:xfrm>
              <a:prstGeom prst="roundRect">
                <a:avLst>
                  <a:gd name="adj" fmla="val 50000"/>
                </a:avLst>
              </a:prstGeom>
              <a:solidFill>
                <a:srgbClr val="6C92C0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7294809" y="3760370"/>
                <a:ext cx="1533920" cy="325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00" dirty="0">
                    <a:solidFill>
                      <a:srgbClr val="FFFFFF"/>
                    </a:solidFill>
                    <a:latin typeface="印品黑体"/>
                    <a:ea typeface="Microsoft YaHei"/>
                    <a:cs typeface="印品黑体"/>
                  </a:rPr>
                  <a:t>汇报人：陈昱衡</a:t>
                </a:r>
              </a:p>
            </p:txBody>
          </p:sp>
        </p:grpSp>
        <p:sp>
          <p:nvSpPr>
            <p:cNvPr id="18" name="Ellipse 18"/>
            <p:cNvSpPr/>
            <p:nvPr/>
          </p:nvSpPr>
          <p:spPr>
            <a:xfrm>
              <a:off x="6513862" y="3674269"/>
              <a:ext cx="445580" cy="413194"/>
            </a:xfrm>
            <a:prstGeom prst="ellipse">
              <a:avLst/>
            </a:prstGeom>
            <a:solidFill>
              <a:srgbClr val="48A2A0"/>
            </a:solidFill>
            <a:ln>
              <a:noFill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3943064" y="6087428"/>
            <a:ext cx="4305872" cy="457295"/>
            <a:chOff x="3943064" y="6087428"/>
            <a:chExt cx="4305872" cy="457295"/>
          </a:xfrm>
        </p:grpSpPr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43064" y="6087428"/>
              <a:ext cx="4305872" cy="457295"/>
            </a:xfrm>
            <a:prstGeom prst="rect">
              <a:avLst/>
            </a:prstGeom>
          </p:spPr>
        </p:pic>
      </p:grpSp>
      <p:grpSp>
        <p:nvGrpSpPr>
          <p:cNvPr id="23" name="Group 23"/>
          <p:cNvGrpSpPr/>
          <p:nvPr/>
        </p:nvGrpSpPr>
        <p:grpSpPr>
          <a:xfrm>
            <a:off x="-95" y="70294"/>
            <a:ext cx="4840414" cy="885158"/>
            <a:chOff x="-95" y="70294"/>
            <a:chExt cx="4840414" cy="885158"/>
          </a:xfrm>
        </p:grpSpPr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95" y="70294"/>
              <a:ext cx="4840414" cy="885158"/>
            </a:xfrm>
            <a:prstGeom prst="rect">
              <a:avLst/>
            </a:prstGeom>
          </p:spPr>
        </p:pic>
      </p:grpSp>
      <p:grpSp>
        <p:nvGrpSpPr>
          <p:cNvPr id="28" name="Group 28"/>
          <p:cNvGrpSpPr/>
          <p:nvPr/>
        </p:nvGrpSpPr>
        <p:grpSpPr>
          <a:xfrm>
            <a:off x="2966752" y="3671697"/>
            <a:ext cx="2550795" cy="416052"/>
            <a:chOff x="2966752" y="3671697"/>
            <a:chExt cx="2550795" cy="416052"/>
          </a:xfrm>
        </p:grpSpPr>
        <p:grpSp>
          <p:nvGrpSpPr>
            <p:cNvPr id="26" name="Group 26"/>
            <p:cNvGrpSpPr/>
            <p:nvPr/>
          </p:nvGrpSpPr>
          <p:grpSpPr>
            <a:xfrm>
              <a:off x="3511772" y="3671697"/>
              <a:ext cx="2005775" cy="416052"/>
              <a:chOff x="3511772" y="3671697"/>
              <a:chExt cx="2005775" cy="416052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3511772" y="3671697"/>
                <a:ext cx="2005775" cy="416052"/>
              </a:xfrm>
              <a:prstGeom prst="roundRect">
                <a:avLst>
                  <a:gd name="adj" fmla="val 50000"/>
                </a:avLst>
              </a:prstGeom>
              <a:solidFill>
                <a:srgbClr val="6C92C0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3747699" y="3757798"/>
                <a:ext cx="1533920" cy="325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00" dirty="0">
                    <a:solidFill>
                      <a:srgbClr val="FFFFFF"/>
                    </a:solidFill>
                    <a:latin typeface="印品黑体"/>
                    <a:ea typeface="Microsoft YaHei"/>
                    <a:cs typeface="印品黑体"/>
                  </a:rPr>
                  <a:t>汇报人：陈昱衡</a:t>
                </a:r>
              </a:p>
            </p:txBody>
          </p:sp>
        </p:grpSp>
        <p:sp>
          <p:nvSpPr>
            <p:cNvPr id="27" name="Ellipse 27"/>
            <p:cNvSpPr/>
            <p:nvPr/>
          </p:nvSpPr>
          <p:spPr>
            <a:xfrm>
              <a:off x="2966752" y="3671697"/>
              <a:ext cx="445580" cy="413194"/>
            </a:xfrm>
            <a:prstGeom prst="ellipse">
              <a:avLst/>
            </a:prstGeom>
            <a:solidFill>
              <a:srgbClr val="48A2A0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1" grpId="0"/>
      <p:bldP spid="14" grpId="0"/>
      <p:bldP spid="19" grpId="0"/>
      <p:bldP spid="21" grpId="0"/>
      <p:bldP spid="23" grpId="0"/>
      <p:bldP spid="2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grpSp>
        <p:nvGrpSpPr>
          <p:cNvPr id="7" name="Group 7"/>
          <p:cNvGrpSpPr/>
          <p:nvPr/>
        </p:nvGrpSpPr>
        <p:grpSpPr>
          <a:xfrm rot="-1126799">
            <a:off x="3332247" y="1065256"/>
            <a:ext cx="1722787" cy="1487329"/>
            <a:chOff x="3329368" y="1069276"/>
            <a:chExt cx="1722787" cy="1487329"/>
          </a:xfrm>
        </p:grpSpPr>
        <p:sp>
          <p:nvSpPr>
            <p:cNvPr id="5" name="Freeform 5"/>
            <p:cNvSpPr/>
            <p:nvPr/>
          </p:nvSpPr>
          <p:spPr>
            <a:xfrm>
              <a:off x="3329368" y="1307973"/>
              <a:ext cx="1289018" cy="1248632"/>
            </a:xfrm>
            <a:custGeom>
              <a:avLst/>
              <a:gdLst/>
              <a:ahLst/>
              <a:cxnLst/>
              <a:rect l="l" t="t" r="r" b="b"/>
              <a:pathLst>
                <a:path w="1289018" h="1248632">
                  <a:moveTo>
                    <a:pt x="527780" y="100584"/>
                  </a:moveTo>
                  <a:cubicBezTo>
                    <a:pt x="51340" y="1022794"/>
                    <a:pt x="51340" y="1022794"/>
                    <a:pt x="51340" y="1022794"/>
                  </a:cubicBezTo>
                  <a:cubicBezTo>
                    <a:pt x="0" y="1123474"/>
                    <a:pt x="64960" y="1248632"/>
                    <a:pt x="168592" y="1248632"/>
                  </a:cubicBezTo>
                  <a:cubicBezTo>
                    <a:pt x="1120426" y="1248632"/>
                    <a:pt x="1120426" y="1248632"/>
                    <a:pt x="1120426" y="1248632"/>
                  </a:cubicBezTo>
                  <a:cubicBezTo>
                    <a:pt x="1225201" y="1248632"/>
                    <a:pt x="1289018" y="1123474"/>
                    <a:pt x="1237774" y="1022794"/>
                  </a:cubicBezTo>
                  <a:cubicBezTo>
                    <a:pt x="761238" y="100584"/>
                    <a:pt x="761238" y="100584"/>
                    <a:pt x="761238" y="100584"/>
                  </a:cubicBezTo>
                  <a:cubicBezTo>
                    <a:pt x="709993" y="0"/>
                    <a:pt x="580168" y="0"/>
                    <a:pt x="527780" y="100584"/>
                  </a:cubicBezTo>
                  <a:close/>
                </a:path>
              </a:pathLst>
            </a:custGeom>
            <a:solidFill>
              <a:srgbClr val="6C92C0">
                <a:alpha val="68000"/>
              </a:srgbClr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3637121" y="1069276"/>
              <a:ext cx="1415034" cy="1331786"/>
            </a:xfrm>
            <a:custGeom>
              <a:avLst/>
              <a:gdLst/>
              <a:ahLst/>
              <a:cxnLst/>
              <a:rect l="l" t="t" r="r" b="b"/>
              <a:pathLst>
                <a:path w="1415034" h="1331786">
                  <a:moveTo>
                    <a:pt x="579310" y="107347"/>
                  </a:moveTo>
                  <a:cubicBezTo>
                    <a:pt x="56293" y="1090898"/>
                    <a:pt x="56293" y="1090898"/>
                    <a:pt x="56293" y="1090898"/>
                  </a:cubicBezTo>
                  <a:cubicBezTo>
                    <a:pt x="0" y="1198245"/>
                    <a:pt x="71247" y="1331786"/>
                    <a:pt x="185071" y="1331786"/>
                  </a:cubicBezTo>
                  <a:cubicBezTo>
                    <a:pt x="1229963" y="1331786"/>
                    <a:pt x="1229963" y="1331786"/>
                    <a:pt x="1229963" y="1331786"/>
                  </a:cubicBezTo>
                  <a:cubicBezTo>
                    <a:pt x="1344930" y="1331786"/>
                    <a:pt x="1415034" y="1198245"/>
                    <a:pt x="1358741" y="1090898"/>
                  </a:cubicBezTo>
                  <a:cubicBezTo>
                    <a:pt x="835723" y="107347"/>
                    <a:pt x="835723" y="107347"/>
                    <a:pt x="835723" y="107347"/>
                  </a:cubicBezTo>
                  <a:cubicBezTo>
                    <a:pt x="779335" y="0"/>
                    <a:pt x="636841" y="0"/>
                    <a:pt x="579310" y="107347"/>
                  </a:cubicBezTo>
                  <a:close/>
                </a:path>
              </a:pathLst>
            </a:custGeom>
            <a:solidFill>
              <a:srgbClr val="48A2A0">
                <a:alpha val="68000"/>
              </a:srgbClr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2386774" y="4107180"/>
            <a:ext cx="191834" cy="191834"/>
            <a:chOff x="2386774" y="4107180"/>
            <a:chExt cx="191834" cy="191834"/>
          </a:xfrm>
        </p:grpSpPr>
        <p:sp>
          <p:nvSpPr>
            <p:cNvPr id="8" name="Ellipse 8"/>
            <p:cNvSpPr/>
            <p:nvPr/>
          </p:nvSpPr>
          <p:spPr>
            <a:xfrm>
              <a:off x="2386774" y="4107180"/>
              <a:ext cx="191834" cy="191834"/>
            </a:xfrm>
            <a:prstGeom prst="ellipse">
              <a:avLst/>
            </a:prstGeom>
            <a:solidFill>
              <a:srgbClr val="6C92C0">
                <a:alpha val="70000"/>
              </a:srgbClr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1692878" y="3381280"/>
            <a:ext cx="952500" cy="952500"/>
            <a:chOff x="1692878" y="3381280"/>
            <a:chExt cx="952500" cy="952500"/>
          </a:xfrm>
        </p:grpSpPr>
        <p:sp>
          <p:nvSpPr>
            <p:cNvPr id="10" name="Ellipse 10"/>
            <p:cNvSpPr/>
            <p:nvPr/>
          </p:nvSpPr>
          <p:spPr>
            <a:xfrm>
              <a:off x="1692878" y="3381280"/>
              <a:ext cx="952500" cy="952500"/>
            </a:xfrm>
            <a:prstGeom prst="ellipse">
              <a:avLst/>
            </a:prstGeom>
            <a:solidFill>
              <a:srgbClr val="48A2A0">
                <a:alpha val="69800"/>
              </a:srgbClr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837944" y="3472815"/>
            <a:ext cx="684848" cy="1445228"/>
            <a:chOff x="1837944" y="3472815"/>
            <a:chExt cx="684848" cy="1445228"/>
          </a:xfrm>
        </p:grpSpPr>
        <p:sp>
          <p:nvSpPr>
            <p:cNvPr id="12" name="Rectangle 12"/>
            <p:cNvSpPr/>
            <p:nvPr/>
          </p:nvSpPr>
          <p:spPr>
            <a:xfrm>
              <a:off x="1837944" y="3472815"/>
              <a:ext cx="684848" cy="144522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862542" y="3518540"/>
              <a:ext cx="635462" cy="8941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400" b="1" dirty="0">
                  <a:solidFill>
                    <a:srgbClr val="FFFFFF"/>
                  </a:solidFill>
                  <a:latin typeface="印品黑体"/>
                  <a:ea typeface="Microsoft YaHei"/>
                  <a:cs typeface="印品黑体"/>
                </a:rPr>
                <a:t>01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97268" y="4501515"/>
            <a:ext cx="2262188" cy="533400"/>
            <a:chOff x="997268" y="4501515"/>
            <a:chExt cx="2262188" cy="533400"/>
          </a:xfrm>
        </p:grpSpPr>
        <p:sp>
          <p:nvSpPr>
            <p:cNvPr id="15" name="Rectangle 15"/>
            <p:cNvSpPr/>
            <p:nvPr/>
          </p:nvSpPr>
          <p:spPr>
            <a:xfrm>
              <a:off x="997268" y="4501515"/>
              <a:ext cx="2262188" cy="460343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37761" y="4547235"/>
              <a:ext cx="198120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rgbClr val="436B9B"/>
                  </a:solidFill>
                  <a:latin typeface="印品黑体"/>
                  <a:ea typeface="Microsoft YaHei"/>
                  <a:cs typeface="印品黑体"/>
                </a:rPr>
                <a:t>公司基本信息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730276" y="4482846"/>
            <a:ext cx="2262188" cy="533400"/>
            <a:chOff x="3730276" y="4482846"/>
            <a:chExt cx="2262188" cy="533400"/>
          </a:xfrm>
        </p:grpSpPr>
        <p:sp>
          <p:nvSpPr>
            <p:cNvPr id="18" name="Rectangle 18"/>
            <p:cNvSpPr/>
            <p:nvPr/>
          </p:nvSpPr>
          <p:spPr>
            <a:xfrm>
              <a:off x="3730276" y="4482846"/>
              <a:ext cx="2262188" cy="460343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190810" y="4528566"/>
              <a:ext cx="134112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rgbClr val="404040"/>
                  </a:solidFill>
                  <a:latin typeface="印品黑体"/>
                  <a:ea typeface="Microsoft YaHei"/>
                  <a:cs typeface="印品黑体"/>
                </a:rPr>
                <a:t>主营业务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376416" y="4496848"/>
            <a:ext cx="2262188" cy="533400"/>
            <a:chOff x="6376416" y="4496848"/>
            <a:chExt cx="2262188" cy="533400"/>
          </a:xfrm>
        </p:grpSpPr>
        <p:sp>
          <p:nvSpPr>
            <p:cNvPr id="21" name="Rectangle 21"/>
            <p:cNvSpPr/>
            <p:nvPr/>
          </p:nvSpPr>
          <p:spPr>
            <a:xfrm>
              <a:off x="6376416" y="4496848"/>
              <a:ext cx="2262188" cy="460343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836950" y="4542568"/>
              <a:ext cx="134112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rgbClr val="436B9B"/>
                  </a:solidFill>
                  <a:latin typeface="印品黑体"/>
                  <a:ea typeface="Microsoft YaHei"/>
                  <a:cs typeface="印品黑体"/>
                </a:rPr>
                <a:t>市场地位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054370" y="4521898"/>
            <a:ext cx="2262188" cy="533400"/>
            <a:chOff x="9054370" y="4521898"/>
            <a:chExt cx="2262188" cy="533400"/>
          </a:xfrm>
        </p:grpSpPr>
        <p:sp>
          <p:nvSpPr>
            <p:cNvPr id="24" name="Rectangle 24"/>
            <p:cNvSpPr/>
            <p:nvPr/>
          </p:nvSpPr>
          <p:spPr>
            <a:xfrm>
              <a:off x="9054370" y="4521898"/>
              <a:ext cx="2262188" cy="460343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354883" y="4567618"/>
              <a:ext cx="166116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rgbClr val="404040"/>
                  </a:solidFill>
                  <a:latin typeface="印品黑体"/>
                  <a:ea typeface="Microsoft YaHei"/>
                  <a:cs typeface="印品黑体"/>
                </a:rPr>
                <a:t>核心竞争力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349210" y="3400044"/>
            <a:ext cx="952500" cy="952500"/>
            <a:chOff x="4349210" y="3400044"/>
            <a:chExt cx="952500" cy="952500"/>
          </a:xfrm>
        </p:grpSpPr>
        <p:sp>
          <p:nvSpPr>
            <p:cNvPr id="27" name="Ellipse 27"/>
            <p:cNvSpPr/>
            <p:nvPr/>
          </p:nvSpPr>
          <p:spPr>
            <a:xfrm>
              <a:off x="4349210" y="3400044"/>
              <a:ext cx="952500" cy="952500"/>
            </a:xfrm>
            <a:prstGeom prst="ellipse">
              <a:avLst/>
            </a:prstGeom>
            <a:solidFill>
              <a:srgbClr val="6C92C0">
                <a:alpha val="69800"/>
              </a:srgbClr>
            </a:solidFill>
            <a:ln>
              <a:noFill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4430715" y="3491579"/>
            <a:ext cx="789490" cy="939856"/>
            <a:chOff x="4430715" y="3491579"/>
            <a:chExt cx="789490" cy="939856"/>
          </a:xfrm>
        </p:grpSpPr>
        <p:sp>
          <p:nvSpPr>
            <p:cNvPr id="29" name="Rectangle 29"/>
            <p:cNvSpPr/>
            <p:nvPr/>
          </p:nvSpPr>
          <p:spPr>
            <a:xfrm>
              <a:off x="4433411" y="3491579"/>
              <a:ext cx="784193" cy="76838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430715" y="3537304"/>
              <a:ext cx="789490" cy="8941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400" b="1" dirty="0">
                  <a:solidFill>
                    <a:srgbClr val="FFFFFF"/>
                  </a:solidFill>
                  <a:latin typeface="印品黑体"/>
                  <a:ea typeface="Microsoft YaHei"/>
                  <a:cs typeface="印品黑体"/>
                </a:rPr>
                <a:t>02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057299" y="4107180"/>
            <a:ext cx="191834" cy="191834"/>
            <a:chOff x="5057299" y="4107180"/>
            <a:chExt cx="191834" cy="191834"/>
          </a:xfrm>
        </p:grpSpPr>
        <p:sp>
          <p:nvSpPr>
            <p:cNvPr id="32" name="Ellipse 32"/>
            <p:cNvSpPr/>
            <p:nvPr/>
          </p:nvSpPr>
          <p:spPr>
            <a:xfrm>
              <a:off x="5057299" y="4107180"/>
              <a:ext cx="191834" cy="191834"/>
            </a:xfrm>
            <a:prstGeom prst="ellipse">
              <a:avLst/>
            </a:prstGeom>
            <a:solidFill>
              <a:srgbClr val="48A2A0">
                <a:alpha val="70000"/>
              </a:srgbClr>
            </a:solidFill>
            <a:ln>
              <a:noFill/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7025164" y="3400044"/>
            <a:ext cx="952500" cy="952500"/>
            <a:chOff x="7025164" y="3400044"/>
            <a:chExt cx="952500" cy="952500"/>
          </a:xfrm>
        </p:grpSpPr>
        <p:sp>
          <p:nvSpPr>
            <p:cNvPr id="34" name="Ellipse 34"/>
            <p:cNvSpPr/>
            <p:nvPr/>
          </p:nvSpPr>
          <p:spPr>
            <a:xfrm>
              <a:off x="7025164" y="3400044"/>
              <a:ext cx="952500" cy="952500"/>
            </a:xfrm>
            <a:prstGeom prst="ellipse">
              <a:avLst/>
            </a:prstGeom>
            <a:solidFill>
              <a:srgbClr val="48A2A0">
                <a:alpha val="70000"/>
              </a:srgbClr>
            </a:solidFill>
            <a:ln>
              <a:noFill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7077808" y="3491579"/>
            <a:ext cx="789490" cy="939856"/>
            <a:chOff x="7077808" y="3491579"/>
            <a:chExt cx="789490" cy="939856"/>
          </a:xfrm>
        </p:grpSpPr>
        <p:sp>
          <p:nvSpPr>
            <p:cNvPr id="36" name="Rectangle 36"/>
            <p:cNvSpPr/>
            <p:nvPr/>
          </p:nvSpPr>
          <p:spPr>
            <a:xfrm>
              <a:off x="7082028" y="3491579"/>
              <a:ext cx="780955" cy="76838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077808" y="3537304"/>
              <a:ext cx="789490" cy="8941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400" b="1" dirty="0">
                  <a:solidFill>
                    <a:srgbClr val="FFFFFF"/>
                  </a:solidFill>
                  <a:latin typeface="印品黑体"/>
                  <a:ea typeface="Microsoft YaHei"/>
                  <a:cs typeface="印品黑体"/>
                </a:rPr>
                <a:t>03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766399" y="4107180"/>
            <a:ext cx="191834" cy="191834"/>
            <a:chOff x="7766399" y="4107180"/>
            <a:chExt cx="191834" cy="191834"/>
          </a:xfrm>
        </p:grpSpPr>
        <p:sp>
          <p:nvSpPr>
            <p:cNvPr id="39" name="Ellipse 39"/>
            <p:cNvSpPr/>
            <p:nvPr/>
          </p:nvSpPr>
          <p:spPr>
            <a:xfrm>
              <a:off x="7766399" y="4107180"/>
              <a:ext cx="191834" cy="191834"/>
            </a:xfrm>
            <a:prstGeom prst="ellipse">
              <a:avLst/>
            </a:prstGeom>
            <a:solidFill>
              <a:srgbClr val="6C92C0">
                <a:alpha val="70000"/>
              </a:srgbClr>
            </a:solidFill>
            <a:ln>
              <a:noFill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9731502" y="3374993"/>
            <a:ext cx="952500" cy="952500"/>
            <a:chOff x="9731502" y="3374993"/>
            <a:chExt cx="952500" cy="952500"/>
          </a:xfrm>
        </p:grpSpPr>
        <p:sp>
          <p:nvSpPr>
            <p:cNvPr id="41" name="Ellipse 41"/>
            <p:cNvSpPr/>
            <p:nvPr/>
          </p:nvSpPr>
          <p:spPr>
            <a:xfrm>
              <a:off x="9731502" y="3374993"/>
              <a:ext cx="952500" cy="952500"/>
            </a:xfrm>
            <a:prstGeom prst="ellipse">
              <a:avLst/>
            </a:prstGeom>
            <a:solidFill>
              <a:srgbClr val="6C92C0">
                <a:alpha val="70000"/>
              </a:srgbClr>
            </a:solidFill>
            <a:ln>
              <a:noFill/>
            </a:ln>
          </p:spPr>
        </p:sp>
      </p:grpSp>
      <p:grpSp>
        <p:nvGrpSpPr>
          <p:cNvPr id="45" name="Group 45"/>
          <p:cNvGrpSpPr/>
          <p:nvPr/>
        </p:nvGrpSpPr>
        <p:grpSpPr>
          <a:xfrm>
            <a:off x="9808464" y="3466528"/>
            <a:ext cx="798576" cy="939761"/>
            <a:chOff x="9808464" y="3466528"/>
            <a:chExt cx="798576" cy="939761"/>
          </a:xfrm>
        </p:grpSpPr>
        <p:sp>
          <p:nvSpPr>
            <p:cNvPr id="43" name="Rectangle 43"/>
            <p:cNvSpPr/>
            <p:nvPr/>
          </p:nvSpPr>
          <p:spPr>
            <a:xfrm>
              <a:off x="9808464" y="3466528"/>
              <a:ext cx="798576" cy="76838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813007" y="3512158"/>
              <a:ext cx="789490" cy="8941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400" b="1" dirty="0">
                  <a:solidFill>
                    <a:srgbClr val="FFFFFF"/>
                  </a:solidFill>
                  <a:latin typeface="印品黑体"/>
                  <a:ea typeface="Microsoft YaHei"/>
                  <a:cs typeface="印品黑体"/>
                </a:rPr>
                <a:t>04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0446830" y="4107180"/>
            <a:ext cx="191834" cy="191834"/>
            <a:chOff x="10446830" y="4107180"/>
            <a:chExt cx="191834" cy="191834"/>
          </a:xfrm>
        </p:grpSpPr>
        <p:sp>
          <p:nvSpPr>
            <p:cNvPr id="46" name="Ellipse 46"/>
            <p:cNvSpPr/>
            <p:nvPr/>
          </p:nvSpPr>
          <p:spPr>
            <a:xfrm>
              <a:off x="10446830" y="4107180"/>
              <a:ext cx="191834" cy="191834"/>
            </a:xfrm>
            <a:prstGeom prst="ellipse">
              <a:avLst/>
            </a:prstGeom>
            <a:solidFill>
              <a:srgbClr val="48A2A0">
                <a:alpha val="70000"/>
              </a:srgbClr>
            </a:solidFill>
            <a:ln>
              <a:noFill/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4177856" y="1431512"/>
            <a:ext cx="3955447" cy="939761"/>
            <a:chOff x="4177856" y="1431512"/>
            <a:chExt cx="3955447" cy="939761"/>
          </a:xfrm>
        </p:grpSpPr>
        <p:sp>
          <p:nvSpPr>
            <p:cNvPr id="48" name="Rectangle 48"/>
            <p:cNvSpPr/>
            <p:nvPr/>
          </p:nvSpPr>
          <p:spPr>
            <a:xfrm>
              <a:off x="4177856" y="1431512"/>
              <a:ext cx="3955447" cy="84791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4867519" y="1477142"/>
              <a:ext cx="2576214" cy="8941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400" b="1" dirty="0">
                  <a:solidFill>
                    <a:srgbClr val="6C92C0"/>
                  </a:solidFill>
                  <a:latin typeface="微软雅黑"/>
                  <a:ea typeface="Microsoft YaHei"/>
                  <a:cs typeface="微软雅黑"/>
                </a:rPr>
                <a:t>公司概况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7244620" y="70294"/>
            <a:ext cx="4840414" cy="885158"/>
            <a:chOff x="7244620" y="70294"/>
            <a:chExt cx="4840414" cy="885158"/>
          </a:xfrm>
        </p:grpSpPr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44620" y="70294"/>
              <a:ext cx="4840414" cy="885158"/>
            </a:xfrm>
            <a:prstGeom prst="rect">
              <a:avLst/>
            </a:prstGeom>
          </p:spPr>
        </p:pic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900"/>
                            </p:stCondLst>
                            <p:childTnLst>
                              <p:par>
                                <p:cTn id="4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5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8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17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2600"/>
                            </p:stCondLst>
                            <p:childTnLst>
                              <p:par>
                                <p:cTn id="6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3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500"/>
                            </p:stCondLst>
                            <p:childTnLst>
                              <p:par>
                                <p:cTn id="6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6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440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300"/>
                            </p:stCondLst>
                            <p:childTnLst>
                              <p:par>
                                <p:cTn id="7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6200"/>
                            </p:stCondLst>
                            <p:childTnLst>
                              <p:par>
                                <p:cTn id="7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9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7100"/>
                            </p:stCondLst>
                            <p:childTnLst>
                              <p:par>
                                <p:cTn id="8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83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9" grpId="0"/>
      <p:bldP spid="11" grpId="0"/>
      <p:bldP spid="14" grpId="0"/>
      <p:bldP spid="17" grpId="0"/>
      <p:bldP spid="20" grpId="0"/>
      <p:bldP spid="23" grpId="0"/>
      <p:bldP spid="26" grpId="0"/>
      <p:bldP spid="28" grpId="0"/>
      <p:bldP spid="31" grpId="0"/>
      <p:bldP spid="33" grpId="0"/>
      <p:bldP spid="35" grpId="0"/>
      <p:bldP spid="38" grpId="0"/>
      <p:bldP spid="40" grpId="0"/>
      <p:bldP spid="42" grpId="0"/>
      <p:bldP spid="45" grpId="0"/>
      <p:bldP spid="47" grpId="0"/>
      <p:bldP spid="50" grpId="0"/>
      <p:bldP spid="5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grpSp>
        <p:nvGrpSpPr>
          <p:cNvPr id="7" name="Group 7"/>
          <p:cNvGrpSpPr/>
          <p:nvPr/>
        </p:nvGrpSpPr>
        <p:grpSpPr>
          <a:xfrm>
            <a:off x="-639794" y="4856416"/>
            <a:ext cx="2158460" cy="2341912"/>
            <a:chOff x="-639794" y="4856416"/>
            <a:chExt cx="2158460" cy="2341912"/>
          </a:xfrm>
        </p:grpSpPr>
        <p:sp>
          <p:nvSpPr>
            <p:cNvPr id="5" name="Freeform 5"/>
            <p:cNvSpPr/>
            <p:nvPr/>
          </p:nvSpPr>
          <p:spPr>
            <a:xfrm>
              <a:off x="-639794" y="4856416"/>
              <a:ext cx="1765554" cy="1716405"/>
            </a:xfrm>
            <a:custGeom>
              <a:avLst/>
              <a:gdLst/>
              <a:ahLst/>
              <a:cxnLst/>
              <a:rect l="l" t="t" r="r" b="b"/>
              <a:pathLst>
                <a:path w="1765554" h="1716405">
                  <a:moveTo>
                    <a:pt x="770192" y="8477"/>
                  </a:moveTo>
                  <a:cubicBezTo>
                    <a:pt x="819912" y="13525"/>
                    <a:pt x="868204" y="37433"/>
                    <a:pt x="903351" y="82106"/>
                  </a:cubicBezTo>
                  <a:cubicBezTo>
                    <a:pt x="903351" y="82106"/>
                    <a:pt x="903351" y="82106"/>
                    <a:pt x="1691354" y="1072420"/>
                  </a:cubicBezTo>
                  <a:lnTo>
                    <a:pt x="1765554" y="1165670"/>
                  </a:lnTo>
                  <a:lnTo>
                    <a:pt x="1765554" y="1419987"/>
                  </a:lnTo>
                  <a:lnTo>
                    <a:pt x="1740789" y="1446371"/>
                  </a:lnTo>
                  <a:cubicBezTo>
                    <a:pt x="1714595" y="1467803"/>
                    <a:pt x="1681924" y="1483042"/>
                    <a:pt x="1644110" y="1488662"/>
                  </a:cubicBezTo>
                  <a:cubicBezTo>
                    <a:pt x="1644110" y="1488662"/>
                    <a:pt x="1644110" y="1488662"/>
                    <a:pt x="267938" y="1694021"/>
                  </a:cubicBezTo>
                  <a:cubicBezTo>
                    <a:pt x="118015" y="1716405"/>
                    <a:pt x="0" y="1568577"/>
                    <a:pt x="54769" y="1427417"/>
                  </a:cubicBezTo>
                  <a:cubicBezTo>
                    <a:pt x="54769" y="1427417"/>
                    <a:pt x="54769" y="1427417"/>
                    <a:pt x="565785" y="132493"/>
                  </a:cubicBezTo>
                  <a:cubicBezTo>
                    <a:pt x="600932" y="44101"/>
                    <a:pt x="687419" y="0"/>
                    <a:pt x="770192" y="8477"/>
                  </a:cubicBezTo>
                  <a:close/>
                </a:path>
              </a:pathLst>
            </a:custGeom>
            <a:solidFill>
              <a:srgbClr val="6C92C0">
                <a:alpha val="66000"/>
              </a:srgbClr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-198310" y="5051679"/>
              <a:ext cx="1716976" cy="2146649"/>
            </a:xfrm>
            <a:custGeom>
              <a:avLst/>
              <a:gdLst/>
              <a:ahLst/>
              <a:cxnLst/>
              <a:rect l="l" t="t" r="r" b="b"/>
              <a:pathLst>
                <a:path w="1716976" h="2146649">
                  <a:moveTo>
                    <a:pt x="1716976" y="0"/>
                  </a:moveTo>
                  <a:lnTo>
                    <a:pt x="1716976" y="2146649"/>
                  </a:lnTo>
                  <a:lnTo>
                    <a:pt x="1208342" y="2146649"/>
                  </a:lnTo>
                  <a:lnTo>
                    <a:pt x="1030605" y="2059019"/>
                  </a:lnTo>
                  <a:cubicBezTo>
                    <a:pt x="818864" y="1954530"/>
                    <a:pt x="585216" y="1839278"/>
                    <a:pt x="327470" y="1712214"/>
                  </a:cubicBezTo>
                  <a:cubicBezTo>
                    <a:pt x="28004" y="1564481"/>
                    <a:pt x="0" y="1148525"/>
                    <a:pt x="276416" y="961644"/>
                  </a:cubicBezTo>
                  <a:cubicBezTo>
                    <a:pt x="276416" y="961644"/>
                    <a:pt x="276416" y="961644"/>
                    <a:pt x="1644872" y="48101"/>
                  </a:cubicBezTo>
                  <a:close/>
                </a:path>
              </a:pathLst>
            </a:custGeom>
            <a:solidFill>
              <a:srgbClr val="48A2A0">
                <a:alpha val="45000"/>
              </a:srgbClr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9087040" y="-1443800"/>
            <a:ext cx="3204401" cy="4893660"/>
            <a:chOff x="9087040" y="-1443800"/>
            <a:chExt cx="3204401" cy="4893660"/>
          </a:xfrm>
        </p:grpSpPr>
        <p:sp>
          <p:nvSpPr>
            <p:cNvPr id="8" name="Freeform 8"/>
            <p:cNvSpPr/>
            <p:nvPr/>
          </p:nvSpPr>
          <p:spPr>
            <a:xfrm>
              <a:off x="9087040" y="-1443800"/>
              <a:ext cx="3204401" cy="3482054"/>
            </a:xfrm>
            <a:custGeom>
              <a:avLst/>
              <a:gdLst/>
              <a:ahLst/>
              <a:cxnLst/>
              <a:rect l="l" t="t" r="r" b="b"/>
              <a:pathLst>
                <a:path w="3204401" h="3482054">
                  <a:moveTo>
                    <a:pt x="0" y="0"/>
                  </a:moveTo>
                  <a:lnTo>
                    <a:pt x="45911" y="11620"/>
                  </a:lnTo>
                  <a:cubicBezTo>
                    <a:pt x="152590" y="46101"/>
                    <a:pt x="252793" y="109633"/>
                    <a:pt x="334899" y="204502"/>
                  </a:cubicBezTo>
                  <a:cubicBezTo>
                    <a:pt x="334899" y="204502"/>
                    <a:pt x="334899" y="204502"/>
                    <a:pt x="3098673" y="3361277"/>
                  </a:cubicBezTo>
                  <a:lnTo>
                    <a:pt x="3204401" y="3482054"/>
                  </a:lnTo>
                  <a:lnTo>
                    <a:pt x="0" y="3482054"/>
                  </a:lnTo>
                  <a:close/>
                </a:path>
              </a:pathLst>
            </a:custGeom>
            <a:solidFill>
              <a:srgbClr val="6C92C0">
                <a:alpha val="5000"/>
              </a:srgbClr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9102280" y="-843629"/>
              <a:ext cx="1443323" cy="4293489"/>
            </a:xfrm>
            <a:custGeom>
              <a:avLst/>
              <a:gdLst/>
              <a:ahLst/>
              <a:cxnLst/>
              <a:rect l="l" t="t" r="r" b="b"/>
              <a:pathLst>
                <a:path w="1443323" h="4293489">
                  <a:moveTo>
                    <a:pt x="898970" y="2286"/>
                  </a:moveTo>
                  <a:cubicBezTo>
                    <a:pt x="1208342" y="18002"/>
                    <a:pt x="1443323" y="324326"/>
                    <a:pt x="1343787" y="640842"/>
                  </a:cubicBezTo>
                  <a:cubicBezTo>
                    <a:pt x="1343787" y="640842"/>
                    <a:pt x="1343787" y="640842"/>
                    <a:pt x="316801" y="3971830"/>
                  </a:cubicBezTo>
                  <a:cubicBezTo>
                    <a:pt x="266986" y="4130040"/>
                    <a:pt x="151067" y="4239578"/>
                    <a:pt x="14478" y="4289203"/>
                  </a:cubicBezTo>
                  <a:lnTo>
                    <a:pt x="0" y="4293489"/>
                  </a:lnTo>
                  <a:lnTo>
                    <a:pt x="0" y="187738"/>
                  </a:lnTo>
                  <a:lnTo>
                    <a:pt x="164306" y="150304"/>
                  </a:lnTo>
                  <a:cubicBezTo>
                    <a:pt x="350996" y="107823"/>
                    <a:pt x="550164" y="62484"/>
                    <a:pt x="762572" y="14097"/>
                  </a:cubicBezTo>
                  <a:cubicBezTo>
                    <a:pt x="809053" y="3715"/>
                    <a:pt x="854773" y="0"/>
                    <a:pt x="898970" y="2286"/>
                  </a:cubicBezTo>
                  <a:close/>
                </a:path>
              </a:pathLst>
            </a:custGeom>
            <a:solidFill>
              <a:srgbClr val="6C92C0">
                <a:alpha val="78000"/>
              </a:srgbClr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9734645" y="-218884"/>
              <a:ext cx="1191863" cy="1032224"/>
            </a:xfrm>
            <a:custGeom>
              <a:avLst/>
              <a:gdLst/>
              <a:ahLst/>
              <a:cxnLst/>
              <a:rect l="l" t="t" r="r" b="b"/>
              <a:pathLst>
                <a:path w="1191863" h="1032224">
                  <a:moveTo>
                    <a:pt x="487966" y="83153"/>
                  </a:moveTo>
                  <a:cubicBezTo>
                    <a:pt x="47435" y="845534"/>
                    <a:pt x="47435" y="845534"/>
                    <a:pt x="47435" y="845534"/>
                  </a:cubicBezTo>
                  <a:cubicBezTo>
                    <a:pt x="0" y="928783"/>
                    <a:pt x="60007" y="1032224"/>
                    <a:pt x="155924" y="1032224"/>
                  </a:cubicBezTo>
                  <a:cubicBezTo>
                    <a:pt x="1035939" y="1032224"/>
                    <a:pt x="1035939" y="1032224"/>
                    <a:pt x="1035939" y="1032224"/>
                  </a:cubicBezTo>
                  <a:cubicBezTo>
                    <a:pt x="1132808" y="1032224"/>
                    <a:pt x="1191863" y="928783"/>
                    <a:pt x="1144429" y="845534"/>
                  </a:cubicBezTo>
                  <a:cubicBezTo>
                    <a:pt x="703898" y="83153"/>
                    <a:pt x="703898" y="83153"/>
                    <a:pt x="703898" y="83153"/>
                  </a:cubicBezTo>
                  <a:cubicBezTo>
                    <a:pt x="656463" y="0"/>
                    <a:pt x="536353" y="0"/>
                    <a:pt x="487966" y="83153"/>
                  </a:cubicBezTo>
                  <a:close/>
                </a:path>
              </a:pathLst>
            </a:custGeom>
            <a:solidFill>
              <a:srgbClr val="48A2A0">
                <a:alpha val="68000"/>
              </a:srgbClr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-56674" y="82582"/>
            <a:ext cx="4840414" cy="885158"/>
            <a:chOff x="-56674" y="82582"/>
            <a:chExt cx="4840414" cy="885158"/>
          </a:xfrm>
        </p:grpSpPr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56674" y="82582"/>
              <a:ext cx="4840414" cy="885158"/>
            </a:xfrm>
            <a:prstGeom prst="rect">
              <a:avLst/>
            </a:prstGeom>
          </p:spPr>
        </p:pic>
      </p:grpSp>
      <p:grpSp>
        <p:nvGrpSpPr>
          <p:cNvPr id="24" name="Group 24"/>
          <p:cNvGrpSpPr/>
          <p:nvPr/>
        </p:nvGrpSpPr>
        <p:grpSpPr>
          <a:xfrm>
            <a:off x="1365218" y="1931670"/>
            <a:ext cx="7082123" cy="2202180"/>
            <a:chOff x="1365218" y="1931670"/>
            <a:chExt cx="7082123" cy="2202180"/>
          </a:xfrm>
        </p:grpSpPr>
        <p:sp>
          <p:nvSpPr>
            <p:cNvPr id="14" name="Freeform 14"/>
            <p:cNvSpPr/>
            <p:nvPr/>
          </p:nvSpPr>
          <p:spPr>
            <a:xfrm>
              <a:off x="1584293" y="1931670"/>
              <a:ext cx="2288572" cy="1981867"/>
            </a:xfrm>
            <a:custGeom>
              <a:avLst/>
              <a:gdLst/>
              <a:ahLst/>
              <a:cxnLst/>
              <a:rect l="l" t="t" r="r" b="b"/>
              <a:pathLst>
                <a:path w="2288572" h="1981867">
                  <a:moveTo>
                    <a:pt x="936974" y="159734"/>
                  </a:moveTo>
                  <a:cubicBezTo>
                    <a:pt x="91154" y="1623346"/>
                    <a:pt x="91154" y="1623346"/>
                    <a:pt x="91154" y="1623346"/>
                  </a:cubicBezTo>
                  <a:cubicBezTo>
                    <a:pt x="0" y="1783080"/>
                    <a:pt x="115252" y="1981867"/>
                    <a:pt x="299371" y="1981867"/>
                  </a:cubicBezTo>
                  <a:cubicBezTo>
                    <a:pt x="1989296" y="1981867"/>
                    <a:pt x="1989296" y="1981867"/>
                    <a:pt x="1989296" y="1981867"/>
                  </a:cubicBezTo>
                  <a:cubicBezTo>
                    <a:pt x="2175129" y="1981867"/>
                    <a:pt x="2288572" y="1783080"/>
                    <a:pt x="2197513" y="1623346"/>
                  </a:cubicBezTo>
                  <a:cubicBezTo>
                    <a:pt x="1351598" y="159734"/>
                    <a:pt x="1351598" y="159734"/>
                    <a:pt x="1351598" y="159734"/>
                  </a:cubicBezTo>
                  <a:cubicBezTo>
                    <a:pt x="1260538" y="0"/>
                    <a:pt x="1029938" y="0"/>
                    <a:pt x="936974" y="159734"/>
                  </a:cubicBezTo>
                  <a:close/>
                </a:path>
              </a:pathLst>
            </a:custGeom>
            <a:solidFill>
              <a:srgbClr val="48A2A0">
                <a:alpha val="68000"/>
              </a:srgbClr>
            </a:solidFill>
            <a:ln>
              <a:noFill/>
            </a:ln>
            <a:effectLst>
              <a:outerShdw blurRad="50864" dist="38121" dir="2700000" algn="tl" rotWithShape="0">
                <a:srgbClr val="000000">
                  <a:alpha val="30000"/>
                </a:srgbClr>
              </a:outerShdw>
            </a:effectLst>
          </p:spPr>
        </p:sp>
        <p:grpSp>
          <p:nvGrpSpPr>
            <p:cNvPr id="23" name="Group 23"/>
            <p:cNvGrpSpPr/>
            <p:nvPr/>
          </p:nvGrpSpPr>
          <p:grpSpPr>
            <a:xfrm>
              <a:off x="1365218" y="2419350"/>
              <a:ext cx="7082123" cy="1714500"/>
              <a:chOff x="1365218" y="2419350"/>
              <a:chExt cx="7082123" cy="171450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4662773" y="2922937"/>
                <a:ext cx="3784568" cy="985552"/>
              </a:xfrm>
              <a:prstGeom prst="roundRect">
                <a:avLst>
                  <a:gd name="adj" fmla="val 16662"/>
                </a:avLst>
              </a:prstGeom>
              <a:solidFill>
                <a:srgbClr val="D9EEEE"/>
              </a:solidFill>
              <a:ln>
                <a:noFill/>
              </a:ln>
              <a:effectLst>
                <a:outerShdw blurRad="63436" dist="50783" dir="18900000" algn="bl" rotWithShape="0">
                  <a:srgbClr val="000000">
                    <a:alpha val="37500"/>
                  </a:srgbClr>
                </a:outerShdw>
              </a:effectLst>
            </p:spPr>
          </p:sp>
          <p:sp>
            <p:nvSpPr>
              <p:cNvPr id="16" name="Freeform 16"/>
              <p:cNvSpPr/>
              <p:nvPr/>
            </p:nvSpPr>
            <p:spPr>
              <a:xfrm>
                <a:off x="2495550" y="2419350"/>
                <a:ext cx="1979295" cy="1714500"/>
              </a:xfrm>
              <a:custGeom>
                <a:avLst/>
                <a:gdLst/>
                <a:ahLst/>
                <a:cxnLst/>
                <a:rect l="l" t="t" r="r" b="b"/>
                <a:pathLst>
                  <a:path w="1979295" h="1714500">
                    <a:moveTo>
                      <a:pt x="810387" y="138208"/>
                    </a:moveTo>
                    <a:cubicBezTo>
                      <a:pt x="78772" y="1404366"/>
                      <a:pt x="78772" y="1404366"/>
                      <a:pt x="78772" y="1404366"/>
                    </a:cubicBezTo>
                    <a:cubicBezTo>
                      <a:pt x="0" y="1542574"/>
                      <a:pt x="99727" y="1714500"/>
                      <a:pt x="258890" y="1714500"/>
                    </a:cubicBezTo>
                    <a:cubicBezTo>
                      <a:pt x="1720406" y="1714500"/>
                      <a:pt x="1720406" y="1714500"/>
                      <a:pt x="1720406" y="1714500"/>
                    </a:cubicBezTo>
                    <a:cubicBezTo>
                      <a:pt x="1881188" y="1714500"/>
                      <a:pt x="1979295" y="1542574"/>
                      <a:pt x="1900523" y="1404366"/>
                    </a:cubicBezTo>
                    <a:cubicBezTo>
                      <a:pt x="1168908" y="138208"/>
                      <a:pt x="1168908" y="138208"/>
                      <a:pt x="1168908" y="138208"/>
                    </a:cubicBezTo>
                    <a:cubicBezTo>
                      <a:pt x="1090136" y="0"/>
                      <a:pt x="890778" y="0"/>
                      <a:pt x="810387" y="138208"/>
                    </a:cubicBezTo>
                    <a:close/>
                  </a:path>
                </a:pathLst>
              </a:custGeom>
              <a:solidFill>
                <a:srgbClr val="6C92C0">
                  <a:alpha val="68000"/>
                </a:srgbClr>
              </a:solidFill>
              <a:ln>
                <a:noFill/>
              </a:ln>
              <a:effectLst>
                <a:outerShdw blurRad="50864" dist="38121" dir="2700000" algn="tl" rotWithShape="0">
                  <a:srgbClr val="000000">
                    <a:alpha val="30000"/>
                  </a:srgbClr>
                </a:outerShdw>
              </a:effectLst>
            </p:spPr>
          </p:sp>
          <p:grpSp>
            <p:nvGrpSpPr>
              <p:cNvPr id="19" name="Group 19"/>
              <p:cNvGrpSpPr/>
              <p:nvPr/>
            </p:nvGrpSpPr>
            <p:grpSpPr>
              <a:xfrm>
                <a:off x="1365218" y="2922937"/>
                <a:ext cx="3955447" cy="939760"/>
                <a:chOff x="1365218" y="2922937"/>
                <a:chExt cx="3955447" cy="939760"/>
              </a:xfrm>
            </p:grpSpPr>
            <p:sp>
              <p:nvSpPr>
                <p:cNvPr id="17" name="Rectangle 17"/>
                <p:cNvSpPr/>
                <p:nvPr/>
              </p:nvSpPr>
              <p:spPr>
                <a:xfrm>
                  <a:off x="1365218" y="2922937"/>
                  <a:ext cx="3955447" cy="847725"/>
                </a:xfrm>
                <a:prstGeom prst="rect">
                  <a:avLst/>
                </a:prstGeom>
                <a:noFill/>
                <a:ln>
                  <a:noFill/>
                </a:ln>
              </p:spPr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2178104" y="2968566"/>
                  <a:ext cx="2329770" cy="89413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4400" b="1" dirty="0">
                      <a:solidFill>
                        <a:srgbClr val="FFFFFF"/>
                      </a:solidFill>
                      <a:latin typeface="印品黑体"/>
                      <a:ea typeface="Microsoft YaHei"/>
                      <a:cs typeface="印品黑体"/>
                    </a:rPr>
                    <a:t>PART 03</a:t>
                  </a:r>
                </a:p>
              </p:txBody>
            </p:sp>
          </p:grpSp>
          <p:grpSp>
            <p:nvGrpSpPr>
              <p:cNvPr id="22" name="Group 22"/>
              <p:cNvGrpSpPr/>
              <p:nvPr/>
            </p:nvGrpSpPr>
            <p:grpSpPr>
              <a:xfrm>
                <a:off x="5011388" y="3115342"/>
                <a:ext cx="3161538" cy="777240"/>
                <a:chOff x="5011388" y="3115342"/>
                <a:chExt cx="3161538" cy="777240"/>
              </a:xfrm>
            </p:grpSpPr>
            <p:sp>
              <p:nvSpPr>
                <p:cNvPr id="20" name="Rectangle 20"/>
                <p:cNvSpPr/>
                <p:nvPr/>
              </p:nvSpPr>
              <p:spPr>
                <a:xfrm>
                  <a:off x="5011388" y="3115342"/>
                  <a:ext cx="3154680" cy="645128"/>
                </a:xfrm>
                <a:prstGeom prst="rect">
                  <a:avLst/>
                </a:prstGeom>
                <a:noFill/>
                <a:ln>
                  <a:noFill/>
                </a:ln>
              </p:spPr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5057108" y="3161062"/>
                  <a:ext cx="3115818" cy="7315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3600" b="1" dirty="0">
                      <a:solidFill>
                        <a:srgbClr val="3EA592"/>
                      </a:solidFill>
                      <a:latin typeface="微软雅黑"/>
                      <a:ea typeface="Microsoft YaHei"/>
                      <a:cs typeface="微软雅黑"/>
                    </a:rPr>
                    <a:t>盈利质量分析</a:t>
                  </a:r>
                </a:p>
              </p:txBody>
            </p:sp>
          </p:grpSp>
        </p:grp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1" grpId="0"/>
      <p:bldP spid="13" grpId="0"/>
      <p:bldP spid="2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634841" y="1957006"/>
            <a:ext cx="5189411" cy="4135946"/>
            <a:chOff x="634841" y="1957006"/>
            <a:chExt cx="5189411" cy="4135946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4841" y="1957006"/>
              <a:ext cx="5189411" cy="4135946"/>
            </a:xfrm>
            <a:prstGeom prst="rect">
              <a:avLst/>
            </a:prstGeom>
          </p:spPr>
        </p:pic>
        <p:grpSp>
          <p:nvGrpSpPr>
            <p:cNvPr id="6" name="Group 6"/>
            <p:cNvGrpSpPr/>
            <p:nvPr/>
          </p:nvGrpSpPr>
          <p:grpSpPr>
            <a:xfrm>
              <a:off x="903922" y="2207419"/>
              <a:ext cx="4643533" cy="2630138"/>
              <a:chOff x="903922" y="2207419"/>
              <a:chExt cx="4643533" cy="2630138"/>
            </a:xfrm>
          </p:grpSpPr>
          <p:pic>
            <p:nvPicPr>
              <p:cNvPr id="4" name="Image 4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03922" y="2207419"/>
                <a:ext cx="4643533" cy="2630138"/>
              </a:xfrm>
              <a:prstGeom prst="rect">
                <a:avLst/>
              </a:prstGeom>
            </p:spPr>
          </p:pic>
          <p:sp>
            <p:nvSpPr>
              <p:cNvPr id="5" name="Rectangle 5"/>
              <p:cNvSpPr/>
              <p:nvPr/>
            </p:nvSpPr>
            <p:spPr>
              <a:xfrm>
                <a:off x="903922" y="2207419"/>
                <a:ext cx="4643533" cy="2630138"/>
              </a:xfrm>
              <a:prstGeom prst="rect">
                <a:avLst/>
              </a:prstGeom>
              <a:noFill/>
              <a:ln>
                <a:noFill/>
              </a:ln>
            </p:spPr>
          </p:sp>
        </p:grpSp>
        <p:sp>
          <p:nvSpPr>
            <p:cNvPr id="7" name="Freeform 7"/>
            <p:cNvSpPr/>
            <p:nvPr/>
          </p:nvSpPr>
          <p:spPr>
            <a:xfrm>
              <a:off x="3154775" y="2207419"/>
              <a:ext cx="2392680" cy="2630138"/>
            </a:xfrm>
            <a:custGeom>
              <a:avLst/>
              <a:gdLst/>
              <a:ahLst/>
              <a:cxnLst/>
              <a:rect l="l" t="t" r="r" b="b"/>
              <a:pathLst>
                <a:path w="2392680" h="2630138">
                  <a:moveTo>
                    <a:pt x="2392680" y="0"/>
                  </a:moveTo>
                  <a:lnTo>
                    <a:pt x="1122426" y="0"/>
                  </a:lnTo>
                  <a:lnTo>
                    <a:pt x="0" y="2630138"/>
                  </a:lnTo>
                  <a:lnTo>
                    <a:pt x="2392680" y="2630138"/>
                  </a:lnTo>
                  <a:lnTo>
                    <a:pt x="239268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000"/>
                  </a:srgbClr>
                </a:gs>
                <a:gs pos="23000">
                  <a:srgbClr val="FFFFFF">
                    <a:alpha val="2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8100000" scaled="1"/>
            </a:gra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6987730" y="2202275"/>
            <a:ext cx="8875776" cy="960787"/>
            <a:chOff x="6987730" y="2202275"/>
            <a:chExt cx="8875776" cy="960787"/>
          </a:xfrm>
        </p:grpSpPr>
        <p:grpSp>
          <p:nvGrpSpPr>
            <p:cNvPr id="11" name="Group 11"/>
            <p:cNvGrpSpPr/>
            <p:nvPr/>
          </p:nvGrpSpPr>
          <p:grpSpPr>
            <a:xfrm>
              <a:off x="6987730" y="2202275"/>
              <a:ext cx="3585782" cy="411480"/>
              <a:chOff x="6987730" y="2202275"/>
              <a:chExt cx="3585782" cy="41148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6987730" y="2202275"/>
                <a:ext cx="3585782" cy="36938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7056311" y="2247995"/>
                <a:ext cx="2061972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404040"/>
                    </a:solidFill>
                    <a:latin typeface="印品黑体"/>
                    <a:ea typeface="Microsoft YaHei"/>
                    <a:cs typeface="印品黑体"/>
                  </a:rPr>
                  <a:t>营收趋势（亿元）</a:t>
                </a: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6987730" y="2545747"/>
              <a:ext cx="8875776" cy="617315"/>
              <a:chOff x="6987730" y="2545747"/>
              <a:chExt cx="8875776" cy="617315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6987730" y="2545747"/>
                <a:ext cx="4229957" cy="617315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7063930" y="2591467"/>
                <a:ext cx="879957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808080"/>
                    </a:solidFill>
                    <a:latin typeface="印品黑体"/>
                    <a:ea typeface="Microsoft YaHei"/>
                    <a:cs typeface="印品黑体"/>
                  </a:rPr>
                  <a:t>2021年 17.6亿 → 2022年 13.8亿 → 2023年 16.6亿。营收呈现先降后升走势，2022年受行业周期影响回落，2023年强势反弹。</a:t>
                </a:r>
              </a:p>
            </p:txBody>
          </p:sp>
        </p:grpSp>
      </p:grpSp>
      <p:grpSp>
        <p:nvGrpSpPr>
          <p:cNvPr id="17" name="Group 17"/>
          <p:cNvGrpSpPr/>
          <p:nvPr/>
        </p:nvGrpSpPr>
        <p:grpSpPr>
          <a:xfrm>
            <a:off x="6468618" y="2268569"/>
            <a:ext cx="394430" cy="317945"/>
            <a:chOff x="6468618" y="2268569"/>
            <a:chExt cx="394430" cy="317945"/>
          </a:xfrm>
        </p:grpSpPr>
        <p:sp>
          <p:nvSpPr>
            <p:cNvPr id="16" name="Freeform 16"/>
            <p:cNvSpPr/>
            <p:nvPr/>
          </p:nvSpPr>
          <p:spPr>
            <a:xfrm>
              <a:off x="6468618" y="2268569"/>
              <a:ext cx="394430" cy="317945"/>
            </a:xfrm>
            <a:custGeom>
              <a:avLst/>
              <a:gdLst/>
              <a:ahLst/>
              <a:cxnLst/>
              <a:rect l="l" t="t" r="r" b="b"/>
              <a:pathLst>
                <a:path w="394430" h="317945">
                  <a:moveTo>
                    <a:pt x="32957" y="75152"/>
                  </a:moveTo>
                  <a:lnTo>
                    <a:pt x="32957" y="130397"/>
                  </a:lnTo>
                  <a:lnTo>
                    <a:pt x="284321" y="130397"/>
                  </a:lnTo>
                  <a:lnTo>
                    <a:pt x="284321" y="105632"/>
                  </a:lnTo>
                  <a:lnTo>
                    <a:pt x="142303" y="105632"/>
                  </a:lnTo>
                  <a:cubicBezTo>
                    <a:pt x="130016" y="105632"/>
                    <a:pt x="118682" y="98774"/>
                    <a:pt x="113062" y="87820"/>
                  </a:cubicBezTo>
                  <a:lnTo>
                    <a:pt x="107251" y="76772"/>
                  </a:lnTo>
                  <a:cubicBezTo>
                    <a:pt x="107061" y="76295"/>
                    <a:pt x="106680" y="75724"/>
                    <a:pt x="106489" y="75152"/>
                  </a:cubicBezTo>
                  <a:close/>
                  <a:moveTo>
                    <a:pt x="32861" y="42196"/>
                  </a:moveTo>
                  <a:lnTo>
                    <a:pt x="106585" y="42196"/>
                  </a:lnTo>
                  <a:cubicBezTo>
                    <a:pt x="119539" y="42196"/>
                    <a:pt x="131254" y="49816"/>
                    <a:pt x="136589" y="61627"/>
                  </a:cubicBezTo>
                  <a:lnTo>
                    <a:pt x="142303" y="72676"/>
                  </a:lnTo>
                  <a:lnTo>
                    <a:pt x="284417" y="72676"/>
                  </a:lnTo>
                  <a:cubicBezTo>
                    <a:pt x="302609" y="72676"/>
                    <a:pt x="317278" y="87344"/>
                    <a:pt x="317278" y="105537"/>
                  </a:cubicBezTo>
                  <a:lnTo>
                    <a:pt x="317278" y="288989"/>
                  </a:lnTo>
                  <a:cubicBezTo>
                    <a:pt x="317278" y="304991"/>
                    <a:pt x="304324" y="317945"/>
                    <a:pt x="288322" y="317945"/>
                  </a:cubicBezTo>
                  <a:lnTo>
                    <a:pt x="29051" y="317945"/>
                  </a:lnTo>
                  <a:cubicBezTo>
                    <a:pt x="12954" y="317945"/>
                    <a:pt x="0" y="304991"/>
                    <a:pt x="0" y="288989"/>
                  </a:cubicBezTo>
                  <a:lnTo>
                    <a:pt x="0" y="74962"/>
                  </a:lnTo>
                  <a:cubicBezTo>
                    <a:pt x="0" y="56864"/>
                    <a:pt x="14668" y="42196"/>
                    <a:pt x="32861" y="42196"/>
                  </a:cubicBezTo>
                  <a:close/>
                  <a:moveTo>
                    <a:pt x="169831" y="0"/>
                  </a:moveTo>
                  <a:lnTo>
                    <a:pt x="336899" y="0"/>
                  </a:lnTo>
                  <a:cubicBezTo>
                    <a:pt x="368713" y="0"/>
                    <a:pt x="394430" y="25813"/>
                    <a:pt x="394430" y="57531"/>
                  </a:cubicBezTo>
                  <a:lnTo>
                    <a:pt x="394430" y="217741"/>
                  </a:lnTo>
                  <a:cubicBezTo>
                    <a:pt x="394430" y="228600"/>
                    <a:pt x="385667" y="237363"/>
                    <a:pt x="374809" y="237363"/>
                  </a:cubicBezTo>
                  <a:cubicBezTo>
                    <a:pt x="364046" y="237363"/>
                    <a:pt x="355282" y="228600"/>
                    <a:pt x="355282" y="217741"/>
                  </a:cubicBezTo>
                  <a:lnTo>
                    <a:pt x="355282" y="57531"/>
                  </a:lnTo>
                  <a:cubicBezTo>
                    <a:pt x="355282" y="47339"/>
                    <a:pt x="346996" y="39148"/>
                    <a:pt x="336899" y="39148"/>
                  </a:cubicBezTo>
                  <a:lnTo>
                    <a:pt x="169831" y="39148"/>
                  </a:lnTo>
                  <a:cubicBezTo>
                    <a:pt x="158972" y="39148"/>
                    <a:pt x="150209" y="30385"/>
                    <a:pt x="150209" y="19622"/>
                  </a:cubicBezTo>
                  <a:cubicBezTo>
                    <a:pt x="150209" y="8858"/>
                    <a:pt x="158972" y="0"/>
                    <a:pt x="169831" y="0"/>
                  </a:cubicBezTo>
                  <a:close/>
                </a:path>
              </a:pathLst>
            </a:custGeom>
            <a:solidFill>
              <a:srgbClr val="48A2A0"/>
            </a:solidFill>
            <a:ln>
              <a:noFill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6987730" y="3531679"/>
            <a:ext cx="8875776" cy="960787"/>
            <a:chOff x="6987730" y="3531679"/>
            <a:chExt cx="8875776" cy="960787"/>
          </a:xfrm>
        </p:grpSpPr>
        <p:grpSp>
          <p:nvGrpSpPr>
            <p:cNvPr id="20" name="Group 20"/>
            <p:cNvGrpSpPr/>
            <p:nvPr/>
          </p:nvGrpSpPr>
          <p:grpSpPr>
            <a:xfrm>
              <a:off x="6987730" y="3531679"/>
              <a:ext cx="3585782" cy="411481"/>
              <a:chOff x="6987730" y="3531679"/>
              <a:chExt cx="3585782" cy="411481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6987730" y="3531679"/>
                <a:ext cx="3585782" cy="36938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7056311" y="3577400"/>
                <a:ext cx="2314004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404040"/>
                    </a:solidFill>
                    <a:latin typeface="印品黑体"/>
                    <a:ea typeface="Microsoft YaHei"/>
                    <a:cs typeface="印品黑体"/>
                  </a:rPr>
                  <a:t>净利润趋势（亿元）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6987730" y="3875151"/>
              <a:ext cx="8875776" cy="617315"/>
              <a:chOff x="6987730" y="3875151"/>
              <a:chExt cx="8875776" cy="617315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6987730" y="3875151"/>
                <a:ext cx="4229957" cy="617315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7063930" y="3920871"/>
                <a:ext cx="879957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808080"/>
                    </a:solidFill>
                    <a:latin typeface="印品黑体"/>
                    <a:ea typeface="Microsoft YaHei"/>
                    <a:cs typeface="印品黑体"/>
                  </a:rPr>
                  <a:t>2021年 17.6亿 → 2022年 13.8亿 → 2023年 16.6亿。营收呈现先降后升走势，2022年受行业周期影响回落，2023年强势反弹。</a:t>
                </a:r>
              </a:p>
            </p:txBody>
          </p:sp>
        </p:grpSp>
      </p:grpSp>
      <p:grpSp>
        <p:nvGrpSpPr>
          <p:cNvPr id="31" name="Group 31"/>
          <p:cNvGrpSpPr/>
          <p:nvPr/>
        </p:nvGrpSpPr>
        <p:grpSpPr>
          <a:xfrm>
            <a:off x="6987730" y="4861179"/>
            <a:ext cx="8875776" cy="960786"/>
            <a:chOff x="6987730" y="4861179"/>
            <a:chExt cx="8875776" cy="960786"/>
          </a:xfrm>
        </p:grpSpPr>
        <p:grpSp>
          <p:nvGrpSpPr>
            <p:cNvPr id="27" name="Group 27"/>
            <p:cNvGrpSpPr/>
            <p:nvPr/>
          </p:nvGrpSpPr>
          <p:grpSpPr>
            <a:xfrm>
              <a:off x="6987730" y="4861179"/>
              <a:ext cx="3585782" cy="411480"/>
              <a:chOff x="6987730" y="4861179"/>
              <a:chExt cx="3585782" cy="41148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6987730" y="4861179"/>
                <a:ext cx="3585782" cy="36938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7056311" y="4906899"/>
                <a:ext cx="1444495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404040"/>
                    </a:solidFill>
                    <a:latin typeface="印品黑体"/>
                    <a:ea typeface="Microsoft YaHei"/>
                    <a:cs typeface="印品黑体"/>
                  </a:rPr>
                  <a:t>V型反转分析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6987730" y="5204650"/>
              <a:ext cx="8875776" cy="617315"/>
              <a:chOff x="6987730" y="5204650"/>
              <a:chExt cx="8875776" cy="617315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6987730" y="5204650"/>
                <a:ext cx="4229957" cy="617315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7063930" y="5250370"/>
                <a:ext cx="879957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808080"/>
                    </a:solidFill>
                    <a:latin typeface="印品黑体"/>
                    <a:ea typeface="Microsoft YaHei"/>
                    <a:cs typeface="印品黑体"/>
                  </a:rPr>
                  <a:t>2021年 17.6亿 → 2022年 13.8亿 → 2023年 16.6亿。营收呈现先降后升走势，2022年受行业周期影响回落，2023年强势反弹。</a:t>
                </a:r>
              </a:p>
            </p:txBody>
          </p:sp>
        </p:grpSp>
      </p:grpSp>
      <p:grpSp>
        <p:nvGrpSpPr>
          <p:cNvPr id="34" name="Group 34"/>
          <p:cNvGrpSpPr/>
          <p:nvPr/>
        </p:nvGrpSpPr>
        <p:grpSpPr>
          <a:xfrm>
            <a:off x="6657880" y="3281648"/>
            <a:ext cx="4488466" cy="1333501"/>
            <a:chOff x="6657880" y="3281648"/>
            <a:chExt cx="4488466" cy="1333501"/>
          </a:xfrm>
        </p:grpSpPr>
        <p:sp>
          <p:nvSpPr>
            <p:cNvPr id="32" name="Line 32"/>
            <p:cNvSpPr/>
            <p:nvPr/>
          </p:nvSpPr>
          <p:spPr>
            <a:xfrm>
              <a:off x="6657880" y="3281648"/>
              <a:ext cx="4488466" cy="1"/>
            </a:xfrm>
            <a:prstGeom prst="line">
              <a:avLst/>
            </a:prstGeom>
            <a:noFill/>
            <a:ln w="9525">
              <a:solidFill>
                <a:srgbClr val="BFBFBF"/>
              </a:solidFill>
              <a:custDash>
                <a:ds d="300000" sp="300000"/>
              </a:custDash>
              <a:headEnd type="oval" w="lg" len="lg"/>
              <a:tailEnd type="oval" w="lg" len="lg"/>
            </a:ln>
          </p:spPr>
        </p:sp>
        <p:sp>
          <p:nvSpPr>
            <p:cNvPr id="33" name="Line 33"/>
            <p:cNvSpPr/>
            <p:nvPr/>
          </p:nvSpPr>
          <p:spPr>
            <a:xfrm>
              <a:off x="6657880" y="4615148"/>
              <a:ext cx="4488466" cy="1"/>
            </a:xfrm>
            <a:prstGeom prst="line">
              <a:avLst/>
            </a:prstGeom>
            <a:noFill/>
            <a:ln w="9525">
              <a:solidFill>
                <a:srgbClr val="BFBFBF"/>
              </a:solidFill>
              <a:custDash>
                <a:ds d="300000" sp="300000"/>
              </a:custDash>
              <a:headEnd type="oval" w="lg" len="lg"/>
              <a:tailEnd type="oval" w="lg" len="lg"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6472428" y="3599116"/>
            <a:ext cx="370904" cy="317849"/>
            <a:chOff x="6472428" y="3599116"/>
            <a:chExt cx="370904" cy="317849"/>
          </a:xfrm>
        </p:grpSpPr>
        <p:sp>
          <p:nvSpPr>
            <p:cNvPr id="35" name="Freeform 35"/>
            <p:cNvSpPr/>
            <p:nvPr/>
          </p:nvSpPr>
          <p:spPr>
            <a:xfrm>
              <a:off x="6472428" y="3599116"/>
              <a:ext cx="370904" cy="317849"/>
            </a:xfrm>
            <a:custGeom>
              <a:avLst/>
              <a:gdLst/>
              <a:ahLst/>
              <a:cxnLst/>
              <a:rect l="l" t="t" r="r" b="b"/>
              <a:pathLst>
                <a:path w="370904" h="317849">
                  <a:moveTo>
                    <a:pt x="15811" y="74485"/>
                  </a:moveTo>
                  <a:cubicBezTo>
                    <a:pt x="181547" y="74485"/>
                    <a:pt x="181547" y="74485"/>
                    <a:pt x="181547" y="74485"/>
                  </a:cubicBezTo>
                  <a:cubicBezTo>
                    <a:pt x="197358" y="62770"/>
                    <a:pt x="197358" y="62770"/>
                    <a:pt x="197358" y="62770"/>
                  </a:cubicBezTo>
                  <a:cubicBezTo>
                    <a:pt x="288036" y="0"/>
                    <a:pt x="288036" y="0"/>
                    <a:pt x="288036" y="0"/>
                  </a:cubicBezTo>
                  <a:cubicBezTo>
                    <a:pt x="288036" y="129445"/>
                    <a:pt x="288036" y="129445"/>
                    <a:pt x="288036" y="129445"/>
                  </a:cubicBezTo>
                  <a:cubicBezTo>
                    <a:pt x="288036" y="258985"/>
                    <a:pt x="288036" y="258985"/>
                    <a:pt x="288036" y="258985"/>
                  </a:cubicBezTo>
                  <a:cubicBezTo>
                    <a:pt x="197358" y="192310"/>
                    <a:pt x="197358" y="192310"/>
                    <a:pt x="197358" y="192310"/>
                  </a:cubicBezTo>
                  <a:cubicBezTo>
                    <a:pt x="181547" y="184404"/>
                    <a:pt x="181547" y="184404"/>
                    <a:pt x="181547" y="184404"/>
                  </a:cubicBezTo>
                  <a:cubicBezTo>
                    <a:pt x="130207" y="184404"/>
                    <a:pt x="130207" y="184404"/>
                    <a:pt x="130207" y="184404"/>
                  </a:cubicBezTo>
                  <a:cubicBezTo>
                    <a:pt x="157829" y="274701"/>
                    <a:pt x="157829" y="274701"/>
                    <a:pt x="157829" y="274701"/>
                  </a:cubicBezTo>
                  <a:cubicBezTo>
                    <a:pt x="177641" y="274701"/>
                    <a:pt x="177641" y="274701"/>
                    <a:pt x="177641" y="274701"/>
                  </a:cubicBezTo>
                  <a:cubicBezTo>
                    <a:pt x="177641" y="317849"/>
                    <a:pt x="177641" y="317849"/>
                    <a:pt x="177641" y="317849"/>
                  </a:cubicBezTo>
                  <a:cubicBezTo>
                    <a:pt x="169736" y="317849"/>
                    <a:pt x="169736" y="317849"/>
                    <a:pt x="169736" y="317849"/>
                  </a:cubicBezTo>
                  <a:cubicBezTo>
                    <a:pt x="82868" y="317849"/>
                    <a:pt x="82868" y="317849"/>
                    <a:pt x="82868" y="317849"/>
                  </a:cubicBezTo>
                  <a:cubicBezTo>
                    <a:pt x="43434" y="184404"/>
                    <a:pt x="43434" y="184404"/>
                    <a:pt x="43434" y="184404"/>
                  </a:cubicBezTo>
                  <a:cubicBezTo>
                    <a:pt x="15811" y="184404"/>
                    <a:pt x="15811" y="184404"/>
                    <a:pt x="15811" y="184404"/>
                  </a:cubicBezTo>
                  <a:cubicBezTo>
                    <a:pt x="0" y="145161"/>
                    <a:pt x="0" y="109823"/>
                    <a:pt x="15811" y="74485"/>
                  </a:cubicBezTo>
                  <a:close/>
                  <a:moveTo>
                    <a:pt x="343281" y="90202"/>
                  </a:moveTo>
                  <a:cubicBezTo>
                    <a:pt x="359093" y="94202"/>
                    <a:pt x="370904" y="109823"/>
                    <a:pt x="370904" y="129445"/>
                  </a:cubicBezTo>
                  <a:cubicBezTo>
                    <a:pt x="370904" y="149066"/>
                    <a:pt x="359093" y="164783"/>
                    <a:pt x="343281" y="168688"/>
                  </a:cubicBezTo>
                  <a:cubicBezTo>
                    <a:pt x="343281" y="258985"/>
                    <a:pt x="343281" y="258985"/>
                    <a:pt x="343281" y="258985"/>
                  </a:cubicBezTo>
                  <a:cubicBezTo>
                    <a:pt x="307848" y="258985"/>
                    <a:pt x="307848" y="258985"/>
                    <a:pt x="307848" y="258985"/>
                  </a:cubicBezTo>
                  <a:cubicBezTo>
                    <a:pt x="307848" y="0"/>
                    <a:pt x="307848" y="0"/>
                    <a:pt x="307848" y="0"/>
                  </a:cubicBezTo>
                  <a:cubicBezTo>
                    <a:pt x="343281" y="0"/>
                    <a:pt x="343281" y="0"/>
                    <a:pt x="343281" y="0"/>
                  </a:cubicBezTo>
                  <a:cubicBezTo>
                    <a:pt x="343281" y="90202"/>
                    <a:pt x="343281" y="90202"/>
                    <a:pt x="343281" y="90202"/>
                  </a:cubicBezTo>
                  <a:close/>
                  <a:moveTo>
                    <a:pt x="181547" y="192310"/>
                  </a:moveTo>
                  <a:cubicBezTo>
                    <a:pt x="146018" y="192310"/>
                    <a:pt x="146018" y="192310"/>
                    <a:pt x="146018" y="192310"/>
                  </a:cubicBezTo>
                  <a:cubicBezTo>
                    <a:pt x="157829" y="239363"/>
                    <a:pt x="157829" y="239363"/>
                    <a:pt x="157829" y="239363"/>
                  </a:cubicBezTo>
                  <a:cubicBezTo>
                    <a:pt x="169736" y="239363"/>
                    <a:pt x="169736" y="239363"/>
                    <a:pt x="169736" y="239363"/>
                  </a:cubicBezTo>
                  <a:cubicBezTo>
                    <a:pt x="169736" y="223647"/>
                    <a:pt x="169736" y="223647"/>
                    <a:pt x="169736" y="223647"/>
                  </a:cubicBezTo>
                  <a:lnTo>
                    <a:pt x="181547" y="192310"/>
                  </a:lnTo>
                  <a:close/>
                </a:path>
              </a:pathLst>
            </a:custGeom>
            <a:solidFill>
              <a:srgbClr val="6C92C0"/>
            </a:solidFill>
            <a:ln>
              <a:noFill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6439662" y="4870228"/>
            <a:ext cx="365855" cy="369380"/>
            <a:chOff x="6439662" y="4870228"/>
            <a:chExt cx="365855" cy="369380"/>
          </a:xfrm>
        </p:grpSpPr>
        <p:sp>
          <p:nvSpPr>
            <p:cNvPr id="37" name="Freeform 37"/>
            <p:cNvSpPr/>
            <p:nvPr/>
          </p:nvSpPr>
          <p:spPr>
            <a:xfrm>
              <a:off x="6439662" y="4870228"/>
              <a:ext cx="365855" cy="369380"/>
            </a:xfrm>
            <a:custGeom>
              <a:avLst/>
              <a:gdLst/>
              <a:ahLst/>
              <a:cxnLst/>
              <a:rect l="l" t="t" r="r" b="b"/>
              <a:pathLst>
                <a:path w="365855" h="369380">
                  <a:moveTo>
                    <a:pt x="181070" y="0"/>
                  </a:moveTo>
                  <a:cubicBezTo>
                    <a:pt x="284512" y="0"/>
                    <a:pt x="365855" y="81248"/>
                    <a:pt x="365855" y="184690"/>
                  </a:cubicBezTo>
                  <a:cubicBezTo>
                    <a:pt x="365855" y="284416"/>
                    <a:pt x="284512" y="369380"/>
                    <a:pt x="181070" y="369380"/>
                  </a:cubicBezTo>
                  <a:cubicBezTo>
                    <a:pt x="81248" y="369380"/>
                    <a:pt x="0" y="284416"/>
                    <a:pt x="0" y="184690"/>
                  </a:cubicBezTo>
                  <a:cubicBezTo>
                    <a:pt x="0" y="81248"/>
                    <a:pt x="81248" y="0"/>
                    <a:pt x="181070" y="0"/>
                  </a:cubicBezTo>
                  <a:close/>
                  <a:moveTo>
                    <a:pt x="166306" y="55435"/>
                  </a:moveTo>
                  <a:cubicBezTo>
                    <a:pt x="166306" y="162497"/>
                    <a:pt x="166306" y="162497"/>
                    <a:pt x="166306" y="162497"/>
                  </a:cubicBezTo>
                  <a:cubicBezTo>
                    <a:pt x="199549" y="162497"/>
                    <a:pt x="199549" y="162497"/>
                    <a:pt x="199549" y="162497"/>
                  </a:cubicBezTo>
                  <a:cubicBezTo>
                    <a:pt x="199549" y="55435"/>
                    <a:pt x="199549" y="55435"/>
                    <a:pt x="199549" y="55435"/>
                  </a:cubicBezTo>
                  <a:cubicBezTo>
                    <a:pt x="166306" y="55435"/>
                    <a:pt x="166306" y="55435"/>
                    <a:pt x="166306" y="55435"/>
                  </a:cubicBezTo>
                  <a:close/>
                  <a:moveTo>
                    <a:pt x="247555" y="88678"/>
                  </a:moveTo>
                  <a:cubicBezTo>
                    <a:pt x="225361" y="118205"/>
                    <a:pt x="225361" y="118205"/>
                    <a:pt x="225361" y="118205"/>
                  </a:cubicBezTo>
                  <a:cubicBezTo>
                    <a:pt x="229076" y="121920"/>
                    <a:pt x="232791" y="125635"/>
                    <a:pt x="236506" y="129254"/>
                  </a:cubicBezTo>
                  <a:cubicBezTo>
                    <a:pt x="251269" y="144018"/>
                    <a:pt x="258699" y="162497"/>
                    <a:pt x="258699" y="184690"/>
                  </a:cubicBezTo>
                  <a:cubicBezTo>
                    <a:pt x="258699" y="203168"/>
                    <a:pt x="251269" y="225266"/>
                    <a:pt x="236506" y="240125"/>
                  </a:cubicBezTo>
                  <a:cubicBezTo>
                    <a:pt x="221742" y="251174"/>
                    <a:pt x="203263" y="262223"/>
                    <a:pt x="181070" y="262223"/>
                  </a:cubicBezTo>
                  <a:cubicBezTo>
                    <a:pt x="162592" y="262223"/>
                    <a:pt x="140399" y="251174"/>
                    <a:pt x="129349" y="240125"/>
                  </a:cubicBezTo>
                  <a:cubicBezTo>
                    <a:pt x="114490" y="225266"/>
                    <a:pt x="103442" y="203168"/>
                    <a:pt x="103442" y="184690"/>
                  </a:cubicBezTo>
                  <a:cubicBezTo>
                    <a:pt x="103442" y="162497"/>
                    <a:pt x="114490" y="144018"/>
                    <a:pt x="129349" y="129254"/>
                  </a:cubicBezTo>
                  <a:cubicBezTo>
                    <a:pt x="129349" y="125635"/>
                    <a:pt x="132969" y="121920"/>
                    <a:pt x="136684" y="118205"/>
                  </a:cubicBezTo>
                  <a:cubicBezTo>
                    <a:pt x="114490" y="88678"/>
                    <a:pt x="114490" y="88678"/>
                    <a:pt x="114490" y="88678"/>
                  </a:cubicBezTo>
                  <a:cubicBezTo>
                    <a:pt x="110871" y="92392"/>
                    <a:pt x="107156" y="96012"/>
                    <a:pt x="99727" y="103441"/>
                  </a:cubicBezTo>
                  <a:cubicBezTo>
                    <a:pt x="81248" y="121920"/>
                    <a:pt x="66484" y="151448"/>
                    <a:pt x="66484" y="184690"/>
                  </a:cubicBezTo>
                  <a:cubicBezTo>
                    <a:pt x="66484" y="214217"/>
                    <a:pt x="81248" y="243745"/>
                    <a:pt x="99727" y="265938"/>
                  </a:cubicBezTo>
                  <a:cubicBezTo>
                    <a:pt x="121920" y="284416"/>
                    <a:pt x="151447" y="299180"/>
                    <a:pt x="181070" y="299180"/>
                  </a:cubicBezTo>
                  <a:cubicBezTo>
                    <a:pt x="214312" y="299180"/>
                    <a:pt x="243840" y="284416"/>
                    <a:pt x="266033" y="265938"/>
                  </a:cubicBezTo>
                  <a:cubicBezTo>
                    <a:pt x="284512" y="243745"/>
                    <a:pt x="299371" y="214217"/>
                    <a:pt x="299371" y="184690"/>
                  </a:cubicBezTo>
                  <a:cubicBezTo>
                    <a:pt x="299371" y="151448"/>
                    <a:pt x="284512" y="121920"/>
                    <a:pt x="266033" y="103441"/>
                  </a:cubicBezTo>
                  <a:cubicBezTo>
                    <a:pt x="258699" y="96012"/>
                    <a:pt x="254984" y="92392"/>
                    <a:pt x="247555" y="88678"/>
                  </a:cubicBezTo>
                  <a:close/>
                </a:path>
              </a:pathLst>
            </a:custGeom>
            <a:solidFill>
              <a:srgbClr val="48A2A0"/>
            </a:solidFill>
            <a:ln>
              <a:noFill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7244620" y="70294"/>
            <a:ext cx="4840414" cy="885158"/>
            <a:chOff x="7244620" y="70294"/>
            <a:chExt cx="4840414" cy="885158"/>
          </a:xfrm>
        </p:grpSpPr>
        <p:pic>
          <p:nvPicPr>
            <p:cNvPr id="39" name="Image 3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44620" y="70294"/>
              <a:ext cx="4840414" cy="885158"/>
            </a:xfrm>
            <a:prstGeom prst="rect">
              <a:avLst/>
            </a:prstGeom>
          </p:spPr>
        </p:pic>
      </p:grpSp>
      <p:grpSp>
        <p:nvGrpSpPr>
          <p:cNvPr id="43" name="Group 43"/>
          <p:cNvGrpSpPr/>
          <p:nvPr/>
        </p:nvGrpSpPr>
        <p:grpSpPr>
          <a:xfrm>
            <a:off x="1010031" y="600742"/>
            <a:ext cx="3090920" cy="452176"/>
            <a:chOff x="1010031" y="600742"/>
            <a:chExt cx="3090920" cy="452176"/>
          </a:xfrm>
        </p:grpSpPr>
        <p:sp>
          <p:nvSpPr>
            <p:cNvPr id="41" name="Rectangle 41"/>
            <p:cNvSpPr/>
            <p:nvPr/>
          </p:nvSpPr>
          <p:spPr>
            <a:xfrm>
              <a:off x="1010031" y="600742"/>
              <a:ext cx="2249329" cy="40014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76068" y="646467"/>
              <a:ext cx="3024883" cy="4064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00" dirty="0">
                  <a:solidFill>
                    <a:srgbClr val="768394"/>
                  </a:solidFill>
                  <a:latin typeface="印品黑体"/>
                  <a:ea typeface="Microsoft YaHei"/>
                  <a:cs typeface="印品黑体"/>
                </a:rPr>
                <a:t>利润含金量 + 盈利成长性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-57340" y="361759"/>
            <a:ext cx="1119377" cy="742664"/>
            <a:chOff x="-57340" y="361759"/>
            <a:chExt cx="1119377" cy="742664"/>
          </a:xfrm>
        </p:grpSpPr>
        <p:sp>
          <p:nvSpPr>
            <p:cNvPr id="44" name="Freeform 44"/>
            <p:cNvSpPr/>
            <p:nvPr/>
          </p:nvSpPr>
          <p:spPr>
            <a:xfrm>
              <a:off x="285845" y="388239"/>
              <a:ext cx="776192" cy="672275"/>
            </a:xfrm>
            <a:custGeom>
              <a:avLst/>
              <a:gdLst/>
              <a:ahLst/>
              <a:cxnLst/>
              <a:rect l="l" t="t" r="r" b="b"/>
              <a:pathLst>
                <a:path w="776192" h="672275">
                  <a:moveTo>
                    <a:pt x="317754" y="54197"/>
                  </a:moveTo>
                  <a:cubicBezTo>
                    <a:pt x="30861" y="550736"/>
                    <a:pt x="30861" y="550736"/>
                    <a:pt x="30861" y="550736"/>
                  </a:cubicBezTo>
                  <a:cubicBezTo>
                    <a:pt x="0" y="604933"/>
                    <a:pt x="39052" y="672275"/>
                    <a:pt x="101441" y="672275"/>
                  </a:cubicBezTo>
                  <a:cubicBezTo>
                    <a:pt x="674656" y="672275"/>
                    <a:pt x="674656" y="672275"/>
                    <a:pt x="674656" y="672275"/>
                  </a:cubicBezTo>
                  <a:cubicBezTo>
                    <a:pt x="737711" y="672275"/>
                    <a:pt x="776192" y="604933"/>
                    <a:pt x="745331" y="550736"/>
                  </a:cubicBezTo>
                  <a:cubicBezTo>
                    <a:pt x="458438" y="54197"/>
                    <a:pt x="458438" y="54197"/>
                    <a:pt x="458438" y="54197"/>
                  </a:cubicBezTo>
                  <a:cubicBezTo>
                    <a:pt x="427482" y="0"/>
                    <a:pt x="349282" y="0"/>
                    <a:pt x="317754" y="54197"/>
                  </a:cubicBezTo>
                  <a:close/>
                </a:path>
              </a:pathLst>
            </a:custGeom>
            <a:solidFill>
              <a:srgbClr val="6C92C0">
                <a:alpha val="68000"/>
              </a:srgbClr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-57340" y="361759"/>
              <a:ext cx="857345" cy="742664"/>
            </a:xfrm>
            <a:custGeom>
              <a:avLst/>
              <a:gdLst/>
              <a:ahLst/>
              <a:cxnLst/>
              <a:rect l="l" t="t" r="r" b="b"/>
              <a:pathLst>
                <a:path w="857345" h="742664">
                  <a:moveTo>
                    <a:pt x="350996" y="59912"/>
                  </a:moveTo>
                  <a:cubicBezTo>
                    <a:pt x="34100" y="608362"/>
                    <a:pt x="34100" y="608362"/>
                    <a:pt x="34100" y="608362"/>
                  </a:cubicBezTo>
                  <a:cubicBezTo>
                    <a:pt x="0" y="668179"/>
                    <a:pt x="43148" y="742664"/>
                    <a:pt x="112109" y="742664"/>
                  </a:cubicBezTo>
                  <a:cubicBezTo>
                    <a:pt x="745236" y="742664"/>
                    <a:pt x="745236" y="742664"/>
                    <a:pt x="745236" y="742664"/>
                  </a:cubicBezTo>
                  <a:cubicBezTo>
                    <a:pt x="814864" y="742664"/>
                    <a:pt x="857345" y="668179"/>
                    <a:pt x="823246" y="608362"/>
                  </a:cubicBezTo>
                  <a:cubicBezTo>
                    <a:pt x="506349" y="59912"/>
                    <a:pt x="506349" y="59912"/>
                    <a:pt x="506349" y="59912"/>
                  </a:cubicBezTo>
                  <a:cubicBezTo>
                    <a:pt x="472154" y="0"/>
                    <a:pt x="385858" y="0"/>
                    <a:pt x="350996" y="59912"/>
                  </a:cubicBezTo>
                  <a:close/>
                </a:path>
              </a:pathLst>
            </a:custGeom>
            <a:solidFill>
              <a:srgbClr val="48A2A0">
                <a:alpha val="680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3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47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5" grpId="0"/>
      <p:bldP spid="17" grpId="0"/>
      <p:bldP spid="24" grpId="0"/>
      <p:bldP spid="31" grpId="0"/>
      <p:bldP spid="34" grpId="0"/>
      <p:bldP spid="36" grpId="0"/>
      <p:bldP spid="38" grpId="0"/>
      <p:bldP spid="40" grpId="0"/>
      <p:bldP spid="43" grpId="0"/>
      <p:bldP spid="4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grpSp>
        <p:nvGrpSpPr>
          <p:cNvPr id="7" name="Group 7"/>
          <p:cNvGrpSpPr/>
          <p:nvPr/>
        </p:nvGrpSpPr>
        <p:grpSpPr>
          <a:xfrm>
            <a:off x="-639794" y="4856416"/>
            <a:ext cx="2158460" cy="2341912"/>
            <a:chOff x="-639794" y="4856416"/>
            <a:chExt cx="2158460" cy="2341912"/>
          </a:xfrm>
        </p:grpSpPr>
        <p:sp>
          <p:nvSpPr>
            <p:cNvPr id="5" name="Freeform 5"/>
            <p:cNvSpPr/>
            <p:nvPr/>
          </p:nvSpPr>
          <p:spPr>
            <a:xfrm>
              <a:off x="-639794" y="4856416"/>
              <a:ext cx="1765554" cy="1716405"/>
            </a:xfrm>
            <a:custGeom>
              <a:avLst/>
              <a:gdLst/>
              <a:ahLst/>
              <a:cxnLst/>
              <a:rect l="l" t="t" r="r" b="b"/>
              <a:pathLst>
                <a:path w="1765554" h="1716405">
                  <a:moveTo>
                    <a:pt x="770192" y="8477"/>
                  </a:moveTo>
                  <a:cubicBezTo>
                    <a:pt x="819912" y="13525"/>
                    <a:pt x="868204" y="37433"/>
                    <a:pt x="903351" y="82106"/>
                  </a:cubicBezTo>
                  <a:cubicBezTo>
                    <a:pt x="903351" y="82106"/>
                    <a:pt x="903351" y="82106"/>
                    <a:pt x="1691354" y="1072420"/>
                  </a:cubicBezTo>
                  <a:lnTo>
                    <a:pt x="1765554" y="1165670"/>
                  </a:lnTo>
                  <a:lnTo>
                    <a:pt x="1765554" y="1419987"/>
                  </a:lnTo>
                  <a:lnTo>
                    <a:pt x="1740789" y="1446371"/>
                  </a:lnTo>
                  <a:cubicBezTo>
                    <a:pt x="1714595" y="1467803"/>
                    <a:pt x="1681924" y="1483042"/>
                    <a:pt x="1644110" y="1488662"/>
                  </a:cubicBezTo>
                  <a:cubicBezTo>
                    <a:pt x="1644110" y="1488662"/>
                    <a:pt x="1644110" y="1488662"/>
                    <a:pt x="267938" y="1694021"/>
                  </a:cubicBezTo>
                  <a:cubicBezTo>
                    <a:pt x="118015" y="1716405"/>
                    <a:pt x="0" y="1568577"/>
                    <a:pt x="54769" y="1427417"/>
                  </a:cubicBezTo>
                  <a:cubicBezTo>
                    <a:pt x="54769" y="1427417"/>
                    <a:pt x="54769" y="1427417"/>
                    <a:pt x="565785" y="132493"/>
                  </a:cubicBezTo>
                  <a:cubicBezTo>
                    <a:pt x="600932" y="44101"/>
                    <a:pt x="687419" y="0"/>
                    <a:pt x="770192" y="8477"/>
                  </a:cubicBezTo>
                  <a:close/>
                </a:path>
              </a:pathLst>
            </a:custGeom>
            <a:solidFill>
              <a:srgbClr val="6C92C0">
                <a:alpha val="66000"/>
              </a:srgbClr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-198310" y="5051679"/>
              <a:ext cx="1716976" cy="2146649"/>
            </a:xfrm>
            <a:custGeom>
              <a:avLst/>
              <a:gdLst/>
              <a:ahLst/>
              <a:cxnLst/>
              <a:rect l="l" t="t" r="r" b="b"/>
              <a:pathLst>
                <a:path w="1716976" h="2146649">
                  <a:moveTo>
                    <a:pt x="1716976" y="0"/>
                  </a:moveTo>
                  <a:lnTo>
                    <a:pt x="1716976" y="2146649"/>
                  </a:lnTo>
                  <a:lnTo>
                    <a:pt x="1208342" y="2146649"/>
                  </a:lnTo>
                  <a:lnTo>
                    <a:pt x="1030605" y="2059019"/>
                  </a:lnTo>
                  <a:cubicBezTo>
                    <a:pt x="818864" y="1954530"/>
                    <a:pt x="585216" y="1839278"/>
                    <a:pt x="327470" y="1712214"/>
                  </a:cubicBezTo>
                  <a:cubicBezTo>
                    <a:pt x="28004" y="1564481"/>
                    <a:pt x="0" y="1148525"/>
                    <a:pt x="276416" y="961644"/>
                  </a:cubicBezTo>
                  <a:cubicBezTo>
                    <a:pt x="276416" y="961644"/>
                    <a:pt x="276416" y="961644"/>
                    <a:pt x="1644872" y="48101"/>
                  </a:cubicBezTo>
                  <a:close/>
                </a:path>
              </a:pathLst>
            </a:custGeom>
            <a:solidFill>
              <a:srgbClr val="48A2A0">
                <a:alpha val="45000"/>
              </a:srgbClr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9087040" y="-1443800"/>
            <a:ext cx="3204401" cy="4893660"/>
            <a:chOff x="9087040" y="-1443800"/>
            <a:chExt cx="3204401" cy="4893660"/>
          </a:xfrm>
        </p:grpSpPr>
        <p:sp>
          <p:nvSpPr>
            <p:cNvPr id="8" name="Freeform 8"/>
            <p:cNvSpPr/>
            <p:nvPr/>
          </p:nvSpPr>
          <p:spPr>
            <a:xfrm>
              <a:off x="9087040" y="-1443800"/>
              <a:ext cx="3204401" cy="3482054"/>
            </a:xfrm>
            <a:custGeom>
              <a:avLst/>
              <a:gdLst/>
              <a:ahLst/>
              <a:cxnLst/>
              <a:rect l="l" t="t" r="r" b="b"/>
              <a:pathLst>
                <a:path w="3204401" h="3482054">
                  <a:moveTo>
                    <a:pt x="0" y="0"/>
                  </a:moveTo>
                  <a:lnTo>
                    <a:pt x="45911" y="11620"/>
                  </a:lnTo>
                  <a:cubicBezTo>
                    <a:pt x="152590" y="46101"/>
                    <a:pt x="252793" y="109633"/>
                    <a:pt x="334899" y="204502"/>
                  </a:cubicBezTo>
                  <a:cubicBezTo>
                    <a:pt x="334899" y="204502"/>
                    <a:pt x="334899" y="204502"/>
                    <a:pt x="3098673" y="3361277"/>
                  </a:cubicBezTo>
                  <a:lnTo>
                    <a:pt x="3204401" y="3482054"/>
                  </a:lnTo>
                  <a:lnTo>
                    <a:pt x="0" y="3482054"/>
                  </a:lnTo>
                  <a:close/>
                </a:path>
              </a:pathLst>
            </a:custGeom>
            <a:solidFill>
              <a:srgbClr val="6C92C0">
                <a:alpha val="5000"/>
              </a:srgbClr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9102280" y="-843629"/>
              <a:ext cx="1443323" cy="4293489"/>
            </a:xfrm>
            <a:custGeom>
              <a:avLst/>
              <a:gdLst/>
              <a:ahLst/>
              <a:cxnLst/>
              <a:rect l="l" t="t" r="r" b="b"/>
              <a:pathLst>
                <a:path w="1443323" h="4293489">
                  <a:moveTo>
                    <a:pt x="898970" y="2286"/>
                  </a:moveTo>
                  <a:cubicBezTo>
                    <a:pt x="1208342" y="18002"/>
                    <a:pt x="1443323" y="324326"/>
                    <a:pt x="1343787" y="640842"/>
                  </a:cubicBezTo>
                  <a:cubicBezTo>
                    <a:pt x="1343787" y="640842"/>
                    <a:pt x="1343787" y="640842"/>
                    <a:pt x="316801" y="3971830"/>
                  </a:cubicBezTo>
                  <a:cubicBezTo>
                    <a:pt x="266986" y="4130040"/>
                    <a:pt x="151067" y="4239578"/>
                    <a:pt x="14478" y="4289203"/>
                  </a:cubicBezTo>
                  <a:lnTo>
                    <a:pt x="0" y="4293489"/>
                  </a:lnTo>
                  <a:lnTo>
                    <a:pt x="0" y="187738"/>
                  </a:lnTo>
                  <a:lnTo>
                    <a:pt x="164306" y="150304"/>
                  </a:lnTo>
                  <a:cubicBezTo>
                    <a:pt x="350996" y="107823"/>
                    <a:pt x="550164" y="62484"/>
                    <a:pt x="762572" y="14097"/>
                  </a:cubicBezTo>
                  <a:cubicBezTo>
                    <a:pt x="809053" y="3715"/>
                    <a:pt x="854773" y="0"/>
                    <a:pt x="898970" y="2286"/>
                  </a:cubicBezTo>
                  <a:close/>
                </a:path>
              </a:pathLst>
            </a:custGeom>
            <a:solidFill>
              <a:srgbClr val="6C92C0">
                <a:alpha val="78000"/>
              </a:srgbClr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9734645" y="-218884"/>
              <a:ext cx="1191863" cy="1032224"/>
            </a:xfrm>
            <a:custGeom>
              <a:avLst/>
              <a:gdLst/>
              <a:ahLst/>
              <a:cxnLst/>
              <a:rect l="l" t="t" r="r" b="b"/>
              <a:pathLst>
                <a:path w="1191863" h="1032224">
                  <a:moveTo>
                    <a:pt x="487966" y="83153"/>
                  </a:moveTo>
                  <a:cubicBezTo>
                    <a:pt x="47435" y="845534"/>
                    <a:pt x="47435" y="845534"/>
                    <a:pt x="47435" y="845534"/>
                  </a:cubicBezTo>
                  <a:cubicBezTo>
                    <a:pt x="0" y="928783"/>
                    <a:pt x="60007" y="1032224"/>
                    <a:pt x="155924" y="1032224"/>
                  </a:cubicBezTo>
                  <a:cubicBezTo>
                    <a:pt x="1035939" y="1032224"/>
                    <a:pt x="1035939" y="1032224"/>
                    <a:pt x="1035939" y="1032224"/>
                  </a:cubicBezTo>
                  <a:cubicBezTo>
                    <a:pt x="1132808" y="1032224"/>
                    <a:pt x="1191863" y="928783"/>
                    <a:pt x="1144429" y="845534"/>
                  </a:cubicBezTo>
                  <a:cubicBezTo>
                    <a:pt x="703898" y="83153"/>
                    <a:pt x="703898" y="83153"/>
                    <a:pt x="703898" y="83153"/>
                  </a:cubicBezTo>
                  <a:cubicBezTo>
                    <a:pt x="656463" y="0"/>
                    <a:pt x="536353" y="0"/>
                    <a:pt x="487966" y="83153"/>
                  </a:cubicBezTo>
                  <a:close/>
                </a:path>
              </a:pathLst>
            </a:custGeom>
            <a:solidFill>
              <a:srgbClr val="48A2A0">
                <a:alpha val="68000"/>
              </a:srgbClr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-56674" y="82582"/>
            <a:ext cx="4840414" cy="885158"/>
            <a:chOff x="-56674" y="82582"/>
            <a:chExt cx="4840414" cy="885158"/>
          </a:xfrm>
        </p:grpSpPr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56674" y="82582"/>
              <a:ext cx="4840414" cy="885158"/>
            </a:xfrm>
            <a:prstGeom prst="rect">
              <a:avLst/>
            </a:prstGeom>
          </p:spPr>
        </p:pic>
      </p:grpSp>
      <p:grpSp>
        <p:nvGrpSpPr>
          <p:cNvPr id="24" name="Group 24"/>
          <p:cNvGrpSpPr/>
          <p:nvPr/>
        </p:nvGrpSpPr>
        <p:grpSpPr>
          <a:xfrm>
            <a:off x="1365218" y="1931670"/>
            <a:ext cx="8823960" cy="2202180"/>
            <a:chOff x="1365218" y="1931670"/>
            <a:chExt cx="8823960" cy="2202180"/>
          </a:xfrm>
        </p:grpSpPr>
        <p:sp>
          <p:nvSpPr>
            <p:cNvPr id="14" name="Freeform 14"/>
            <p:cNvSpPr/>
            <p:nvPr/>
          </p:nvSpPr>
          <p:spPr>
            <a:xfrm>
              <a:off x="1584293" y="1931670"/>
              <a:ext cx="2288572" cy="1981867"/>
            </a:xfrm>
            <a:custGeom>
              <a:avLst/>
              <a:gdLst/>
              <a:ahLst/>
              <a:cxnLst/>
              <a:rect l="l" t="t" r="r" b="b"/>
              <a:pathLst>
                <a:path w="2288572" h="1981867">
                  <a:moveTo>
                    <a:pt x="936974" y="159734"/>
                  </a:moveTo>
                  <a:cubicBezTo>
                    <a:pt x="91154" y="1623346"/>
                    <a:pt x="91154" y="1623346"/>
                    <a:pt x="91154" y="1623346"/>
                  </a:cubicBezTo>
                  <a:cubicBezTo>
                    <a:pt x="0" y="1783080"/>
                    <a:pt x="115252" y="1981867"/>
                    <a:pt x="299371" y="1981867"/>
                  </a:cubicBezTo>
                  <a:cubicBezTo>
                    <a:pt x="1989296" y="1981867"/>
                    <a:pt x="1989296" y="1981867"/>
                    <a:pt x="1989296" y="1981867"/>
                  </a:cubicBezTo>
                  <a:cubicBezTo>
                    <a:pt x="2175129" y="1981867"/>
                    <a:pt x="2288572" y="1783080"/>
                    <a:pt x="2197513" y="1623346"/>
                  </a:cubicBezTo>
                  <a:cubicBezTo>
                    <a:pt x="1351598" y="159734"/>
                    <a:pt x="1351598" y="159734"/>
                    <a:pt x="1351598" y="159734"/>
                  </a:cubicBezTo>
                  <a:cubicBezTo>
                    <a:pt x="1260538" y="0"/>
                    <a:pt x="1029938" y="0"/>
                    <a:pt x="936974" y="159734"/>
                  </a:cubicBezTo>
                  <a:close/>
                </a:path>
              </a:pathLst>
            </a:custGeom>
            <a:solidFill>
              <a:srgbClr val="48A2A0">
                <a:alpha val="68000"/>
              </a:srgbClr>
            </a:solidFill>
            <a:ln>
              <a:noFill/>
            </a:ln>
            <a:effectLst>
              <a:outerShdw blurRad="50864" dist="38121" dir="2700000" algn="tl" rotWithShape="0">
                <a:srgbClr val="000000">
                  <a:alpha val="30000"/>
                </a:srgbClr>
              </a:outerShdw>
            </a:effectLst>
          </p:spPr>
        </p:sp>
        <p:grpSp>
          <p:nvGrpSpPr>
            <p:cNvPr id="23" name="Group 23"/>
            <p:cNvGrpSpPr/>
            <p:nvPr/>
          </p:nvGrpSpPr>
          <p:grpSpPr>
            <a:xfrm>
              <a:off x="1365218" y="2419350"/>
              <a:ext cx="8823960" cy="1714500"/>
              <a:chOff x="1365218" y="2419350"/>
              <a:chExt cx="8823960" cy="171450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4662773" y="2922937"/>
                <a:ext cx="3784568" cy="985552"/>
              </a:xfrm>
              <a:prstGeom prst="roundRect">
                <a:avLst>
                  <a:gd name="adj" fmla="val 16662"/>
                </a:avLst>
              </a:prstGeom>
              <a:solidFill>
                <a:srgbClr val="D9EEEE"/>
              </a:solidFill>
              <a:ln>
                <a:noFill/>
              </a:ln>
              <a:effectLst>
                <a:outerShdw blurRad="63436" dist="50783" dir="18900000" algn="bl" rotWithShape="0">
                  <a:srgbClr val="000000">
                    <a:alpha val="37500"/>
                  </a:srgbClr>
                </a:outerShdw>
              </a:effectLst>
            </p:spPr>
          </p:sp>
          <p:sp>
            <p:nvSpPr>
              <p:cNvPr id="16" name="Freeform 16"/>
              <p:cNvSpPr/>
              <p:nvPr/>
            </p:nvSpPr>
            <p:spPr>
              <a:xfrm>
                <a:off x="2495550" y="2419350"/>
                <a:ext cx="1979295" cy="1714500"/>
              </a:xfrm>
              <a:custGeom>
                <a:avLst/>
                <a:gdLst/>
                <a:ahLst/>
                <a:cxnLst/>
                <a:rect l="l" t="t" r="r" b="b"/>
                <a:pathLst>
                  <a:path w="1979295" h="1714500">
                    <a:moveTo>
                      <a:pt x="810387" y="138208"/>
                    </a:moveTo>
                    <a:cubicBezTo>
                      <a:pt x="78772" y="1404366"/>
                      <a:pt x="78772" y="1404366"/>
                      <a:pt x="78772" y="1404366"/>
                    </a:cubicBezTo>
                    <a:cubicBezTo>
                      <a:pt x="0" y="1542574"/>
                      <a:pt x="99727" y="1714500"/>
                      <a:pt x="258890" y="1714500"/>
                    </a:cubicBezTo>
                    <a:cubicBezTo>
                      <a:pt x="1720406" y="1714500"/>
                      <a:pt x="1720406" y="1714500"/>
                      <a:pt x="1720406" y="1714500"/>
                    </a:cubicBezTo>
                    <a:cubicBezTo>
                      <a:pt x="1881188" y="1714500"/>
                      <a:pt x="1979295" y="1542574"/>
                      <a:pt x="1900523" y="1404366"/>
                    </a:cubicBezTo>
                    <a:cubicBezTo>
                      <a:pt x="1168908" y="138208"/>
                      <a:pt x="1168908" y="138208"/>
                      <a:pt x="1168908" y="138208"/>
                    </a:cubicBezTo>
                    <a:cubicBezTo>
                      <a:pt x="1090136" y="0"/>
                      <a:pt x="890778" y="0"/>
                      <a:pt x="810387" y="138208"/>
                    </a:cubicBezTo>
                    <a:close/>
                  </a:path>
                </a:pathLst>
              </a:custGeom>
              <a:solidFill>
                <a:srgbClr val="6C92C0">
                  <a:alpha val="68000"/>
                </a:srgbClr>
              </a:solidFill>
              <a:ln>
                <a:noFill/>
              </a:ln>
              <a:effectLst>
                <a:outerShdw blurRad="50864" dist="38121" dir="2700000" algn="tl" rotWithShape="0">
                  <a:srgbClr val="000000">
                    <a:alpha val="30000"/>
                  </a:srgbClr>
                </a:outerShdw>
              </a:effectLst>
            </p:spPr>
          </p:sp>
          <p:grpSp>
            <p:nvGrpSpPr>
              <p:cNvPr id="19" name="Group 19"/>
              <p:cNvGrpSpPr/>
              <p:nvPr/>
            </p:nvGrpSpPr>
            <p:grpSpPr>
              <a:xfrm>
                <a:off x="1365218" y="2922937"/>
                <a:ext cx="3955447" cy="939760"/>
                <a:chOff x="1365218" y="2922937"/>
                <a:chExt cx="3955447" cy="939760"/>
              </a:xfrm>
            </p:grpSpPr>
            <p:sp>
              <p:nvSpPr>
                <p:cNvPr id="17" name="Rectangle 17"/>
                <p:cNvSpPr/>
                <p:nvPr/>
              </p:nvSpPr>
              <p:spPr>
                <a:xfrm>
                  <a:off x="1365218" y="2922937"/>
                  <a:ext cx="3955447" cy="847725"/>
                </a:xfrm>
                <a:prstGeom prst="rect">
                  <a:avLst/>
                </a:prstGeom>
                <a:noFill/>
                <a:ln>
                  <a:noFill/>
                </a:ln>
              </p:spPr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2178104" y="2968566"/>
                  <a:ext cx="2329770" cy="89413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4400" b="1" dirty="0">
                      <a:solidFill>
                        <a:srgbClr val="FFFFFF"/>
                      </a:solidFill>
                      <a:latin typeface="印品黑体"/>
                      <a:ea typeface="Microsoft YaHei"/>
                      <a:cs typeface="印品黑体"/>
                    </a:rPr>
                    <a:t>PART 03</a:t>
                  </a:r>
                </a:p>
              </p:txBody>
            </p:sp>
          </p:grpSp>
          <p:grpSp>
            <p:nvGrpSpPr>
              <p:cNvPr id="22" name="Group 22"/>
              <p:cNvGrpSpPr/>
              <p:nvPr/>
            </p:nvGrpSpPr>
            <p:grpSpPr>
              <a:xfrm>
                <a:off x="5011388" y="3115342"/>
                <a:ext cx="5177790" cy="777240"/>
                <a:chOff x="5011388" y="3115342"/>
                <a:chExt cx="5177790" cy="777240"/>
              </a:xfrm>
            </p:grpSpPr>
            <p:sp>
              <p:nvSpPr>
                <p:cNvPr id="20" name="Rectangle 20"/>
                <p:cNvSpPr/>
                <p:nvPr/>
              </p:nvSpPr>
              <p:spPr>
                <a:xfrm>
                  <a:off x="5011388" y="3115342"/>
                  <a:ext cx="3154680" cy="645128"/>
                </a:xfrm>
                <a:prstGeom prst="rect">
                  <a:avLst/>
                </a:prstGeom>
                <a:noFill/>
                <a:ln>
                  <a:noFill/>
                </a:ln>
              </p:spPr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5057108" y="3161062"/>
                  <a:ext cx="5132070" cy="7315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3600" b="1" dirty="0">
                      <a:solidFill>
                        <a:srgbClr val="3EA592"/>
                      </a:solidFill>
                      <a:latin typeface="微软雅黑"/>
                      <a:ea typeface="Microsoft YaHei"/>
                      <a:cs typeface="微软雅黑"/>
                    </a:rPr>
                    <a:t>盈利持续性与杜邦分析</a:t>
                  </a:r>
                </a:p>
              </p:txBody>
            </p:sp>
          </p:grpSp>
        </p:grp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1" grpId="0"/>
      <p:bldP spid="13" grpId="0"/>
      <p:bldP spid="2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519684" y="2148554"/>
            <a:ext cx="2448401" cy="3357753"/>
            <a:chOff x="519684" y="2148554"/>
            <a:chExt cx="2448401" cy="3357753"/>
          </a:xfrm>
        </p:grpSpPr>
        <p:sp>
          <p:nvSpPr>
            <p:cNvPr id="3" name="Rectangle 3"/>
            <p:cNvSpPr/>
            <p:nvPr/>
          </p:nvSpPr>
          <p:spPr>
            <a:xfrm>
              <a:off x="519684" y="2148554"/>
              <a:ext cx="2448401" cy="3357753"/>
            </a:xfrm>
            <a:prstGeom prst="roundRect">
              <a:avLst>
                <a:gd name="adj" fmla="val 16666"/>
              </a:avLst>
            </a:prstGeom>
            <a:solidFill>
              <a:srgbClr val="48A2A0"/>
            </a:solidFill>
            <a:ln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3421094" y="2148554"/>
            <a:ext cx="2448401" cy="3357753"/>
            <a:chOff x="3421094" y="2148554"/>
            <a:chExt cx="2448401" cy="3357753"/>
          </a:xfrm>
        </p:grpSpPr>
        <p:sp>
          <p:nvSpPr>
            <p:cNvPr id="5" name="Rectangle 5"/>
            <p:cNvSpPr/>
            <p:nvPr/>
          </p:nvSpPr>
          <p:spPr>
            <a:xfrm>
              <a:off x="3421094" y="2148554"/>
              <a:ext cx="2448401" cy="3357753"/>
            </a:xfrm>
            <a:prstGeom prst="roundRect">
              <a:avLst>
                <a:gd name="adj" fmla="val 16666"/>
              </a:avLst>
            </a:prstGeom>
            <a:solidFill>
              <a:srgbClr val="6C92C0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6322504" y="2148554"/>
            <a:ext cx="2448401" cy="3357753"/>
            <a:chOff x="6322504" y="2148554"/>
            <a:chExt cx="2448401" cy="3357753"/>
          </a:xfrm>
        </p:grpSpPr>
        <p:sp>
          <p:nvSpPr>
            <p:cNvPr id="7" name="Rectangle 7"/>
            <p:cNvSpPr/>
            <p:nvPr/>
          </p:nvSpPr>
          <p:spPr>
            <a:xfrm>
              <a:off x="6322504" y="2148554"/>
              <a:ext cx="2448401" cy="3357753"/>
            </a:xfrm>
            <a:prstGeom prst="roundRect">
              <a:avLst>
                <a:gd name="adj" fmla="val 16666"/>
              </a:avLst>
            </a:prstGeom>
            <a:solidFill>
              <a:srgbClr val="48A2A0"/>
            </a:soli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9223915" y="2148554"/>
            <a:ext cx="2448401" cy="3357753"/>
            <a:chOff x="9223915" y="2148554"/>
            <a:chExt cx="2448401" cy="3357753"/>
          </a:xfrm>
        </p:grpSpPr>
        <p:sp>
          <p:nvSpPr>
            <p:cNvPr id="9" name="Rectangle 9"/>
            <p:cNvSpPr/>
            <p:nvPr/>
          </p:nvSpPr>
          <p:spPr>
            <a:xfrm>
              <a:off x="9223915" y="2148554"/>
              <a:ext cx="2448401" cy="3357753"/>
            </a:xfrm>
            <a:prstGeom prst="roundRect">
              <a:avLst>
                <a:gd name="adj" fmla="val 16666"/>
              </a:avLst>
            </a:prstGeom>
            <a:solidFill>
              <a:srgbClr val="6C92C0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458119" y="3326225"/>
            <a:ext cx="2571436" cy="452081"/>
            <a:chOff x="458119" y="3326225"/>
            <a:chExt cx="2571436" cy="452081"/>
          </a:xfrm>
        </p:grpSpPr>
        <p:sp>
          <p:nvSpPr>
            <p:cNvPr id="11" name="Rectangle 11"/>
            <p:cNvSpPr/>
            <p:nvPr/>
          </p:nvSpPr>
          <p:spPr>
            <a:xfrm>
              <a:off x="862870" y="3326225"/>
              <a:ext cx="1762030" cy="40014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58119" y="3371855"/>
              <a:ext cx="2571436" cy="4064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00" b="1" dirty="0">
                  <a:solidFill>
                    <a:srgbClr val="FFFFFF"/>
                  </a:solidFill>
                  <a:latin typeface="印品黑体"/>
                  <a:ea typeface="Microsoft YaHei"/>
                  <a:cs typeface="印品黑体"/>
                </a:rPr>
                <a:t>盈利能力持续性分析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-6541122" y="3777615"/>
            <a:ext cx="16569918" cy="1383697"/>
            <a:chOff x="-6541122" y="3777615"/>
            <a:chExt cx="16569918" cy="1383697"/>
          </a:xfrm>
        </p:grpSpPr>
        <p:sp>
          <p:nvSpPr>
            <p:cNvPr id="14" name="Rectangle 14"/>
            <p:cNvSpPr/>
            <p:nvPr/>
          </p:nvSpPr>
          <p:spPr>
            <a:xfrm>
              <a:off x="605600" y="3777615"/>
              <a:ext cx="2276570" cy="138369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-6541122" y="3823340"/>
              <a:ext cx="16569918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dirty="0">
                  <a:solidFill>
                    <a:srgbClr val="FFFFFF"/>
                  </a:solidFill>
                  <a:latin typeface="印品黑体"/>
                  <a:ea typeface="Microsoft YaHei"/>
                  <a:cs typeface="印品黑体"/>
                </a:rPr>
                <a:t>持续性分析聚焦于企业盈利在时间维度上的稳定性与可预测性。核心指标包括营业利润波动率（标准差/均值），以及利润同比增长的连续性周期数。高持续性意味着企业的竞争优势具备长期复利效应。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359529" y="3326225"/>
            <a:ext cx="2571436" cy="452081"/>
            <a:chOff x="3359529" y="3326225"/>
            <a:chExt cx="2571436" cy="452081"/>
          </a:xfrm>
        </p:grpSpPr>
        <p:sp>
          <p:nvSpPr>
            <p:cNvPr id="17" name="Rectangle 17"/>
            <p:cNvSpPr/>
            <p:nvPr/>
          </p:nvSpPr>
          <p:spPr>
            <a:xfrm>
              <a:off x="3764280" y="3326225"/>
              <a:ext cx="1762030" cy="40014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359529" y="3371855"/>
              <a:ext cx="2571436" cy="4064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00" b="1" dirty="0">
                  <a:solidFill>
                    <a:srgbClr val="FFFFFF"/>
                  </a:solidFill>
                  <a:latin typeface="印品黑体"/>
                  <a:ea typeface="Microsoft YaHei"/>
                  <a:cs typeface="印品黑体"/>
                </a:rPr>
                <a:t>盈利能力持续性分析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-3639712" y="3777615"/>
            <a:ext cx="16569918" cy="1383697"/>
            <a:chOff x="-3639712" y="3777615"/>
            <a:chExt cx="16569918" cy="1383697"/>
          </a:xfrm>
        </p:grpSpPr>
        <p:sp>
          <p:nvSpPr>
            <p:cNvPr id="20" name="Rectangle 20"/>
            <p:cNvSpPr/>
            <p:nvPr/>
          </p:nvSpPr>
          <p:spPr>
            <a:xfrm>
              <a:off x="3507010" y="3777615"/>
              <a:ext cx="2276570" cy="138369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-3639712" y="3823340"/>
              <a:ext cx="16569918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dirty="0">
                  <a:solidFill>
                    <a:srgbClr val="FFFFFF"/>
                  </a:solidFill>
                  <a:latin typeface="印品黑体"/>
                  <a:ea typeface="Microsoft YaHei"/>
                  <a:cs typeface="印品黑体"/>
                </a:rPr>
                <a:t>持续性分析聚焦于企业盈利在时间维度上的稳定性与可预测性。核心指标包括营业利润波动率（标准差/均值），以及利润同比增长的连续性周期数。高持续性意味着企业的竞争优势具备长期复利效应。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261035" y="3350609"/>
            <a:ext cx="2571436" cy="452176"/>
            <a:chOff x="6261035" y="3350609"/>
            <a:chExt cx="2571436" cy="452176"/>
          </a:xfrm>
        </p:grpSpPr>
        <p:sp>
          <p:nvSpPr>
            <p:cNvPr id="23" name="Rectangle 23"/>
            <p:cNvSpPr/>
            <p:nvPr/>
          </p:nvSpPr>
          <p:spPr>
            <a:xfrm>
              <a:off x="6665690" y="3350609"/>
              <a:ext cx="1762030" cy="40014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61035" y="3396334"/>
              <a:ext cx="2571436" cy="4064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00" b="1" dirty="0">
                  <a:solidFill>
                    <a:srgbClr val="FFFFFF"/>
                  </a:solidFill>
                  <a:latin typeface="印品黑体"/>
                  <a:ea typeface="Microsoft YaHei"/>
                  <a:cs typeface="印品黑体"/>
                </a:rPr>
                <a:t>盈利能力持续性分析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-738206" y="3801999"/>
            <a:ext cx="16569918" cy="1383697"/>
            <a:chOff x="-738206" y="3801999"/>
            <a:chExt cx="16569918" cy="1383697"/>
          </a:xfrm>
        </p:grpSpPr>
        <p:sp>
          <p:nvSpPr>
            <p:cNvPr id="26" name="Rectangle 26"/>
            <p:cNvSpPr/>
            <p:nvPr/>
          </p:nvSpPr>
          <p:spPr>
            <a:xfrm>
              <a:off x="6408420" y="3801999"/>
              <a:ext cx="2276570" cy="138369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-738206" y="3847724"/>
              <a:ext cx="16569918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dirty="0">
                  <a:solidFill>
                    <a:srgbClr val="FFFFFF"/>
                  </a:solidFill>
                  <a:latin typeface="印品黑体"/>
                  <a:ea typeface="Microsoft YaHei"/>
                  <a:cs typeface="印品黑体"/>
                </a:rPr>
                <a:t>持续性分析聚焦于企业盈利在时间维度上的稳定性与可预测性。核心指标包括营业利润波动率（标准差/均值），以及利润同比增长的连续性周期数。高持续性意味着企业的竞争优势具备长期复利效应。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162445" y="3350609"/>
            <a:ext cx="2571436" cy="452176"/>
            <a:chOff x="9162445" y="3350609"/>
            <a:chExt cx="2571436" cy="452176"/>
          </a:xfrm>
        </p:grpSpPr>
        <p:sp>
          <p:nvSpPr>
            <p:cNvPr id="29" name="Rectangle 29"/>
            <p:cNvSpPr/>
            <p:nvPr/>
          </p:nvSpPr>
          <p:spPr>
            <a:xfrm>
              <a:off x="9567100" y="3350609"/>
              <a:ext cx="1762030" cy="40014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162445" y="3396334"/>
              <a:ext cx="2571436" cy="4064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00" b="1" dirty="0">
                  <a:solidFill>
                    <a:srgbClr val="FFFFFF"/>
                  </a:solidFill>
                  <a:latin typeface="印品黑体"/>
                  <a:ea typeface="Microsoft YaHei"/>
                  <a:cs typeface="印品黑体"/>
                </a:rPr>
                <a:t>盈利能力持续性分析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2163204" y="3801999"/>
            <a:ext cx="16569918" cy="1383697"/>
            <a:chOff x="2163204" y="3801999"/>
            <a:chExt cx="16569918" cy="1383697"/>
          </a:xfrm>
        </p:grpSpPr>
        <p:sp>
          <p:nvSpPr>
            <p:cNvPr id="32" name="Rectangle 32"/>
            <p:cNvSpPr/>
            <p:nvPr/>
          </p:nvSpPr>
          <p:spPr>
            <a:xfrm>
              <a:off x="9309926" y="3801999"/>
              <a:ext cx="2276570" cy="1383697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163204" y="3847724"/>
              <a:ext cx="16569918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dirty="0">
                  <a:solidFill>
                    <a:srgbClr val="FFFFFF"/>
                  </a:solidFill>
                  <a:latin typeface="印品黑体"/>
                  <a:ea typeface="Microsoft YaHei"/>
                  <a:cs typeface="印品黑体"/>
                </a:rPr>
                <a:t>持续性分析聚焦于企业盈利在时间维度上的稳定性与可预测性。核心指标包括营业利润波动率（标准差/均值），以及利润同比增长的连续性周期数。高持续性意味着企业的竞争优势具备长期复利效应。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0124789" y="2611184"/>
            <a:ext cx="646938" cy="642461"/>
            <a:chOff x="10124789" y="2611184"/>
            <a:chExt cx="646938" cy="642461"/>
          </a:xfrm>
        </p:grpSpPr>
        <p:sp>
          <p:nvSpPr>
            <p:cNvPr id="35" name="Freeform 35"/>
            <p:cNvSpPr/>
            <p:nvPr/>
          </p:nvSpPr>
          <p:spPr>
            <a:xfrm>
              <a:off x="10124789" y="2611184"/>
              <a:ext cx="646938" cy="642461"/>
            </a:xfrm>
            <a:custGeom>
              <a:avLst/>
              <a:gdLst/>
              <a:ahLst/>
              <a:cxnLst/>
              <a:rect l="l" t="t" r="r" b="b"/>
              <a:pathLst>
                <a:path w="646938" h="642461">
                  <a:moveTo>
                    <a:pt x="509207" y="594455"/>
                  </a:moveTo>
                  <a:lnTo>
                    <a:pt x="336994" y="525875"/>
                  </a:lnTo>
                  <a:cubicBezTo>
                    <a:pt x="332804" y="524256"/>
                    <a:pt x="328612" y="523685"/>
                    <a:pt x="324421" y="523494"/>
                  </a:cubicBezTo>
                  <a:lnTo>
                    <a:pt x="589597" y="114110"/>
                  </a:lnTo>
                  <a:cubicBezTo>
                    <a:pt x="589597" y="114110"/>
                    <a:pt x="509207" y="594455"/>
                    <a:pt x="509207" y="594455"/>
                  </a:cubicBezTo>
                  <a:close/>
                  <a:moveTo>
                    <a:pt x="206121" y="483108"/>
                  </a:moveTo>
                  <a:cubicBezTo>
                    <a:pt x="206121" y="483108"/>
                    <a:pt x="206026" y="483013"/>
                    <a:pt x="206026" y="483013"/>
                  </a:cubicBezTo>
                  <a:lnTo>
                    <a:pt x="587978" y="75914"/>
                  </a:lnTo>
                  <a:lnTo>
                    <a:pt x="262318" y="581025"/>
                  </a:lnTo>
                  <a:cubicBezTo>
                    <a:pt x="262318" y="581025"/>
                    <a:pt x="206121" y="483108"/>
                    <a:pt x="206121" y="483108"/>
                  </a:cubicBezTo>
                  <a:close/>
                  <a:moveTo>
                    <a:pt x="63913" y="417100"/>
                  </a:moveTo>
                  <a:lnTo>
                    <a:pt x="531209" y="106966"/>
                  </a:lnTo>
                  <a:lnTo>
                    <a:pt x="191452" y="469011"/>
                  </a:lnTo>
                  <a:cubicBezTo>
                    <a:pt x="189738" y="467963"/>
                    <a:pt x="188119" y="466535"/>
                    <a:pt x="186118" y="465773"/>
                  </a:cubicBezTo>
                  <a:cubicBezTo>
                    <a:pt x="186118" y="465773"/>
                    <a:pt x="63913" y="417100"/>
                    <a:pt x="63913" y="417100"/>
                  </a:cubicBezTo>
                  <a:close/>
                  <a:moveTo>
                    <a:pt x="636746" y="3239"/>
                  </a:moveTo>
                  <a:cubicBezTo>
                    <a:pt x="633412" y="1048"/>
                    <a:pt x="629602" y="0"/>
                    <a:pt x="625793" y="0"/>
                  </a:cubicBezTo>
                  <a:cubicBezTo>
                    <a:pt x="621887" y="0"/>
                    <a:pt x="617982" y="1048"/>
                    <a:pt x="614553" y="3334"/>
                  </a:cubicBezTo>
                  <a:lnTo>
                    <a:pt x="9715" y="404908"/>
                  </a:lnTo>
                  <a:cubicBezTo>
                    <a:pt x="3429" y="409004"/>
                    <a:pt x="0" y="416242"/>
                    <a:pt x="857" y="423672"/>
                  </a:cubicBezTo>
                  <a:cubicBezTo>
                    <a:pt x="1524" y="431101"/>
                    <a:pt x="6382" y="437483"/>
                    <a:pt x="13335" y="440246"/>
                  </a:cubicBezTo>
                  <a:lnTo>
                    <a:pt x="171164" y="503110"/>
                  </a:lnTo>
                  <a:lnTo>
                    <a:pt x="245269" y="632270"/>
                  </a:lnTo>
                  <a:cubicBezTo>
                    <a:pt x="248888" y="638556"/>
                    <a:pt x="255460" y="642366"/>
                    <a:pt x="262604" y="642461"/>
                  </a:cubicBezTo>
                  <a:lnTo>
                    <a:pt x="262795" y="642461"/>
                  </a:lnTo>
                  <a:cubicBezTo>
                    <a:pt x="269938" y="642461"/>
                    <a:pt x="276511" y="638651"/>
                    <a:pt x="280130" y="632651"/>
                  </a:cubicBezTo>
                  <a:lnTo>
                    <a:pt x="322040" y="563118"/>
                  </a:lnTo>
                  <a:lnTo>
                    <a:pt x="517493" y="641033"/>
                  </a:lnTo>
                  <a:cubicBezTo>
                    <a:pt x="519874" y="641985"/>
                    <a:pt x="522446" y="642461"/>
                    <a:pt x="524923" y="642461"/>
                  </a:cubicBezTo>
                  <a:cubicBezTo>
                    <a:pt x="528352" y="642461"/>
                    <a:pt x="531781" y="641604"/>
                    <a:pt x="534829" y="639794"/>
                  </a:cubicBezTo>
                  <a:cubicBezTo>
                    <a:pt x="540163" y="636842"/>
                    <a:pt x="543877" y="631698"/>
                    <a:pt x="544830" y="625602"/>
                  </a:cubicBezTo>
                  <a:lnTo>
                    <a:pt x="645700" y="23336"/>
                  </a:lnTo>
                  <a:cubicBezTo>
                    <a:pt x="646938" y="15526"/>
                    <a:pt x="643509" y="7525"/>
                    <a:pt x="636746" y="323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7224617" y="2630614"/>
            <a:ext cx="644176" cy="603504"/>
            <a:chOff x="7224617" y="2630614"/>
            <a:chExt cx="644176" cy="603504"/>
          </a:xfrm>
        </p:grpSpPr>
        <p:sp>
          <p:nvSpPr>
            <p:cNvPr id="37" name="Freeform 37"/>
            <p:cNvSpPr/>
            <p:nvPr/>
          </p:nvSpPr>
          <p:spPr>
            <a:xfrm>
              <a:off x="7305961" y="2710910"/>
              <a:ext cx="481489" cy="322040"/>
            </a:xfrm>
            <a:custGeom>
              <a:avLst/>
              <a:gdLst/>
              <a:ahLst/>
              <a:cxnLst/>
              <a:rect l="l" t="t" r="r" b="b"/>
              <a:pathLst>
                <a:path w="481489" h="322040">
                  <a:moveTo>
                    <a:pt x="461391" y="302038"/>
                  </a:moveTo>
                  <a:lnTo>
                    <a:pt x="20003" y="302038"/>
                  </a:lnTo>
                  <a:lnTo>
                    <a:pt x="20003" y="20098"/>
                  </a:lnTo>
                  <a:lnTo>
                    <a:pt x="461391" y="20098"/>
                  </a:lnTo>
                  <a:cubicBezTo>
                    <a:pt x="461391" y="20098"/>
                    <a:pt x="461391" y="302038"/>
                    <a:pt x="461391" y="302038"/>
                  </a:cubicBezTo>
                  <a:close/>
                  <a:moveTo>
                    <a:pt x="461391" y="0"/>
                  </a:moveTo>
                  <a:lnTo>
                    <a:pt x="20003" y="95"/>
                  </a:lnTo>
                  <a:cubicBezTo>
                    <a:pt x="8954" y="95"/>
                    <a:pt x="0" y="8953"/>
                    <a:pt x="0" y="20098"/>
                  </a:cubicBezTo>
                  <a:lnTo>
                    <a:pt x="0" y="301942"/>
                  </a:lnTo>
                  <a:cubicBezTo>
                    <a:pt x="0" y="313087"/>
                    <a:pt x="8954" y="322040"/>
                    <a:pt x="20003" y="322040"/>
                  </a:cubicBezTo>
                  <a:lnTo>
                    <a:pt x="461391" y="322040"/>
                  </a:lnTo>
                  <a:cubicBezTo>
                    <a:pt x="472535" y="322040"/>
                    <a:pt x="481489" y="313087"/>
                    <a:pt x="481489" y="301942"/>
                  </a:cubicBezTo>
                  <a:lnTo>
                    <a:pt x="481489" y="20098"/>
                  </a:lnTo>
                  <a:cubicBezTo>
                    <a:pt x="481489" y="8953"/>
                    <a:pt x="472535" y="0"/>
                    <a:pt x="461391" y="0"/>
                  </a:cubicBezTo>
                </a:path>
              </a:pathLst>
            </a:custGeom>
            <a:noFill/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7224617" y="2630614"/>
              <a:ext cx="644176" cy="603504"/>
            </a:xfrm>
            <a:custGeom>
              <a:avLst/>
              <a:gdLst/>
              <a:ahLst/>
              <a:cxnLst/>
              <a:rect l="l" t="t" r="r" b="b"/>
              <a:pathLst>
                <a:path w="644176" h="603504">
                  <a:moveTo>
                    <a:pt x="603885" y="462820"/>
                  </a:moveTo>
                  <a:cubicBezTo>
                    <a:pt x="603885" y="473869"/>
                    <a:pt x="594836" y="482917"/>
                    <a:pt x="583787" y="482917"/>
                  </a:cubicBezTo>
                  <a:lnTo>
                    <a:pt x="402622" y="482917"/>
                  </a:lnTo>
                  <a:lnTo>
                    <a:pt x="241554" y="482917"/>
                  </a:lnTo>
                  <a:lnTo>
                    <a:pt x="60389" y="482917"/>
                  </a:lnTo>
                  <a:cubicBezTo>
                    <a:pt x="49244" y="482917"/>
                    <a:pt x="40196" y="473869"/>
                    <a:pt x="40196" y="462820"/>
                  </a:cubicBezTo>
                  <a:lnTo>
                    <a:pt x="40196" y="60388"/>
                  </a:lnTo>
                  <a:cubicBezTo>
                    <a:pt x="40196" y="49244"/>
                    <a:pt x="49244" y="40291"/>
                    <a:pt x="60389" y="40291"/>
                  </a:cubicBezTo>
                  <a:lnTo>
                    <a:pt x="583787" y="40291"/>
                  </a:lnTo>
                  <a:cubicBezTo>
                    <a:pt x="594836" y="40291"/>
                    <a:pt x="603885" y="49244"/>
                    <a:pt x="603885" y="60388"/>
                  </a:cubicBezTo>
                  <a:cubicBezTo>
                    <a:pt x="603885" y="60388"/>
                    <a:pt x="603885" y="462820"/>
                    <a:pt x="603885" y="462820"/>
                  </a:cubicBezTo>
                  <a:close/>
                  <a:moveTo>
                    <a:pt x="583787" y="0"/>
                  </a:moveTo>
                  <a:lnTo>
                    <a:pt x="60389" y="0"/>
                  </a:lnTo>
                  <a:cubicBezTo>
                    <a:pt x="26956" y="0"/>
                    <a:pt x="0" y="27051"/>
                    <a:pt x="0" y="60388"/>
                  </a:cubicBezTo>
                  <a:lnTo>
                    <a:pt x="0" y="462820"/>
                  </a:lnTo>
                  <a:cubicBezTo>
                    <a:pt x="0" y="496062"/>
                    <a:pt x="26956" y="523018"/>
                    <a:pt x="60198" y="523113"/>
                  </a:cubicBezTo>
                  <a:lnTo>
                    <a:pt x="261652" y="523113"/>
                  </a:lnTo>
                  <a:lnTo>
                    <a:pt x="261652" y="547592"/>
                  </a:lnTo>
                  <a:lnTo>
                    <a:pt x="136017" y="563880"/>
                  </a:lnTo>
                  <a:cubicBezTo>
                    <a:pt x="127064" y="566166"/>
                    <a:pt x="120777" y="574167"/>
                    <a:pt x="120777" y="583406"/>
                  </a:cubicBezTo>
                  <a:cubicBezTo>
                    <a:pt x="120777" y="594551"/>
                    <a:pt x="129731" y="603504"/>
                    <a:pt x="140875" y="603504"/>
                  </a:cubicBezTo>
                  <a:lnTo>
                    <a:pt x="503301" y="603504"/>
                  </a:lnTo>
                  <a:cubicBezTo>
                    <a:pt x="514445" y="603504"/>
                    <a:pt x="523399" y="594551"/>
                    <a:pt x="523399" y="583406"/>
                  </a:cubicBezTo>
                  <a:cubicBezTo>
                    <a:pt x="523399" y="574167"/>
                    <a:pt x="517112" y="566166"/>
                    <a:pt x="508159" y="563880"/>
                  </a:cubicBezTo>
                  <a:lnTo>
                    <a:pt x="382429" y="547592"/>
                  </a:lnTo>
                  <a:lnTo>
                    <a:pt x="382429" y="523113"/>
                  </a:lnTo>
                  <a:lnTo>
                    <a:pt x="583978" y="523113"/>
                  </a:lnTo>
                  <a:cubicBezTo>
                    <a:pt x="617220" y="523018"/>
                    <a:pt x="644176" y="496062"/>
                    <a:pt x="644176" y="462820"/>
                  </a:cubicBezTo>
                  <a:lnTo>
                    <a:pt x="644176" y="60388"/>
                  </a:lnTo>
                  <a:cubicBezTo>
                    <a:pt x="644176" y="27051"/>
                    <a:pt x="617125" y="0"/>
                    <a:pt x="583787" y="0"/>
                  </a:cubicBezTo>
                </a:path>
              </a:pathLst>
            </a:custGeom>
            <a:noFill/>
            <a:ln>
              <a:noFill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4322636" y="2611184"/>
            <a:ext cx="663131" cy="642461"/>
            <a:chOff x="4322636" y="2611184"/>
            <a:chExt cx="663131" cy="642461"/>
          </a:xfrm>
        </p:grpSpPr>
        <p:sp>
          <p:nvSpPr>
            <p:cNvPr id="40" name="Freeform 40"/>
            <p:cNvSpPr/>
            <p:nvPr/>
          </p:nvSpPr>
          <p:spPr>
            <a:xfrm>
              <a:off x="4322636" y="2611184"/>
              <a:ext cx="663131" cy="642461"/>
            </a:xfrm>
            <a:custGeom>
              <a:avLst/>
              <a:gdLst/>
              <a:ahLst/>
              <a:cxnLst/>
              <a:rect l="l" t="t" r="r" b="b"/>
              <a:pathLst>
                <a:path w="663131" h="642461">
                  <a:moveTo>
                    <a:pt x="578548" y="236315"/>
                  </a:moveTo>
                  <a:lnTo>
                    <a:pt x="544640" y="270415"/>
                  </a:lnTo>
                  <a:cubicBezTo>
                    <a:pt x="544640" y="265843"/>
                    <a:pt x="545116" y="261557"/>
                    <a:pt x="544735" y="256889"/>
                  </a:cubicBezTo>
                  <a:cubicBezTo>
                    <a:pt x="541210" y="218027"/>
                    <a:pt x="523018" y="180499"/>
                    <a:pt x="493490" y="151067"/>
                  </a:cubicBezTo>
                  <a:cubicBezTo>
                    <a:pt x="460629" y="118396"/>
                    <a:pt x="417005" y="99632"/>
                    <a:pt x="373951" y="99536"/>
                  </a:cubicBezTo>
                  <a:lnTo>
                    <a:pt x="407289" y="66008"/>
                  </a:lnTo>
                  <a:cubicBezTo>
                    <a:pt x="424053" y="49340"/>
                    <a:pt x="447389" y="40196"/>
                    <a:pt x="472821" y="40196"/>
                  </a:cubicBezTo>
                  <a:cubicBezTo>
                    <a:pt x="505301" y="40196"/>
                    <a:pt x="538639" y="54769"/>
                    <a:pt x="564261" y="80201"/>
                  </a:cubicBezTo>
                  <a:cubicBezTo>
                    <a:pt x="588359" y="104108"/>
                    <a:pt x="602647" y="133826"/>
                    <a:pt x="604742" y="163925"/>
                  </a:cubicBezTo>
                  <a:cubicBezTo>
                    <a:pt x="606647" y="191929"/>
                    <a:pt x="597313" y="217646"/>
                    <a:pt x="578548" y="236315"/>
                  </a:cubicBezTo>
                  <a:moveTo>
                    <a:pt x="178880" y="574929"/>
                  </a:moveTo>
                  <a:cubicBezTo>
                    <a:pt x="178499" y="547973"/>
                    <a:pt x="167449" y="519970"/>
                    <a:pt x="145256" y="497872"/>
                  </a:cubicBezTo>
                  <a:cubicBezTo>
                    <a:pt x="124206" y="476917"/>
                    <a:pt x="96679" y="464820"/>
                    <a:pt x="69342" y="463772"/>
                  </a:cubicBezTo>
                  <a:lnTo>
                    <a:pt x="89344" y="391287"/>
                  </a:lnTo>
                  <a:cubicBezTo>
                    <a:pt x="90869" y="386525"/>
                    <a:pt x="93726" y="381762"/>
                    <a:pt x="97250" y="377571"/>
                  </a:cubicBezTo>
                  <a:cubicBezTo>
                    <a:pt x="137731" y="348806"/>
                    <a:pt x="199930" y="357283"/>
                    <a:pt x="243173" y="400336"/>
                  </a:cubicBezTo>
                  <a:cubicBezTo>
                    <a:pt x="288893" y="445865"/>
                    <a:pt x="295942" y="512445"/>
                    <a:pt x="260699" y="552260"/>
                  </a:cubicBezTo>
                  <a:cubicBezTo>
                    <a:pt x="258413" y="553498"/>
                    <a:pt x="256032" y="554641"/>
                    <a:pt x="253460" y="555403"/>
                  </a:cubicBezTo>
                  <a:cubicBezTo>
                    <a:pt x="253460" y="555403"/>
                    <a:pt x="178880" y="574929"/>
                    <a:pt x="178880" y="574929"/>
                  </a:cubicBezTo>
                  <a:close/>
                  <a:moveTo>
                    <a:pt x="84010" y="599694"/>
                  </a:moveTo>
                  <a:cubicBezTo>
                    <a:pt x="81820" y="600266"/>
                    <a:pt x="74962" y="601980"/>
                    <a:pt x="70390" y="602266"/>
                  </a:cubicBezTo>
                  <a:cubicBezTo>
                    <a:pt x="53721" y="602075"/>
                    <a:pt x="40291" y="588645"/>
                    <a:pt x="40291" y="572167"/>
                  </a:cubicBezTo>
                  <a:cubicBezTo>
                    <a:pt x="40576" y="568833"/>
                    <a:pt x="41910" y="563023"/>
                    <a:pt x="42386" y="560832"/>
                  </a:cubicBezTo>
                  <a:lnTo>
                    <a:pt x="63627" y="484346"/>
                  </a:lnTo>
                  <a:cubicBezTo>
                    <a:pt x="86678" y="483680"/>
                    <a:pt x="111442" y="492633"/>
                    <a:pt x="130969" y="512064"/>
                  </a:cubicBezTo>
                  <a:cubicBezTo>
                    <a:pt x="150781" y="531781"/>
                    <a:pt x="160115" y="556927"/>
                    <a:pt x="159067" y="580073"/>
                  </a:cubicBezTo>
                  <a:cubicBezTo>
                    <a:pt x="159067" y="580073"/>
                    <a:pt x="84010" y="599694"/>
                    <a:pt x="84010" y="599694"/>
                  </a:cubicBezTo>
                  <a:close/>
                  <a:moveTo>
                    <a:pt x="211455" y="332518"/>
                  </a:moveTo>
                  <a:cubicBezTo>
                    <a:pt x="192786" y="324993"/>
                    <a:pt x="173165" y="320707"/>
                    <a:pt x="153638" y="320421"/>
                  </a:cubicBezTo>
                  <a:lnTo>
                    <a:pt x="308896" y="164687"/>
                  </a:lnTo>
                  <a:cubicBezTo>
                    <a:pt x="332708" y="141542"/>
                    <a:pt x="367379" y="134969"/>
                    <a:pt x="401479" y="143351"/>
                  </a:cubicBezTo>
                  <a:cubicBezTo>
                    <a:pt x="401479" y="143351"/>
                    <a:pt x="211455" y="332518"/>
                    <a:pt x="211455" y="332518"/>
                  </a:cubicBezTo>
                  <a:close/>
                  <a:moveTo>
                    <a:pt x="298323" y="406622"/>
                  </a:moveTo>
                  <a:cubicBezTo>
                    <a:pt x="290798" y="394335"/>
                    <a:pt x="282226" y="382429"/>
                    <a:pt x="271653" y="371951"/>
                  </a:cubicBezTo>
                  <a:cubicBezTo>
                    <a:pt x="259366" y="359664"/>
                    <a:pt x="245174" y="350044"/>
                    <a:pt x="230505" y="341948"/>
                  </a:cubicBezTo>
                  <a:lnTo>
                    <a:pt x="422624" y="150590"/>
                  </a:lnTo>
                  <a:cubicBezTo>
                    <a:pt x="437769" y="157258"/>
                    <a:pt x="452152" y="166783"/>
                    <a:pt x="464915" y="179546"/>
                  </a:cubicBezTo>
                  <a:cubicBezTo>
                    <a:pt x="475869" y="190310"/>
                    <a:pt x="484251" y="202406"/>
                    <a:pt x="490823" y="214979"/>
                  </a:cubicBezTo>
                  <a:cubicBezTo>
                    <a:pt x="490823" y="214979"/>
                    <a:pt x="298323" y="406622"/>
                    <a:pt x="298323" y="406622"/>
                  </a:cubicBezTo>
                  <a:close/>
                  <a:moveTo>
                    <a:pt x="322898" y="477679"/>
                  </a:moveTo>
                  <a:cubicBezTo>
                    <a:pt x="321278" y="459581"/>
                    <a:pt x="316135" y="441769"/>
                    <a:pt x="308419" y="425006"/>
                  </a:cubicBezTo>
                  <a:lnTo>
                    <a:pt x="499110" y="235172"/>
                  </a:lnTo>
                  <a:cubicBezTo>
                    <a:pt x="510731" y="271844"/>
                    <a:pt x="504730" y="310229"/>
                    <a:pt x="479203" y="335661"/>
                  </a:cubicBezTo>
                  <a:cubicBezTo>
                    <a:pt x="479012" y="335851"/>
                    <a:pt x="478822" y="335851"/>
                    <a:pt x="478726" y="336042"/>
                  </a:cubicBezTo>
                  <a:lnTo>
                    <a:pt x="478917" y="336328"/>
                  </a:lnTo>
                  <a:lnTo>
                    <a:pt x="323088" y="492728"/>
                  </a:lnTo>
                  <a:cubicBezTo>
                    <a:pt x="323183" y="487680"/>
                    <a:pt x="323374" y="482822"/>
                    <a:pt x="322898" y="477679"/>
                  </a:cubicBezTo>
                  <a:moveTo>
                    <a:pt x="592741" y="51816"/>
                  </a:moveTo>
                  <a:cubicBezTo>
                    <a:pt x="559594" y="18860"/>
                    <a:pt x="515874" y="0"/>
                    <a:pt x="472821" y="0"/>
                  </a:cubicBezTo>
                  <a:cubicBezTo>
                    <a:pt x="436531" y="0"/>
                    <a:pt x="403098" y="13430"/>
                    <a:pt x="378714" y="37624"/>
                  </a:cubicBezTo>
                  <a:lnTo>
                    <a:pt x="280511" y="136112"/>
                  </a:lnTo>
                  <a:cubicBezTo>
                    <a:pt x="280226" y="136398"/>
                    <a:pt x="279940" y="136589"/>
                    <a:pt x="279654" y="136874"/>
                  </a:cubicBezTo>
                  <a:cubicBezTo>
                    <a:pt x="279464" y="137065"/>
                    <a:pt x="279368" y="137255"/>
                    <a:pt x="279178" y="137446"/>
                  </a:cubicBezTo>
                  <a:lnTo>
                    <a:pt x="279273" y="137446"/>
                  </a:lnTo>
                  <a:lnTo>
                    <a:pt x="70961" y="346424"/>
                  </a:lnTo>
                  <a:cubicBezTo>
                    <a:pt x="61341" y="355949"/>
                    <a:pt x="54388" y="367760"/>
                    <a:pt x="50483" y="380619"/>
                  </a:cubicBezTo>
                  <a:lnTo>
                    <a:pt x="3143" y="551498"/>
                  </a:lnTo>
                  <a:cubicBezTo>
                    <a:pt x="3048" y="551974"/>
                    <a:pt x="0" y="565309"/>
                    <a:pt x="0" y="572167"/>
                  </a:cubicBezTo>
                  <a:cubicBezTo>
                    <a:pt x="0" y="610933"/>
                    <a:pt x="31623" y="642461"/>
                    <a:pt x="70676" y="642461"/>
                  </a:cubicBezTo>
                  <a:cubicBezTo>
                    <a:pt x="78391" y="642461"/>
                    <a:pt x="93440" y="638746"/>
                    <a:pt x="94012" y="638651"/>
                  </a:cubicBezTo>
                  <a:lnTo>
                    <a:pt x="264890" y="593979"/>
                  </a:lnTo>
                  <a:cubicBezTo>
                    <a:pt x="277940" y="590074"/>
                    <a:pt x="289751" y="583121"/>
                    <a:pt x="299276" y="573500"/>
                  </a:cubicBezTo>
                  <a:lnTo>
                    <a:pt x="607123" y="264700"/>
                  </a:lnTo>
                  <a:cubicBezTo>
                    <a:pt x="663131" y="208883"/>
                    <a:pt x="656749" y="115443"/>
                    <a:pt x="592741" y="518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1522857" y="2610326"/>
            <a:ext cx="441960" cy="644176"/>
            <a:chOff x="1522857" y="2610326"/>
            <a:chExt cx="441960" cy="644176"/>
          </a:xfrm>
        </p:grpSpPr>
        <p:sp>
          <p:nvSpPr>
            <p:cNvPr id="42" name="Freeform 42"/>
            <p:cNvSpPr/>
            <p:nvPr/>
          </p:nvSpPr>
          <p:spPr>
            <a:xfrm>
              <a:off x="1522857" y="2610326"/>
              <a:ext cx="441960" cy="644176"/>
            </a:xfrm>
            <a:custGeom>
              <a:avLst/>
              <a:gdLst/>
              <a:ahLst/>
              <a:cxnLst/>
              <a:rect l="l" t="t" r="r" b="b"/>
              <a:pathLst>
                <a:path w="441960" h="644176">
                  <a:moveTo>
                    <a:pt x="314801" y="422719"/>
                  </a:moveTo>
                  <a:lnTo>
                    <a:pt x="127349" y="422719"/>
                  </a:lnTo>
                  <a:cubicBezTo>
                    <a:pt x="117348" y="401002"/>
                    <a:pt x="105347" y="379190"/>
                    <a:pt x="93535" y="357949"/>
                  </a:cubicBezTo>
                  <a:cubicBezTo>
                    <a:pt x="67247" y="310991"/>
                    <a:pt x="40195" y="262318"/>
                    <a:pt x="40195" y="221456"/>
                  </a:cubicBezTo>
                  <a:cubicBezTo>
                    <a:pt x="40195" y="121539"/>
                    <a:pt x="121253" y="40195"/>
                    <a:pt x="220980" y="40195"/>
                  </a:cubicBezTo>
                  <a:cubicBezTo>
                    <a:pt x="320707" y="40195"/>
                    <a:pt x="401765" y="121539"/>
                    <a:pt x="401765" y="221456"/>
                  </a:cubicBezTo>
                  <a:cubicBezTo>
                    <a:pt x="401765" y="262033"/>
                    <a:pt x="374714" y="310896"/>
                    <a:pt x="348425" y="358235"/>
                  </a:cubicBezTo>
                  <a:cubicBezTo>
                    <a:pt x="336709" y="379476"/>
                    <a:pt x="324802" y="401098"/>
                    <a:pt x="314801" y="422719"/>
                  </a:cubicBezTo>
                  <a:moveTo>
                    <a:pt x="220980" y="603885"/>
                  </a:moveTo>
                  <a:cubicBezTo>
                    <a:pt x="200597" y="603885"/>
                    <a:pt x="191262" y="601599"/>
                    <a:pt x="180880" y="578739"/>
                  </a:cubicBezTo>
                  <a:lnTo>
                    <a:pt x="266033" y="568071"/>
                  </a:lnTo>
                  <a:cubicBezTo>
                    <a:pt x="253651" y="601408"/>
                    <a:pt x="244697" y="603885"/>
                    <a:pt x="220980" y="603885"/>
                  </a:cubicBezTo>
                  <a:moveTo>
                    <a:pt x="155448" y="501396"/>
                  </a:moveTo>
                  <a:cubicBezTo>
                    <a:pt x="151828" y="489299"/>
                    <a:pt x="147638" y="476536"/>
                    <a:pt x="143066" y="463010"/>
                  </a:cubicBezTo>
                  <a:lnTo>
                    <a:pt x="299085" y="463010"/>
                  </a:lnTo>
                  <a:cubicBezTo>
                    <a:pt x="296609" y="470249"/>
                    <a:pt x="294132" y="477488"/>
                    <a:pt x="292036" y="484346"/>
                  </a:cubicBezTo>
                  <a:cubicBezTo>
                    <a:pt x="292036" y="484346"/>
                    <a:pt x="155448" y="501396"/>
                    <a:pt x="155448" y="501396"/>
                  </a:cubicBezTo>
                  <a:close/>
                  <a:moveTo>
                    <a:pt x="273082" y="547021"/>
                  </a:moveTo>
                  <a:lnTo>
                    <a:pt x="173450" y="559594"/>
                  </a:lnTo>
                  <a:cubicBezTo>
                    <a:pt x="169926" y="549211"/>
                    <a:pt x="166116" y="537115"/>
                    <a:pt x="161449" y="521399"/>
                  </a:cubicBezTo>
                  <a:cubicBezTo>
                    <a:pt x="161353" y="521208"/>
                    <a:pt x="161353" y="521017"/>
                    <a:pt x="161258" y="520827"/>
                  </a:cubicBezTo>
                  <a:lnTo>
                    <a:pt x="285560" y="505206"/>
                  </a:lnTo>
                  <a:cubicBezTo>
                    <a:pt x="283845" y="511207"/>
                    <a:pt x="281940" y="517398"/>
                    <a:pt x="280321" y="523018"/>
                  </a:cubicBezTo>
                  <a:cubicBezTo>
                    <a:pt x="277654" y="532067"/>
                    <a:pt x="275273" y="539972"/>
                    <a:pt x="273082" y="547021"/>
                  </a:cubicBezTo>
                  <a:moveTo>
                    <a:pt x="220980" y="0"/>
                  </a:moveTo>
                  <a:cubicBezTo>
                    <a:pt x="98965" y="0"/>
                    <a:pt x="0" y="99155"/>
                    <a:pt x="0" y="221456"/>
                  </a:cubicBezTo>
                  <a:cubicBezTo>
                    <a:pt x="0" y="302609"/>
                    <a:pt x="74105" y="388525"/>
                    <a:pt x="101060" y="464153"/>
                  </a:cubicBezTo>
                  <a:cubicBezTo>
                    <a:pt x="141351" y="576739"/>
                    <a:pt x="136874" y="644176"/>
                    <a:pt x="220980" y="644176"/>
                  </a:cubicBezTo>
                  <a:cubicBezTo>
                    <a:pt x="306324" y="644176"/>
                    <a:pt x="300609" y="577024"/>
                    <a:pt x="340900" y="464534"/>
                  </a:cubicBezTo>
                  <a:cubicBezTo>
                    <a:pt x="367951" y="388906"/>
                    <a:pt x="441960" y="301942"/>
                    <a:pt x="441960" y="221456"/>
                  </a:cubicBezTo>
                  <a:cubicBezTo>
                    <a:pt x="441960" y="99155"/>
                    <a:pt x="342995" y="0"/>
                    <a:pt x="220980" y="0"/>
                  </a:cubicBezTo>
                </a:path>
              </a:pathLst>
            </a:custGeom>
            <a:noFill/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1622965" y="2711482"/>
              <a:ext cx="130778" cy="130778"/>
            </a:xfrm>
            <a:custGeom>
              <a:avLst/>
              <a:gdLst/>
              <a:ahLst/>
              <a:cxnLst/>
              <a:rect l="l" t="t" r="r" b="b"/>
              <a:pathLst>
                <a:path w="130778" h="130778">
                  <a:moveTo>
                    <a:pt x="120682" y="0"/>
                  </a:moveTo>
                  <a:cubicBezTo>
                    <a:pt x="54102" y="0"/>
                    <a:pt x="0" y="54102"/>
                    <a:pt x="0" y="120682"/>
                  </a:cubicBezTo>
                  <a:cubicBezTo>
                    <a:pt x="0" y="126301"/>
                    <a:pt x="4477" y="130778"/>
                    <a:pt x="10001" y="130778"/>
                  </a:cubicBezTo>
                  <a:cubicBezTo>
                    <a:pt x="15621" y="130778"/>
                    <a:pt x="20098" y="126301"/>
                    <a:pt x="20098" y="120682"/>
                  </a:cubicBezTo>
                  <a:cubicBezTo>
                    <a:pt x="20098" y="65246"/>
                    <a:pt x="65246" y="20098"/>
                    <a:pt x="120682" y="20098"/>
                  </a:cubicBezTo>
                  <a:cubicBezTo>
                    <a:pt x="126302" y="20098"/>
                    <a:pt x="130778" y="15621"/>
                    <a:pt x="130778" y="10001"/>
                  </a:cubicBezTo>
                  <a:cubicBezTo>
                    <a:pt x="130778" y="4477"/>
                    <a:pt x="126302" y="0"/>
                    <a:pt x="120682" y="0"/>
                  </a:cubicBezTo>
                </a:path>
              </a:pathLst>
            </a:custGeom>
            <a:noFill/>
            <a:ln>
              <a:noFill/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7244620" y="63056"/>
            <a:ext cx="4840414" cy="885158"/>
            <a:chOff x="7244620" y="63056"/>
            <a:chExt cx="4840414" cy="885158"/>
          </a:xfrm>
        </p:grpSpPr>
        <p:pic>
          <p:nvPicPr>
            <p:cNvPr id="45" name="Image 4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44620" y="63056"/>
              <a:ext cx="4840414" cy="885158"/>
            </a:xfrm>
            <a:prstGeom prst="rect">
              <a:avLst/>
            </a:prstGeom>
          </p:spPr>
        </p:pic>
      </p:grpSp>
      <p:grpSp>
        <p:nvGrpSpPr>
          <p:cNvPr id="49" name="Group 49"/>
          <p:cNvGrpSpPr/>
          <p:nvPr/>
        </p:nvGrpSpPr>
        <p:grpSpPr>
          <a:xfrm>
            <a:off x="1010031" y="600742"/>
            <a:ext cx="2249329" cy="452176"/>
            <a:chOff x="1010031" y="600742"/>
            <a:chExt cx="2249329" cy="452176"/>
          </a:xfrm>
        </p:grpSpPr>
        <p:sp>
          <p:nvSpPr>
            <p:cNvPr id="47" name="Rectangle 47"/>
            <p:cNvSpPr/>
            <p:nvPr/>
          </p:nvSpPr>
          <p:spPr>
            <a:xfrm>
              <a:off x="1010031" y="600742"/>
              <a:ext cx="2249329" cy="40014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076068" y="646467"/>
              <a:ext cx="2131326" cy="4064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00" dirty="0">
                  <a:solidFill>
                    <a:srgbClr val="768394"/>
                  </a:solidFill>
                  <a:latin typeface="印品黑体"/>
                  <a:ea typeface="Microsoft YaHei"/>
                  <a:cs typeface="印品黑体"/>
                </a:rPr>
                <a:t>P06 · 盈利持续性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-57340" y="361759"/>
            <a:ext cx="1119377" cy="742664"/>
            <a:chOff x="-57340" y="361759"/>
            <a:chExt cx="1119377" cy="742664"/>
          </a:xfrm>
        </p:grpSpPr>
        <p:sp>
          <p:nvSpPr>
            <p:cNvPr id="50" name="Freeform 50"/>
            <p:cNvSpPr/>
            <p:nvPr/>
          </p:nvSpPr>
          <p:spPr>
            <a:xfrm>
              <a:off x="285845" y="388239"/>
              <a:ext cx="776192" cy="672275"/>
            </a:xfrm>
            <a:custGeom>
              <a:avLst/>
              <a:gdLst/>
              <a:ahLst/>
              <a:cxnLst/>
              <a:rect l="l" t="t" r="r" b="b"/>
              <a:pathLst>
                <a:path w="776192" h="672275">
                  <a:moveTo>
                    <a:pt x="317754" y="54197"/>
                  </a:moveTo>
                  <a:cubicBezTo>
                    <a:pt x="30861" y="550736"/>
                    <a:pt x="30861" y="550736"/>
                    <a:pt x="30861" y="550736"/>
                  </a:cubicBezTo>
                  <a:cubicBezTo>
                    <a:pt x="0" y="604933"/>
                    <a:pt x="39052" y="672275"/>
                    <a:pt x="101441" y="672275"/>
                  </a:cubicBezTo>
                  <a:cubicBezTo>
                    <a:pt x="674656" y="672275"/>
                    <a:pt x="674656" y="672275"/>
                    <a:pt x="674656" y="672275"/>
                  </a:cubicBezTo>
                  <a:cubicBezTo>
                    <a:pt x="737711" y="672275"/>
                    <a:pt x="776192" y="604933"/>
                    <a:pt x="745331" y="550736"/>
                  </a:cubicBezTo>
                  <a:cubicBezTo>
                    <a:pt x="458438" y="54197"/>
                    <a:pt x="458438" y="54197"/>
                    <a:pt x="458438" y="54197"/>
                  </a:cubicBezTo>
                  <a:cubicBezTo>
                    <a:pt x="427482" y="0"/>
                    <a:pt x="349282" y="0"/>
                    <a:pt x="317754" y="54197"/>
                  </a:cubicBezTo>
                  <a:close/>
                </a:path>
              </a:pathLst>
            </a:custGeom>
            <a:solidFill>
              <a:srgbClr val="6C92C0">
                <a:alpha val="68000"/>
              </a:srgbClr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-57340" y="361759"/>
              <a:ext cx="857345" cy="742664"/>
            </a:xfrm>
            <a:custGeom>
              <a:avLst/>
              <a:gdLst/>
              <a:ahLst/>
              <a:cxnLst/>
              <a:rect l="l" t="t" r="r" b="b"/>
              <a:pathLst>
                <a:path w="857345" h="742664">
                  <a:moveTo>
                    <a:pt x="350996" y="59912"/>
                  </a:moveTo>
                  <a:cubicBezTo>
                    <a:pt x="34100" y="608362"/>
                    <a:pt x="34100" y="608362"/>
                    <a:pt x="34100" y="608362"/>
                  </a:cubicBezTo>
                  <a:cubicBezTo>
                    <a:pt x="0" y="668179"/>
                    <a:pt x="43148" y="742664"/>
                    <a:pt x="112109" y="742664"/>
                  </a:cubicBezTo>
                  <a:cubicBezTo>
                    <a:pt x="745236" y="742664"/>
                    <a:pt x="745236" y="742664"/>
                    <a:pt x="745236" y="742664"/>
                  </a:cubicBezTo>
                  <a:cubicBezTo>
                    <a:pt x="814864" y="742664"/>
                    <a:pt x="857345" y="668179"/>
                    <a:pt x="823246" y="608362"/>
                  </a:cubicBezTo>
                  <a:cubicBezTo>
                    <a:pt x="506349" y="59912"/>
                    <a:pt x="506349" y="59912"/>
                    <a:pt x="506349" y="59912"/>
                  </a:cubicBezTo>
                  <a:cubicBezTo>
                    <a:pt x="472154" y="0"/>
                    <a:pt x="385858" y="0"/>
                    <a:pt x="350996" y="59912"/>
                  </a:cubicBezTo>
                  <a:close/>
                </a:path>
              </a:pathLst>
            </a:custGeom>
            <a:solidFill>
              <a:srgbClr val="48A2A0">
                <a:alpha val="680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3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4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9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800"/>
                            </p:stCondLst>
                            <p:childTnLst>
                              <p:par>
                                <p:cTn id="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1700"/>
                            </p:stCondLst>
                            <p:childTnLst>
                              <p:par>
                                <p:cTn id="5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9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2600"/>
                            </p:stCondLst>
                            <p:childTnLst>
                              <p:par>
                                <p:cTn id="6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63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5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4400"/>
                            </p:stCondLst>
                            <p:childTnLst>
                              <p:par>
                                <p:cTn id="6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300"/>
                            </p:stCondLst>
                            <p:childTnLst>
                              <p:par>
                                <p:cTn id="7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5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6200"/>
                            </p:stCondLst>
                            <p:childTnLst>
                              <p:par>
                                <p:cTn id="7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9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  <p:bldP spid="10" grpId="0"/>
      <p:bldP spid="13" grpId="0"/>
      <p:bldP spid="16" grpId="0"/>
      <p:bldP spid="19" grpId="0"/>
      <p:bldP spid="22" grpId="0"/>
      <p:bldP spid="25" grpId="0"/>
      <p:bldP spid="28" grpId="0"/>
      <p:bldP spid="31" grpId="0"/>
      <p:bldP spid="34" grpId="0"/>
      <p:bldP spid="36" grpId="0"/>
      <p:bldP spid="39" grpId="0"/>
      <p:bldP spid="41" grpId="0"/>
      <p:bldP spid="44" grpId="0"/>
      <p:bldP spid="46" grpId="0"/>
      <p:bldP spid="49" grpId="0"/>
      <p:bldP spid="5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1493615" y="1892998"/>
            <a:ext cx="1780984" cy="1780984"/>
            <a:chOff x="1493615" y="1892998"/>
            <a:chExt cx="1780984" cy="1780984"/>
          </a:xfrm>
        </p:grpSpPr>
        <p:sp>
          <p:nvSpPr>
            <p:cNvPr id="3" name="Ellipse 3"/>
            <p:cNvSpPr/>
            <p:nvPr/>
          </p:nvSpPr>
          <p:spPr>
            <a:xfrm>
              <a:off x="1493615" y="1892998"/>
              <a:ext cx="1780984" cy="1780984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1379258" y="1806130"/>
            <a:ext cx="1985267" cy="2009191"/>
            <a:chOff x="1379258" y="1806130"/>
            <a:chExt cx="1985267" cy="2009191"/>
          </a:xfrm>
        </p:grpSpPr>
        <p:sp>
          <p:nvSpPr>
            <p:cNvPr id="5" name="Freeform 5"/>
            <p:cNvSpPr/>
            <p:nvPr/>
          </p:nvSpPr>
          <p:spPr>
            <a:xfrm>
              <a:off x="1379258" y="1806130"/>
              <a:ext cx="1985267" cy="2009191"/>
            </a:xfrm>
            <a:custGeom>
              <a:avLst/>
              <a:gdLst/>
              <a:ahLst/>
              <a:cxnLst/>
              <a:rect l="l" t="t" r="r" b="b"/>
              <a:pathLst>
                <a:path w="1985267" h="2009191">
                  <a:moveTo>
                    <a:pt x="1985258" y="977361"/>
                  </a:moveTo>
                  <a:cubicBezTo>
                    <a:pt x="1985267" y="1368962"/>
                    <a:pt x="1746133" y="1720856"/>
                    <a:pt x="1382036" y="1865024"/>
                  </a:cubicBezTo>
                  <a:cubicBezTo>
                    <a:pt x="1017939" y="2009191"/>
                    <a:pt x="602725" y="1916392"/>
                    <a:pt x="334647" y="1630936"/>
                  </a:cubicBezTo>
                  <a:cubicBezTo>
                    <a:pt x="66569" y="1345479"/>
                    <a:pt x="0" y="925261"/>
                    <a:pt x="166724" y="570924"/>
                  </a:cubicBezTo>
                  <a:cubicBezTo>
                    <a:pt x="333448" y="216588"/>
                    <a:pt x="699651" y="0"/>
                    <a:pt x="1090479" y="24575"/>
                  </a:cubicBezTo>
                  <a:lnTo>
                    <a:pt x="1030567" y="977361"/>
                  </a:lnTo>
                  <a:close/>
                </a:path>
              </a:pathLst>
            </a:custGeom>
            <a:solidFill>
              <a:srgbClr val="48A2A0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794986" y="2197894"/>
            <a:ext cx="1171194" cy="1171194"/>
            <a:chOff x="1794986" y="2197894"/>
            <a:chExt cx="1171194" cy="1171194"/>
          </a:xfrm>
        </p:grpSpPr>
        <p:sp>
          <p:nvSpPr>
            <p:cNvPr id="7" name="Ellipse 7"/>
            <p:cNvSpPr/>
            <p:nvPr/>
          </p:nvSpPr>
          <p:spPr>
            <a:xfrm>
              <a:off x="1794986" y="2197894"/>
              <a:ext cx="1171194" cy="1171194"/>
            </a:xfrm>
            <a:prstGeom prst="ellipse">
              <a:avLst/>
            </a:prstGeom>
            <a:solidFill>
              <a:srgbClr val="FFFFFF"/>
            </a:solidFill>
            <a:ln w="126997">
              <a:solidFill>
                <a:srgbClr val="B3DDDC">
                  <a:alpha val="50000"/>
                </a:srgbClr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574006" y="3923919"/>
            <a:ext cx="1671638" cy="9525"/>
            <a:chOff x="1574006" y="3923919"/>
            <a:chExt cx="1671638" cy="9525"/>
          </a:xfrm>
        </p:grpSpPr>
        <p:sp>
          <p:nvSpPr>
            <p:cNvPr id="9" name="Line 9"/>
            <p:cNvSpPr/>
            <p:nvPr/>
          </p:nvSpPr>
          <p:spPr>
            <a:xfrm>
              <a:off x="1574006" y="3923919"/>
              <a:ext cx="1671638" cy="9525"/>
            </a:xfrm>
            <a:custGeom>
              <a:avLst/>
              <a:gdLst/>
              <a:ahLst/>
              <a:cxnLst/>
              <a:rect l="l" t="t" r="r" b="b"/>
              <a:pathLst>
                <a:path w="1671638" h="9525">
                  <a:moveTo>
                    <a:pt x="1671638" y="0"/>
                  </a:moveTo>
                  <a:lnTo>
                    <a:pt x="0" y="0"/>
                  </a:lnTo>
                </a:path>
              </a:pathLst>
            </a:custGeom>
            <a:noFill/>
            <a:ln w="12697" cap="flat">
              <a:solidFill>
                <a:srgbClr val="D8D8D8"/>
              </a:solidFill>
              <a:miter lim="800000"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3951065" y="1892998"/>
            <a:ext cx="1780984" cy="1780984"/>
            <a:chOff x="3951065" y="1892998"/>
            <a:chExt cx="1780984" cy="1780984"/>
          </a:xfrm>
        </p:grpSpPr>
        <p:sp>
          <p:nvSpPr>
            <p:cNvPr id="11" name="Ellipse 11"/>
            <p:cNvSpPr/>
            <p:nvPr/>
          </p:nvSpPr>
          <p:spPr>
            <a:xfrm>
              <a:off x="3951065" y="1892998"/>
              <a:ext cx="1780984" cy="1780984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3856942" y="1845754"/>
            <a:ext cx="1965048" cy="1922248"/>
            <a:chOff x="3856942" y="1845754"/>
            <a:chExt cx="1965048" cy="1922248"/>
          </a:xfrm>
        </p:grpSpPr>
        <p:sp>
          <p:nvSpPr>
            <p:cNvPr id="13" name="Freeform 13"/>
            <p:cNvSpPr/>
            <p:nvPr/>
          </p:nvSpPr>
          <p:spPr>
            <a:xfrm>
              <a:off x="3856942" y="1845754"/>
              <a:ext cx="1965048" cy="1922248"/>
            </a:xfrm>
            <a:custGeom>
              <a:avLst/>
              <a:gdLst/>
              <a:ahLst/>
              <a:cxnLst/>
              <a:rect l="l" t="t" r="r" b="b"/>
              <a:pathLst>
                <a:path w="1965048" h="1922248">
                  <a:moveTo>
                    <a:pt x="1965024" y="937736"/>
                  </a:moveTo>
                  <a:cubicBezTo>
                    <a:pt x="1965048" y="1441729"/>
                    <a:pt x="1573302" y="1858928"/>
                    <a:pt x="1070305" y="1890588"/>
                  </a:cubicBezTo>
                  <a:cubicBezTo>
                    <a:pt x="567308" y="1922248"/>
                    <a:pt x="126342" y="1557463"/>
                    <a:pt x="63171" y="1057445"/>
                  </a:cubicBezTo>
                  <a:cubicBezTo>
                    <a:pt x="0" y="557427"/>
                    <a:pt x="336387" y="94433"/>
                    <a:pt x="831453" y="0"/>
                  </a:cubicBezTo>
                  <a:lnTo>
                    <a:pt x="1010333" y="937736"/>
                  </a:lnTo>
                  <a:close/>
                </a:path>
              </a:pathLst>
            </a:custGeom>
            <a:solidFill>
              <a:srgbClr val="6C92C0"/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4252436" y="2197894"/>
            <a:ext cx="1171194" cy="1171194"/>
            <a:chOff x="4252436" y="2197894"/>
            <a:chExt cx="1171194" cy="1171194"/>
          </a:xfrm>
        </p:grpSpPr>
        <p:sp>
          <p:nvSpPr>
            <p:cNvPr id="15" name="Ellipse 15"/>
            <p:cNvSpPr/>
            <p:nvPr/>
          </p:nvSpPr>
          <p:spPr>
            <a:xfrm>
              <a:off x="4252436" y="2197894"/>
              <a:ext cx="1171194" cy="1171194"/>
            </a:xfrm>
            <a:prstGeom prst="ellipse">
              <a:avLst/>
            </a:prstGeom>
            <a:solidFill>
              <a:srgbClr val="FFFFFF"/>
            </a:solidFill>
            <a:ln w="126997">
              <a:solidFill>
                <a:srgbClr val="D9D9D9">
                  <a:alpha val="50000"/>
                </a:srgbClr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4031456" y="3923919"/>
            <a:ext cx="1671638" cy="9525"/>
            <a:chOff x="4031456" y="3923919"/>
            <a:chExt cx="1671638" cy="9525"/>
          </a:xfrm>
        </p:grpSpPr>
        <p:sp>
          <p:nvSpPr>
            <p:cNvPr id="17" name="Line 17"/>
            <p:cNvSpPr/>
            <p:nvPr/>
          </p:nvSpPr>
          <p:spPr>
            <a:xfrm>
              <a:off x="4031456" y="3923919"/>
              <a:ext cx="1671638" cy="9525"/>
            </a:xfrm>
            <a:custGeom>
              <a:avLst/>
              <a:gdLst/>
              <a:ahLst/>
              <a:cxnLst/>
              <a:rect l="l" t="t" r="r" b="b"/>
              <a:pathLst>
                <a:path w="1671638" h="9525">
                  <a:moveTo>
                    <a:pt x="1671638" y="0"/>
                  </a:moveTo>
                  <a:lnTo>
                    <a:pt x="0" y="0"/>
                  </a:lnTo>
                </a:path>
              </a:pathLst>
            </a:custGeom>
            <a:noFill/>
            <a:ln w="12697" cap="flat">
              <a:solidFill>
                <a:srgbClr val="D8D8D8"/>
              </a:solidFill>
              <a:miter lim="800000"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6408515" y="1892998"/>
            <a:ext cx="1780984" cy="1780984"/>
            <a:chOff x="6408515" y="1892998"/>
            <a:chExt cx="1780984" cy="1780984"/>
          </a:xfrm>
        </p:grpSpPr>
        <p:sp>
          <p:nvSpPr>
            <p:cNvPr id="19" name="Ellipse 19"/>
            <p:cNvSpPr/>
            <p:nvPr/>
          </p:nvSpPr>
          <p:spPr>
            <a:xfrm>
              <a:off x="6408515" y="1892998"/>
              <a:ext cx="1780984" cy="1780984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6309249" y="1747770"/>
            <a:ext cx="1970189" cy="2071550"/>
            <a:chOff x="6309249" y="1747770"/>
            <a:chExt cx="1970189" cy="2071550"/>
          </a:xfrm>
        </p:grpSpPr>
        <p:sp>
          <p:nvSpPr>
            <p:cNvPr id="21" name="Freeform 21"/>
            <p:cNvSpPr/>
            <p:nvPr/>
          </p:nvSpPr>
          <p:spPr>
            <a:xfrm>
              <a:off x="6309249" y="1747770"/>
              <a:ext cx="1970189" cy="2071550"/>
            </a:xfrm>
            <a:custGeom>
              <a:avLst/>
              <a:gdLst/>
              <a:ahLst/>
              <a:cxnLst/>
              <a:rect l="l" t="t" r="r" b="b"/>
              <a:pathLst>
                <a:path w="1970189" h="2071550">
                  <a:moveTo>
                    <a:pt x="1970167" y="1035721"/>
                  </a:moveTo>
                  <a:cubicBezTo>
                    <a:pt x="1970189" y="1449320"/>
                    <a:pt x="1703885" y="1815895"/>
                    <a:pt x="1310535" y="1943722"/>
                  </a:cubicBezTo>
                  <a:cubicBezTo>
                    <a:pt x="917185" y="2071550"/>
                    <a:pt x="486260" y="1931555"/>
                    <a:pt x="243138" y="1596956"/>
                  </a:cubicBezTo>
                  <a:cubicBezTo>
                    <a:pt x="17" y="1262357"/>
                    <a:pt x="0" y="809262"/>
                    <a:pt x="243096" y="474645"/>
                  </a:cubicBezTo>
                  <a:cubicBezTo>
                    <a:pt x="486192" y="140028"/>
                    <a:pt x="917106" y="0"/>
                    <a:pt x="1310466" y="127798"/>
                  </a:cubicBezTo>
                  <a:lnTo>
                    <a:pt x="1015476" y="1035721"/>
                  </a:lnTo>
                  <a:close/>
                </a:path>
              </a:pathLst>
            </a:custGeom>
            <a:solidFill>
              <a:srgbClr val="48A2A0"/>
            </a:solidFill>
            <a:ln w="9525">
              <a:solidFill>
                <a:srgbClr val="8CCCCB"/>
              </a:solidFill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6709886" y="2197894"/>
            <a:ext cx="1171194" cy="1171194"/>
            <a:chOff x="6709886" y="2197894"/>
            <a:chExt cx="1171194" cy="1171194"/>
          </a:xfrm>
        </p:grpSpPr>
        <p:sp>
          <p:nvSpPr>
            <p:cNvPr id="23" name="Ellipse 23"/>
            <p:cNvSpPr/>
            <p:nvPr/>
          </p:nvSpPr>
          <p:spPr>
            <a:xfrm>
              <a:off x="6709886" y="2197894"/>
              <a:ext cx="1171194" cy="1171194"/>
            </a:xfrm>
            <a:prstGeom prst="ellipse">
              <a:avLst/>
            </a:prstGeom>
            <a:solidFill>
              <a:srgbClr val="FFFFFF"/>
            </a:solidFill>
            <a:ln w="126997">
              <a:solidFill>
                <a:srgbClr val="B3DDDC">
                  <a:alpha val="50000"/>
                </a:srgbClr>
              </a:solidFill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6488906" y="3923919"/>
            <a:ext cx="1671638" cy="9525"/>
            <a:chOff x="6488906" y="3923919"/>
            <a:chExt cx="1671638" cy="9525"/>
          </a:xfrm>
        </p:grpSpPr>
        <p:sp>
          <p:nvSpPr>
            <p:cNvPr id="25" name="Line 25"/>
            <p:cNvSpPr/>
            <p:nvPr/>
          </p:nvSpPr>
          <p:spPr>
            <a:xfrm>
              <a:off x="6488906" y="3923919"/>
              <a:ext cx="1671638" cy="9525"/>
            </a:xfrm>
            <a:custGeom>
              <a:avLst/>
              <a:gdLst/>
              <a:ahLst/>
              <a:cxnLst/>
              <a:rect l="l" t="t" r="r" b="b"/>
              <a:pathLst>
                <a:path w="1671638" h="9525">
                  <a:moveTo>
                    <a:pt x="1671638" y="0"/>
                  </a:moveTo>
                  <a:lnTo>
                    <a:pt x="0" y="0"/>
                  </a:lnTo>
                </a:path>
              </a:pathLst>
            </a:custGeom>
            <a:noFill/>
            <a:ln w="12697" cap="flat">
              <a:solidFill>
                <a:srgbClr val="D8D8D8"/>
              </a:solidFill>
              <a:miter lim="800000"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8865965" y="1892998"/>
            <a:ext cx="1780984" cy="1780984"/>
            <a:chOff x="8865965" y="1892998"/>
            <a:chExt cx="1780984" cy="1780984"/>
          </a:xfrm>
        </p:grpSpPr>
        <p:sp>
          <p:nvSpPr>
            <p:cNvPr id="27" name="Ellipse 27"/>
            <p:cNvSpPr/>
            <p:nvPr/>
          </p:nvSpPr>
          <p:spPr>
            <a:xfrm>
              <a:off x="8865965" y="1892998"/>
              <a:ext cx="1780984" cy="1780984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9782175" y="2783491"/>
            <a:ext cx="954691" cy="459867"/>
            <a:chOff x="9782175" y="2783491"/>
            <a:chExt cx="954691" cy="459867"/>
          </a:xfrm>
        </p:grpSpPr>
        <p:sp>
          <p:nvSpPr>
            <p:cNvPr id="29" name="Freeform 29"/>
            <p:cNvSpPr/>
            <p:nvPr/>
          </p:nvSpPr>
          <p:spPr>
            <a:xfrm>
              <a:off x="9782175" y="2783491"/>
              <a:ext cx="954691" cy="459867"/>
            </a:xfrm>
            <a:custGeom>
              <a:avLst/>
              <a:gdLst/>
              <a:ahLst/>
              <a:cxnLst/>
              <a:rect l="l" t="t" r="r" b="b"/>
              <a:pathLst>
                <a:path w="954691" h="459867">
                  <a:moveTo>
                    <a:pt x="954691" y="0"/>
                  </a:moveTo>
                  <a:cubicBezTo>
                    <a:pt x="954674" y="160789"/>
                    <a:pt x="914048" y="318970"/>
                    <a:pt x="836581" y="45986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C92C0"/>
            </a:solidFill>
            <a:ln>
              <a:noFill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9167336" y="2197894"/>
            <a:ext cx="1171194" cy="1171194"/>
            <a:chOff x="9167336" y="2197894"/>
            <a:chExt cx="1171194" cy="1171194"/>
          </a:xfrm>
        </p:grpSpPr>
        <p:sp>
          <p:nvSpPr>
            <p:cNvPr id="31" name="Ellipse 31"/>
            <p:cNvSpPr/>
            <p:nvPr/>
          </p:nvSpPr>
          <p:spPr>
            <a:xfrm>
              <a:off x="9167336" y="2197894"/>
              <a:ext cx="1171194" cy="1171194"/>
            </a:xfrm>
            <a:prstGeom prst="ellipse">
              <a:avLst/>
            </a:prstGeom>
            <a:solidFill>
              <a:srgbClr val="FFFFFF"/>
            </a:solidFill>
            <a:ln w="126997">
              <a:solidFill>
                <a:srgbClr val="D9D9D9">
                  <a:alpha val="50000"/>
                </a:srgbClr>
              </a:solidFill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8946356" y="3923919"/>
            <a:ext cx="1671638" cy="9525"/>
            <a:chOff x="8946356" y="3923919"/>
            <a:chExt cx="1671638" cy="9525"/>
          </a:xfrm>
        </p:grpSpPr>
        <p:sp>
          <p:nvSpPr>
            <p:cNvPr id="33" name="Line 33"/>
            <p:cNvSpPr/>
            <p:nvPr/>
          </p:nvSpPr>
          <p:spPr>
            <a:xfrm>
              <a:off x="8946356" y="3923919"/>
              <a:ext cx="1671638" cy="9525"/>
            </a:xfrm>
            <a:custGeom>
              <a:avLst/>
              <a:gdLst/>
              <a:ahLst/>
              <a:cxnLst/>
              <a:rect l="l" t="t" r="r" b="b"/>
              <a:pathLst>
                <a:path w="1671638" h="9525">
                  <a:moveTo>
                    <a:pt x="1671638" y="0"/>
                  </a:moveTo>
                  <a:lnTo>
                    <a:pt x="0" y="0"/>
                  </a:lnTo>
                </a:path>
              </a:pathLst>
            </a:custGeom>
            <a:noFill/>
            <a:ln w="12697" cap="flat">
              <a:solidFill>
                <a:srgbClr val="D8D8D8"/>
              </a:solidFill>
              <a:miter lim="800000"/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-3204990" y="4109847"/>
            <a:ext cx="11229630" cy="667536"/>
            <a:chOff x="-3204990" y="4109847"/>
            <a:chExt cx="11229630" cy="667536"/>
          </a:xfrm>
        </p:grpSpPr>
        <p:grpSp>
          <p:nvGrpSpPr>
            <p:cNvPr id="37" name="Group 37"/>
            <p:cNvGrpSpPr/>
            <p:nvPr/>
          </p:nvGrpSpPr>
          <p:grpSpPr>
            <a:xfrm>
              <a:off x="729858" y="4109847"/>
              <a:ext cx="3359934" cy="411480"/>
              <a:chOff x="729858" y="4109847"/>
              <a:chExt cx="3359934" cy="41148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1574006" y="4109847"/>
                <a:ext cx="1671542" cy="410908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729858" y="4155567"/>
                <a:ext cx="3359934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404040"/>
                    </a:solidFill>
                    <a:latin typeface="印品黑体"/>
                    <a:ea typeface="Microsoft YaHei"/>
                    <a:cs typeface="印品黑体"/>
                  </a:rPr>
                  <a:t>杜邦分析：ROE 驱动因素拆解</a:t>
                </a:r>
              </a:p>
            </p:txBody>
          </p:sp>
        </p:grpSp>
        <p:sp>
          <p:nvSpPr>
            <p:cNvPr id="38" name="TextBox 38"/>
            <p:cNvSpPr txBox="1"/>
            <p:nvPr/>
          </p:nvSpPr>
          <p:spPr>
            <a:xfrm>
              <a:off x="-3204990" y="4492852"/>
              <a:ext cx="11229630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dirty="0">
                  <a:solidFill>
                    <a:srgbClr val="404040"/>
                  </a:solidFill>
                  <a:latin typeface="印品黑体"/>
                  <a:ea typeface="Microsoft YaHei"/>
                  <a:cs typeface="印品黑体"/>
                </a:rPr>
                <a:t>杜邦分析法将净资产收益率(ROE)分解为销售净利率、总资产周转率和权益乘数三个驱动因子，用于诊断企业盈利能力变化的内在原因。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-769638" y="4109847"/>
            <a:ext cx="11229630" cy="1784794"/>
            <a:chOff x="-769638" y="4109847"/>
            <a:chExt cx="11229630" cy="1784794"/>
          </a:xfrm>
        </p:grpSpPr>
        <p:grpSp>
          <p:nvGrpSpPr>
            <p:cNvPr id="42" name="Group 42"/>
            <p:cNvGrpSpPr/>
            <p:nvPr/>
          </p:nvGrpSpPr>
          <p:grpSpPr>
            <a:xfrm>
              <a:off x="3158066" y="4109847"/>
              <a:ext cx="3359934" cy="411480"/>
              <a:chOff x="3158066" y="4109847"/>
              <a:chExt cx="3359934" cy="41148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4002310" y="4109847"/>
                <a:ext cx="1671542" cy="410908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3158066" y="4155567"/>
                <a:ext cx="3359934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404040"/>
                    </a:solidFill>
                    <a:latin typeface="印品黑体"/>
                    <a:ea typeface="Microsoft YaHei"/>
                    <a:cs typeface="印品黑体"/>
                  </a:rPr>
                  <a:t>杜邦分析：ROE 驱动因素拆解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-769638" y="4475321"/>
              <a:ext cx="11229630" cy="1419320"/>
              <a:chOff x="-769638" y="4475321"/>
              <a:chExt cx="11229630" cy="1419320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3890582" y="4475321"/>
                <a:ext cx="1909286" cy="141932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-769638" y="4521046"/>
                <a:ext cx="11229630" cy="2845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400" dirty="0">
                    <a:solidFill>
                      <a:srgbClr val="404040"/>
                    </a:solidFill>
                    <a:latin typeface="印品黑体"/>
                    <a:ea typeface="Microsoft YaHei"/>
                    <a:cs typeface="印品黑体"/>
                  </a:rPr>
                  <a:t>杜邦分析法将净资产收益率(ROE)分解为销售净利率、总资产周转率和权益乘数三个驱动因子，用于诊断企业盈利能力变化的内在原因。</a:t>
                </a:r>
              </a:p>
            </p:txBody>
          </p:sp>
        </p:grpSp>
      </p:grpSp>
      <p:grpSp>
        <p:nvGrpSpPr>
          <p:cNvPr id="53" name="Group 53"/>
          <p:cNvGrpSpPr/>
          <p:nvPr/>
        </p:nvGrpSpPr>
        <p:grpSpPr>
          <a:xfrm>
            <a:off x="1651522" y="4109847"/>
            <a:ext cx="11229630" cy="1768125"/>
            <a:chOff x="1651522" y="4109847"/>
            <a:chExt cx="11229630" cy="1768125"/>
          </a:xfrm>
        </p:grpSpPr>
        <p:grpSp>
          <p:nvGrpSpPr>
            <p:cNvPr id="49" name="Group 49"/>
            <p:cNvGrpSpPr/>
            <p:nvPr/>
          </p:nvGrpSpPr>
          <p:grpSpPr>
            <a:xfrm>
              <a:off x="5586370" y="4109847"/>
              <a:ext cx="3359934" cy="411480"/>
              <a:chOff x="5586370" y="4109847"/>
              <a:chExt cx="3359934" cy="411480"/>
            </a:xfrm>
          </p:grpSpPr>
          <p:sp>
            <p:nvSpPr>
              <p:cNvPr id="47" name="Rectangle 47"/>
              <p:cNvSpPr/>
              <p:nvPr/>
            </p:nvSpPr>
            <p:spPr>
              <a:xfrm>
                <a:off x="6430518" y="4109847"/>
                <a:ext cx="1671542" cy="410908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5586370" y="4155567"/>
                <a:ext cx="3359934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404040"/>
                    </a:solidFill>
                    <a:latin typeface="印品黑体"/>
                    <a:ea typeface="Microsoft YaHei"/>
                    <a:cs typeface="印品黑体"/>
                  </a:rPr>
                  <a:t>杜邦分析：ROE 驱动因素拆解</a:t>
                </a: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1651522" y="4458652"/>
              <a:ext cx="11229630" cy="1419320"/>
              <a:chOff x="1651522" y="4458652"/>
              <a:chExt cx="11229630" cy="141932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6311646" y="4458652"/>
                <a:ext cx="1909286" cy="141932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1651522" y="4504377"/>
                <a:ext cx="11229630" cy="2845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400" dirty="0">
                    <a:solidFill>
                      <a:srgbClr val="404040"/>
                    </a:solidFill>
                    <a:latin typeface="印品黑体"/>
                    <a:ea typeface="Microsoft YaHei"/>
                    <a:cs typeface="印品黑体"/>
                  </a:rPr>
                  <a:t>杜邦分析法将净资产收益率(ROE)分解为销售净利率、总资产周转率和权益乘数三个驱动因子，用于诊断企业盈利能力变化的内在原因。</a:t>
                </a:r>
              </a:p>
            </p:txBody>
          </p:sp>
        </p:grpSp>
      </p:grpSp>
      <p:grpSp>
        <p:nvGrpSpPr>
          <p:cNvPr id="60" name="Group 60"/>
          <p:cNvGrpSpPr/>
          <p:nvPr/>
        </p:nvGrpSpPr>
        <p:grpSpPr>
          <a:xfrm>
            <a:off x="4205746" y="4109847"/>
            <a:ext cx="11229630" cy="1768125"/>
            <a:chOff x="4205746" y="4109847"/>
            <a:chExt cx="11229630" cy="1768125"/>
          </a:xfrm>
        </p:grpSpPr>
        <p:grpSp>
          <p:nvGrpSpPr>
            <p:cNvPr id="56" name="Group 56"/>
            <p:cNvGrpSpPr/>
            <p:nvPr/>
          </p:nvGrpSpPr>
          <p:grpSpPr>
            <a:xfrm>
              <a:off x="8140594" y="4109847"/>
              <a:ext cx="3359934" cy="411480"/>
              <a:chOff x="8140594" y="4109847"/>
              <a:chExt cx="3359934" cy="411480"/>
            </a:xfrm>
          </p:grpSpPr>
          <p:sp>
            <p:nvSpPr>
              <p:cNvPr id="54" name="Rectangle 54"/>
              <p:cNvSpPr/>
              <p:nvPr/>
            </p:nvSpPr>
            <p:spPr>
              <a:xfrm>
                <a:off x="8984837" y="4109847"/>
                <a:ext cx="1671542" cy="410908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8140594" y="4155567"/>
                <a:ext cx="3359934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404040"/>
                    </a:solidFill>
                    <a:latin typeface="印品黑体"/>
                    <a:ea typeface="Microsoft YaHei"/>
                    <a:cs typeface="印品黑体"/>
                  </a:rPr>
                  <a:t>杜邦分析：ROE 驱动因素拆解</a:t>
                </a:r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>
              <a:off x="4205746" y="4458652"/>
              <a:ext cx="11229630" cy="1419320"/>
              <a:chOff x="4205746" y="4458652"/>
              <a:chExt cx="11229630" cy="1419320"/>
            </a:xfrm>
          </p:grpSpPr>
          <p:sp>
            <p:nvSpPr>
              <p:cNvPr id="57" name="Rectangle 57"/>
              <p:cNvSpPr/>
              <p:nvPr/>
            </p:nvSpPr>
            <p:spPr>
              <a:xfrm>
                <a:off x="8865965" y="4458652"/>
                <a:ext cx="1909286" cy="141932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4205746" y="4504377"/>
                <a:ext cx="11229630" cy="2845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400" dirty="0">
                    <a:solidFill>
                      <a:srgbClr val="404040"/>
                    </a:solidFill>
                    <a:latin typeface="印品黑体"/>
                    <a:ea typeface="Microsoft YaHei"/>
                    <a:cs typeface="印品黑体"/>
                  </a:rPr>
                  <a:t>杜邦分析法将净资产收益率(ROE)分解为销售净利率、总资产周转率和权益乘数三个驱动因子，用于诊断企业盈利能力变化的内在原因。</a:t>
                </a:r>
              </a:p>
            </p:txBody>
          </p:sp>
        </p:grpSp>
      </p:grpSp>
      <p:grpSp>
        <p:nvGrpSpPr>
          <p:cNvPr id="63" name="Group 63"/>
          <p:cNvGrpSpPr/>
          <p:nvPr/>
        </p:nvGrpSpPr>
        <p:grpSpPr>
          <a:xfrm>
            <a:off x="2037778" y="2592229"/>
            <a:ext cx="744093" cy="452176"/>
            <a:chOff x="2037778" y="2592229"/>
            <a:chExt cx="744093" cy="452176"/>
          </a:xfrm>
        </p:grpSpPr>
        <p:sp>
          <p:nvSpPr>
            <p:cNvPr id="61" name="Rectangle 61"/>
            <p:cNvSpPr/>
            <p:nvPr/>
          </p:nvSpPr>
          <p:spPr>
            <a:xfrm>
              <a:off x="2037778" y="2592229"/>
              <a:ext cx="744093" cy="40014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2103815" y="2637954"/>
              <a:ext cx="490916" cy="4064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00" dirty="0">
                  <a:solidFill>
                    <a:srgbClr val="000000"/>
                  </a:solidFill>
                  <a:latin typeface="印品黑体"/>
                  <a:ea typeface="Microsoft YaHei"/>
                  <a:cs typeface="印品黑体"/>
                </a:rPr>
                <a:t>63%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4495228" y="2592229"/>
            <a:ext cx="744093" cy="452176"/>
            <a:chOff x="4495228" y="2592229"/>
            <a:chExt cx="744093" cy="452176"/>
          </a:xfrm>
        </p:grpSpPr>
        <p:sp>
          <p:nvSpPr>
            <p:cNvPr id="64" name="Rectangle 64"/>
            <p:cNvSpPr/>
            <p:nvPr/>
          </p:nvSpPr>
          <p:spPr>
            <a:xfrm>
              <a:off x="4495228" y="2592229"/>
              <a:ext cx="744093" cy="40014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4561265" y="2637954"/>
              <a:ext cx="490916" cy="4064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00" dirty="0">
                  <a:solidFill>
                    <a:srgbClr val="000000"/>
                  </a:solidFill>
                  <a:latin typeface="印品黑体"/>
                  <a:ea typeface="Microsoft YaHei"/>
                  <a:cs typeface="印品黑体"/>
                </a:rPr>
                <a:t>42%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6952679" y="2592229"/>
            <a:ext cx="744093" cy="452176"/>
            <a:chOff x="6952679" y="2592229"/>
            <a:chExt cx="744093" cy="452176"/>
          </a:xfrm>
        </p:grpSpPr>
        <p:sp>
          <p:nvSpPr>
            <p:cNvPr id="67" name="Rectangle 67"/>
            <p:cNvSpPr/>
            <p:nvPr/>
          </p:nvSpPr>
          <p:spPr>
            <a:xfrm>
              <a:off x="6952679" y="2592229"/>
              <a:ext cx="744093" cy="40014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018715" y="2637954"/>
              <a:ext cx="490916" cy="4064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00" dirty="0">
                  <a:solidFill>
                    <a:srgbClr val="000000"/>
                  </a:solidFill>
                  <a:latin typeface="印品黑体"/>
                  <a:ea typeface="Microsoft YaHei"/>
                  <a:cs typeface="印品黑体"/>
                </a:rPr>
                <a:t>80%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9457658" y="2582418"/>
            <a:ext cx="762190" cy="452176"/>
            <a:chOff x="9457658" y="2582418"/>
            <a:chExt cx="762190" cy="452176"/>
          </a:xfrm>
        </p:grpSpPr>
        <p:sp>
          <p:nvSpPr>
            <p:cNvPr id="70" name="Rectangle 70"/>
            <p:cNvSpPr/>
            <p:nvPr/>
          </p:nvSpPr>
          <p:spPr>
            <a:xfrm>
              <a:off x="9457658" y="2582418"/>
              <a:ext cx="762190" cy="40014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523695" y="2628143"/>
              <a:ext cx="490916" cy="4064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00" dirty="0">
                  <a:solidFill>
                    <a:srgbClr val="000000"/>
                  </a:solidFill>
                  <a:latin typeface="印品黑体"/>
                  <a:ea typeface="Microsoft YaHei"/>
                  <a:cs typeface="印品黑体"/>
                </a:rPr>
                <a:t>88%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7244620" y="63056"/>
            <a:ext cx="4840414" cy="885158"/>
            <a:chOff x="7244620" y="63056"/>
            <a:chExt cx="4840414" cy="885158"/>
          </a:xfrm>
        </p:grpSpPr>
        <p:pic>
          <p:nvPicPr>
            <p:cNvPr id="73" name="Image 7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44620" y="63056"/>
              <a:ext cx="4840414" cy="885158"/>
            </a:xfrm>
            <a:prstGeom prst="rect">
              <a:avLst/>
            </a:prstGeom>
          </p:spPr>
        </p:pic>
      </p:grpSp>
      <p:grpSp>
        <p:nvGrpSpPr>
          <p:cNvPr id="77" name="Group 77"/>
          <p:cNvGrpSpPr/>
          <p:nvPr/>
        </p:nvGrpSpPr>
        <p:grpSpPr>
          <a:xfrm>
            <a:off x="1010031" y="600742"/>
            <a:ext cx="5531530" cy="452176"/>
            <a:chOff x="1010031" y="600742"/>
            <a:chExt cx="5531530" cy="452176"/>
          </a:xfrm>
        </p:grpSpPr>
        <p:sp>
          <p:nvSpPr>
            <p:cNvPr id="75" name="Rectangle 75"/>
            <p:cNvSpPr/>
            <p:nvPr/>
          </p:nvSpPr>
          <p:spPr>
            <a:xfrm>
              <a:off x="1010031" y="600742"/>
              <a:ext cx="2249329" cy="40014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1076068" y="646467"/>
              <a:ext cx="5465493" cy="4064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00" dirty="0">
                  <a:solidFill>
                    <a:srgbClr val="768394"/>
                  </a:solidFill>
                  <a:latin typeface="印品黑体"/>
                  <a:ea typeface="Microsoft YaHei"/>
                  <a:cs typeface="印品黑体"/>
                </a:rPr>
                <a:t>ROE = 销售净利率 × 总资产周转率 × 权益乘数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-57340" y="361759"/>
            <a:ext cx="1119377" cy="742664"/>
            <a:chOff x="-57340" y="361759"/>
            <a:chExt cx="1119377" cy="742664"/>
          </a:xfrm>
        </p:grpSpPr>
        <p:sp>
          <p:nvSpPr>
            <p:cNvPr id="78" name="Freeform 78"/>
            <p:cNvSpPr/>
            <p:nvPr/>
          </p:nvSpPr>
          <p:spPr>
            <a:xfrm>
              <a:off x="285845" y="388239"/>
              <a:ext cx="776192" cy="672275"/>
            </a:xfrm>
            <a:custGeom>
              <a:avLst/>
              <a:gdLst/>
              <a:ahLst/>
              <a:cxnLst/>
              <a:rect l="l" t="t" r="r" b="b"/>
              <a:pathLst>
                <a:path w="776192" h="672275">
                  <a:moveTo>
                    <a:pt x="317754" y="54197"/>
                  </a:moveTo>
                  <a:cubicBezTo>
                    <a:pt x="30861" y="550736"/>
                    <a:pt x="30861" y="550736"/>
                    <a:pt x="30861" y="550736"/>
                  </a:cubicBezTo>
                  <a:cubicBezTo>
                    <a:pt x="0" y="604933"/>
                    <a:pt x="39052" y="672275"/>
                    <a:pt x="101441" y="672275"/>
                  </a:cubicBezTo>
                  <a:cubicBezTo>
                    <a:pt x="674656" y="672275"/>
                    <a:pt x="674656" y="672275"/>
                    <a:pt x="674656" y="672275"/>
                  </a:cubicBezTo>
                  <a:cubicBezTo>
                    <a:pt x="737711" y="672275"/>
                    <a:pt x="776192" y="604933"/>
                    <a:pt x="745331" y="550736"/>
                  </a:cubicBezTo>
                  <a:cubicBezTo>
                    <a:pt x="458438" y="54197"/>
                    <a:pt x="458438" y="54197"/>
                    <a:pt x="458438" y="54197"/>
                  </a:cubicBezTo>
                  <a:cubicBezTo>
                    <a:pt x="427482" y="0"/>
                    <a:pt x="349282" y="0"/>
                    <a:pt x="317754" y="54197"/>
                  </a:cubicBezTo>
                  <a:close/>
                </a:path>
              </a:pathLst>
            </a:custGeom>
            <a:solidFill>
              <a:srgbClr val="6C92C0">
                <a:alpha val="68000"/>
              </a:srgbClr>
            </a:solidFill>
            <a:ln>
              <a:noFill/>
            </a:ln>
          </p:spPr>
        </p:sp>
        <p:sp>
          <p:nvSpPr>
            <p:cNvPr id="79" name="Freeform 79"/>
            <p:cNvSpPr/>
            <p:nvPr/>
          </p:nvSpPr>
          <p:spPr>
            <a:xfrm>
              <a:off x="-57340" y="361759"/>
              <a:ext cx="857345" cy="742664"/>
            </a:xfrm>
            <a:custGeom>
              <a:avLst/>
              <a:gdLst/>
              <a:ahLst/>
              <a:cxnLst/>
              <a:rect l="l" t="t" r="r" b="b"/>
              <a:pathLst>
                <a:path w="857345" h="742664">
                  <a:moveTo>
                    <a:pt x="350996" y="59912"/>
                  </a:moveTo>
                  <a:cubicBezTo>
                    <a:pt x="34100" y="608362"/>
                    <a:pt x="34100" y="608362"/>
                    <a:pt x="34100" y="608362"/>
                  </a:cubicBezTo>
                  <a:cubicBezTo>
                    <a:pt x="0" y="668179"/>
                    <a:pt x="43148" y="742664"/>
                    <a:pt x="112109" y="742664"/>
                  </a:cubicBezTo>
                  <a:cubicBezTo>
                    <a:pt x="745236" y="742664"/>
                    <a:pt x="745236" y="742664"/>
                    <a:pt x="745236" y="742664"/>
                  </a:cubicBezTo>
                  <a:cubicBezTo>
                    <a:pt x="814864" y="742664"/>
                    <a:pt x="857345" y="668179"/>
                    <a:pt x="823246" y="608362"/>
                  </a:cubicBezTo>
                  <a:cubicBezTo>
                    <a:pt x="506349" y="59912"/>
                    <a:pt x="506349" y="59912"/>
                    <a:pt x="506349" y="59912"/>
                  </a:cubicBezTo>
                  <a:cubicBezTo>
                    <a:pt x="472154" y="0"/>
                    <a:pt x="385858" y="0"/>
                    <a:pt x="350996" y="59912"/>
                  </a:cubicBezTo>
                  <a:close/>
                </a:path>
              </a:pathLst>
            </a:custGeom>
            <a:solidFill>
              <a:srgbClr val="48A2A0">
                <a:alpha val="680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900"/>
                            </p:stCondLst>
                            <p:childTnLst>
                              <p:par>
                                <p:cTn id="4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5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8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17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2600"/>
                            </p:stCondLst>
                            <p:childTnLst>
                              <p:par>
                                <p:cTn id="6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3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500"/>
                            </p:stCondLst>
                            <p:childTnLst>
                              <p:par>
                                <p:cTn id="6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6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440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300"/>
                            </p:stCondLst>
                            <p:childTnLst>
                              <p:par>
                                <p:cTn id="7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6200"/>
                            </p:stCondLst>
                            <p:childTnLst>
                              <p:par>
                                <p:cTn id="7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9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7100"/>
                            </p:stCondLst>
                            <p:childTnLst>
                              <p:par>
                                <p:cTn id="8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83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8000"/>
                            </p:stCondLst>
                            <p:childTnLst>
                              <p:par>
                                <p:cTn id="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8900"/>
                            </p:stCondLst>
                            <p:childTnLst>
                              <p:par>
                                <p:cTn id="8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9800"/>
                            </p:stCondLst>
                            <p:childTnLst>
                              <p:par>
                                <p:cTn id="9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5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0700"/>
                            </p:stCondLst>
                            <p:childTnLst>
                              <p:par>
                                <p:cTn id="9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99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21600"/>
                            </p:stCondLst>
                            <p:childTnLst>
                              <p:par>
                                <p:cTn id="10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22500"/>
                            </p:stCondLst>
                            <p:childTnLst>
                              <p:par>
                                <p:cTn id="10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4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23400"/>
                            </p:stCondLst>
                            <p:childTnLst>
                              <p:par>
                                <p:cTn id="10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1" dur="4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  <p:bldP spid="10" grpId="0"/>
      <p:bldP spid="12" grpId="0"/>
      <p:bldP spid="14" grpId="0"/>
      <p:bldP spid="16" grpId="0"/>
      <p:bldP spid="18" grpId="0"/>
      <p:bldP spid="20" grpId="0"/>
      <p:bldP spid="22" grpId="0"/>
      <p:bldP spid="24" grpId="0"/>
      <p:bldP spid="26" grpId="0"/>
      <p:bldP spid="28" grpId="0"/>
      <p:bldP spid="30" grpId="0"/>
      <p:bldP spid="32" grpId="0"/>
      <p:bldP spid="34" grpId="0"/>
      <p:bldP spid="39" grpId="0"/>
      <p:bldP spid="46" grpId="0"/>
      <p:bldP spid="53" grpId="0"/>
      <p:bldP spid="60" grpId="0"/>
      <p:bldP spid="63" grpId="0"/>
      <p:bldP spid="66" grpId="0"/>
      <p:bldP spid="69" grpId="0"/>
      <p:bldP spid="72" grpId="0"/>
      <p:bldP spid="74" grpId="0"/>
      <p:bldP spid="77" grpId="0"/>
      <p:bldP spid="8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grpSp>
        <p:nvGrpSpPr>
          <p:cNvPr id="7" name="Group 7"/>
          <p:cNvGrpSpPr/>
          <p:nvPr/>
        </p:nvGrpSpPr>
        <p:grpSpPr>
          <a:xfrm>
            <a:off x="-947738" y="3856006"/>
            <a:ext cx="3247169" cy="3523107"/>
            <a:chOff x="-947738" y="3856006"/>
            <a:chExt cx="3247169" cy="3523107"/>
          </a:xfrm>
        </p:grpSpPr>
        <p:sp>
          <p:nvSpPr>
            <p:cNvPr id="5" name="Freeform 5"/>
            <p:cNvSpPr/>
            <p:nvPr/>
          </p:nvSpPr>
          <p:spPr>
            <a:xfrm>
              <a:off x="-947738" y="3856006"/>
              <a:ext cx="2656046" cy="2582132"/>
            </a:xfrm>
            <a:custGeom>
              <a:avLst/>
              <a:gdLst/>
              <a:ahLst/>
              <a:cxnLst/>
              <a:rect l="l" t="t" r="r" b="b"/>
              <a:pathLst>
                <a:path w="2656046" h="2582132">
                  <a:moveTo>
                    <a:pt x="1158716" y="12668"/>
                  </a:moveTo>
                  <a:cubicBezTo>
                    <a:pt x="1233392" y="20288"/>
                    <a:pt x="1306163" y="56293"/>
                    <a:pt x="1358932" y="123444"/>
                  </a:cubicBezTo>
                  <a:cubicBezTo>
                    <a:pt x="1358932" y="123444"/>
                    <a:pt x="1358932" y="123444"/>
                    <a:pt x="2544413" y="1613345"/>
                  </a:cubicBezTo>
                  <a:lnTo>
                    <a:pt x="2656046" y="1753648"/>
                  </a:lnTo>
                  <a:lnTo>
                    <a:pt x="2656046" y="2136267"/>
                  </a:lnTo>
                  <a:lnTo>
                    <a:pt x="2618804" y="2175796"/>
                  </a:lnTo>
                  <a:cubicBezTo>
                    <a:pt x="2579370" y="2208181"/>
                    <a:pt x="2530221" y="2231041"/>
                    <a:pt x="2473261" y="2239518"/>
                  </a:cubicBezTo>
                  <a:cubicBezTo>
                    <a:pt x="2473261" y="2239518"/>
                    <a:pt x="2473261" y="2239518"/>
                    <a:pt x="403003" y="2548509"/>
                  </a:cubicBezTo>
                  <a:cubicBezTo>
                    <a:pt x="177546" y="2582132"/>
                    <a:pt x="0" y="2359724"/>
                    <a:pt x="82391" y="2147316"/>
                  </a:cubicBezTo>
                  <a:cubicBezTo>
                    <a:pt x="82391" y="2147316"/>
                    <a:pt x="82391" y="2147316"/>
                    <a:pt x="851059" y="199263"/>
                  </a:cubicBezTo>
                  <a:cubicBezTo>
                    <a:pt x="903922" y="66294"/>
                    <a:pt x="1034129" y="0"/>
                    <a:pt x="1158716" y="12668"/>
                  </a:cubicBezTo>
                  <a:close/>
                </a:path>
              </a:pathLst>
            </a:custGeom>
            <a:solidFill>
              <a:srgbClr val="6C92C0">
                <a:alpha val="66000"/>
              </a:srgbClr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-283654" y="4149757"/>
              <a:ext cx="2583085" cy="3229356"/>
            </a:xfrm>
            <a:custGeom>
              <a:avLst/>
              <a:gdLst/>
              <a:ahLst/>
              <a:cxnLst/>
              <a:rect l="l" t="t" r="r" b="b"/>
              <a:pathLst>
                <a:path w="2583085" h="3229356">
                  <a:moveTo>
                    <a:pt x="2583085" y="0"/>
                  </a:moveTo>
                  <a:lnTo>
                    <a:pt x="2583085" y="3229356"/>
                  </a:lnTo>
                  <a:lnTo>
                    <a:pt x="1817846" y="3229356"/>
                  </a:lnTo>
                  <a:lnTo>
                    <a:pt x="1550480" y="3097530"/>
                  </a:lnTo>
                  <a:cubicBezTo>
                    <a:pt x="1231964" y="2940368"/>
                    <a:pt x="880491" y="2767012"/>
                    <a:pt x="492633" y="2575750"/>
                  </a:cubicBezTo>
                  <a:cubicBezTo>
                    <a:pt x="42101" y="2353532"/>
                    <a:pt x="0" y="1727740"/>
                    <a:pt x="415862" y="1446657"/>
                  </a:cubicBezTo>
                  <a:cubicBezTo>
                    <a:pt x="415862" y="1446657"/>
                    <a:pt x="415862" y="1446657"/>
                    <a:pt x="2474690" y="72295"/>
                  </a:cubicBezTo>
                  <a:close/>
                </a:path>
              </a:pathLst>
            </a:custGeom>
            <a:solidFill>
              <a:srgbClr val="48A2A0">
                <a:alpha val="45000"/>
              </a:srgbClr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9087040" y="-1443800"/>
            <a:ext cx="3204401" cy="4893660"/>
            <a:chOff x="9087040" y="-1443800"/>
            <a:chExt cx="3204401" cy="4893660"/>
          </a:xfrm>
        </p:grpSpPr>
        <p:sp>
          <p:nvSpPr>
            <p:cNvPr id="8" name="Freeform 8"/>
            <p:cNvSpPr/>
            <p:nvPr/>
          </p:nvSpPr>
          <p:spPr>
            <a:xfrm>
              <a:off x="9087040" y="-1443800"/>
              <a:ext cx="3204401" cy="3482054"/>
            </a:xfrm>
            <a:custGeom>
              <a:avLst/>
              <a:gdLst/>
              <a:ahLst/>
              <a:cxnLst/>
              <a:rect l="l" t="t" r="r" b="b"/>
              <a:pathLst>
                <a:path w="3204401" h="3482054">
                  <a:moveTo>
                    <a:pt x="0" y="0"/>
                  </a:moveTo>
                  <a:lnTo>
                    <a:pt x="45911" y="11620"/>
                  </a:lnTo>
                  <a:cubicBezTo>
                    <a:pt x="152590" y="46101"/>
                    <a:pt x="252793" y="109633"/>
                    <a:pt x="334899" y="204502"/>
                  </a:cubicBezTo>
                  <a:cubicBezTo>
                    <a:pt x="334899" y="204502"/>
                    <a:pt x="334899" y="204502"/>
                    <a:pt x="3098673" y="3361277"/>
                  </a:cubicBezTo>
                  <a:lnTo>
                    <a:pt x="3204401" y="3482054"/>
                  </a:lnTo>
                  <a:lnTo>
                    <a:pt x="0" y="3482054"/>
                  </a:lnTo>
                  <a:close/>
                </a:path>
              </a:pathLst>
            </a:custGeom>
            <a:solidFill>
              <a:srgbClr val="6C92C0">
                <a:alpha val="5000"/>
              </a:srgbClr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9102280" y="-843629"/>
              <a:ext cx="1443323" cy="4293489"/>
            </a:xfrm>
            <a:custGeom>
              <a:avLst/>
              <a:gdLst/>
              <a:ahLst/>
              <a:cxnLst/>
              <a:rect l="l" t="t" r="r" b="b"/>
              <a:pathLst>
                <a:path w="1443323" h="4293489">
                  <a:moveTo>
                    <a:pt x="898970" y="2286"/>
                  </a:moveTo>
                  <a:cubicBezTo>
                    <a:pt x="1208342" y="18002"/>
                    <a:pt x="1443323" y="324326"/>
                    <a:pt x="1343787" y="640842"/>
                  </a:cubicBezTo>
                  <a:cubicBezTo>
                    <a:pt x="1343787" y="640842"/>
                    <a:pt x="1343787" y="640842"/>
                    <a:pt x="316801" y="3971830"/>
                  </a:cubicBezTo>
                  <a:cubicBezTo>
                    <a:pt x="266986" y="4130040"/>
                    <a:pt x="151067" y="4239578"/>
                    <a:pt x="14478" y="4289203"/>
                  </a:cubicBezTo>
                  <a:lnTo>
                    <a:pt x="0" y="4293489"/>
                  </a:lnTo>
                  <a:lnTo>
                    <a:pt x="0" y="187738"/>
                  </a:lnTo>
                  <a:lnTo>
                    <a:pt x="164306" y="150304"/>
                  </a:lnTo>
                  <a:cubicBezTo>
                    <a:pt x="350996" y="107823"/>
                    <a:pt x="550164" y="62484"/>
                    <a:pt x="762572" y="14097"/>
                  </a:cubicBezTo>
                  <a:cubicBezTo>
                    <a:pt x="809053" y="3715"/>
                    <a:pt x="854773" y="0"/>
                    <a:pt x="898970" y="2286"/>
                  </a:cubicBezTo>
                  <a:close/>
                </a:path>
              </a:pathLst>
            </a:custGeom>
            <a:solidFill>
              <a:srgbClr val="6C92C0">
                <a:alpha val="78000"/>
              </a:srgbClr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9734645" y="-218884"/>
              <a:ext cx="1191863" cy="1032224"/>
            </a:xfrm>
            <a:custGeom>
              <a:avLst/>
              <a:gdLst/>
              <a:ahLst/>
              <a:cxnLst/>
              <a:rect l="l" t="t" r="r" b="b"/>
              <a:pathLst>
                <a:path w="1191863" h="1032224">
                  <a:moveTo>
                    <a:pt x="487966" y="83153"/>
                  </a:moveTo>
                  <a:cubicBezTo>
                    <a:pt x="47435" y="845534"/>
                    <a:pt x="47435" y="845534"/>
                    <a:pt x="47435" y="845534"/>
                  </a:cubicBezTo>
                  <a:cubicBezTo>
                    <a:pt x="0" y="928783"/>
                    <a:pt x="60007" y="1032224"/>
                    <a:pt x="155924" y="1032224"/>
                  </a:cubicBezTo>
                  <a:cubicBezTo>
                    <a:pt x="1035939" y="1032224"/>
                    <a:pt x="1035939" y="1032224"/>
                    <a:pt x="1035939" y="1032224"/>
                  </a:cubicBezTo>
                  <a:cubicBezTo>
                    <a:pt x="1132808" y="1032224"/>
                    <a:pt x="1191863" y="928783"/>
                    <a:pt x="1144429" y="845534"/>
                  </a:cubicBezTo>
                  <a:cubicBezTo>
                    <a:pt x="703898" y="83153"/>
                    <a:pt x="703898" y="83153"/>
                    <a:pt x="703898" y="83153"/>
                  </a:cubicBezTo>
                  <a:cubicBezTo>
                    <a:pt x="656463" y="0"/>
                    <a:pt x="536353" y="0"/>
                    <a:pt x="487966" y="83153"/>
                  </a:cubicBezTo>
                  <a:close/>
                </a:path>
              </a:pathLst>
            </a:custGeom>
            <a:solidFill>
              <a:srgbClr val="48A2A0">
                <a:alpha val="68000"/>
              </a:srgbClr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749647" y="1837658"/>
            <a:ext cx="8692706" cy="1317022"/>
            <a:chOff x="1749647" y="1837658"/>
            <a:chExt cx="8692706" cy="1317022"/>
          </a:xfrm>
        </p:grpSpPr>
        <p:sp>
          <p:nvSpPr>
            <p:cNvPr id="12" name="Rectangle 12"/>
            <p:cNvSpPr/>
            <p:nvPr/>
          </p:nvSpPr>
          <p:spPr>
            <a:xfrm>
              <a:off x="1749647" y="1837658"/>
              <a:ext cx="8692706" cy="108842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335208" y="2057400"/>
              <a:ext cx="3521583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400" dirty="0">
                  <a:solidFill>
                    <a:srgbClr val="48A2A0"/>
                  </a:solidFill>
                  <a:latin typeface="微软雅黑"/>
                  <a:ea typeface="Microsoft YaHei"/>
                  <a:cs typeface="微软雅黑"/>
                </a:rPr>
                <a:t>Thank You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513862" y="3674269"/>
            <a:ext cx="2550795" cy="416052"/>
            <a:chOff x="6513862" y="3674269"/>
            <a:chExt cx="2550795" cy="416052"/>
          </a:xfrm>
        </p:grpSpPr>
        <p:grpSp>
          <p:nvGrpSpPr>
            <p:cNvPr id="17" name="Group 17"/>
            <p:cNvGrpSpPr/>
            <p:nvPr/>
          </p:nvGrpSpPr>
          <p:grpSpPr>
            <a:xfrm>
              <a:off x="7058882" y="3674269"/>
              <a:ext cx="2005775" cy="416052"/>
              <a:chOff x="7058882" y="3674269"/>
              <a:chExt cx="2005775" cy="416052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7058882" y="3674269"/>
                <a:ext cx="2005775" cy="416052"/>
              </a:xfrm>
              <a:prstGeom prst="roundRect">
                <a:avLst>
                  <a:gd name="adj" fmla="val 50000"/>
                </a:avLst>
              </a:prstGeom>
              <a:solidFill>
                <a:srgbClr val="6C92C0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7508136" y="3760370"/>
                <a:ext cx="1107267" cy="325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00" dirty="0">
                    <a:solidFill>
                      <a:srgbClr val="FFFFFF"/>
                    </a:solidFill>
                    <a:latin typeface="印品黑体"/>
                    <a:ea typeface="Microsoft YaHei"/>
                    <a:cs typeface="印品黑体"/>
                  </a:rPr>
                  <a:t>结论与展望</a:t>
                </a:r>
              </a:p>
            </p:txBody>
          </p:sp>
        </p:grpSp>
        <p:sp>
          <p:nvSpPr>
            <p:cNvPr id="18" name="Ellipse 18"/>
            <p:cNvSpPr/>
            <p:nvPr/>
          </p:nvSpPr>
          <p:spPr>
            <a:xfrm>
              <a:off x="6513862" y="3674269"/>
              <a:ext cx="445580" cy="413194"/>
            </a:xfrm>
            <a:prstGeom prst="ellipse">
              <a:avLst/>
            </a:prstGeom>
            <a:solidFill>
              <a:srgbClr val="48A2A0"/>
            </a:solidFill>
            <a:ln>
              <a:noFill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3943064" y="6087428"/>
            <a:ext cx="4305872" cy="457295"/>
            <a:chOff x="3943064" y="6087428"/>
            <a:chExt cx="4305872" cy="457295"/>
          </a:xfrm>
        </p:grpSpPr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43064" y="6087428"/>
              <a:ext cx="4305872" cy="457295"/>
            </a:xfrm>
            <a:prstGeom prst="rect">
              <a:avLst/>
            </a:prstGeom>
          </p:spPr>
        </p:pic>
      </p:grpSp>
      <p:grpSp>
        <p:nvGrpSpPr>
          <p:cNvPr id="23" name="Group 23"/>
          <p:cNvGrpSpPr/>
          <p:nvPr/>
        </p:nvGrpSpPr>
        <p:grpSpPr>
          <a:xfrm>
            <a:off x="-95" y="70294"/>
            <a:ext cx="4840414" cy="885158"/>
            <a:chOff x="-95" y="70294"/>
            <a:chExt cx="4840414" cy="885158"/>
          </a:xfrm>
        </p:grpSpPr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95" y="70294"/>
              <a:ext cx="4840414" cy="885158"/>
            </a:xfrm>
            <a:prstGeom prst="rect">
              <a:avLst/>
            </a:prstGeom>
          </p:spPr>
        </p:pic>
      </p:grpSp>
      <p:grpSp>
        <p:nvGrpSpPr>
          <p:cNvPr id="28" name="Group 28"/>
          <p:cNvGrpSpPr/>
          <p:nvPr/>
        </p:nvGrpSpPr>
        <p:grpSpPr>
          <a:xfrm>
            <a:off x="2966752" y="3671697"/>
            <a:ext cx="2550795" cy="416052"/>
            <a:chOff x="2966752" y="3671697"/>
            <a:chExt cx="2550795" cy="416052"/>
          </a:xfrm>
        </p:grpSpPr>
        <p:grpSp>
          <p:nvGrpSpPr>
            <p:cNvPr id="26" name="Group 26"/>
            <p:cNvGrpSpPr/>
            <p:nvPr/>
          </p:nvGrpSpPr>
          <p:grpSpPr>
            <a:xfrm>
              <a:off x="3511772" y="3671697"/>
              <a:ext cx="2005775" cy="416052"/>
              <a:chOff x="3511772" y="3671697"/>
              <a:chExt cx="2005775" cy="416052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3511772" y="3671697"/>
                <a:ext cx="2005775" cy="416052"/>
              </a:xfrm>
              <a:prstGeom prst="roundRect">
                <a:avLst>
                  <a:gd name="adj" fmla="val 50000"/>
                </a:avLst>
              </a:prstGeom>
              <a:solidFill>
                <a:srgbClr val="6C92C0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3961026" y="3757798"/>
                <a:ext cx="1107267" cy="325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00" dirty="0">
                    <a:solidFill>
                      <a:srgbClr val="FFFFFF"/>
                    </a:solidFill>
                    <a:latin typeface="印品黑体"/>
                    <a:ea typeface="Microsoft YaHei"/>
                    <a:cs typeface="印品黑体"/>
                  </a:rPr>
                  <a:t>结论与展望</a:t>
                </a:r>
              </a:p>
            </p:txBody>
          </p:sp>
        </p:grpSp>
        <p:sp>
          <p:nvSpPr>
            <p:cNvPr id="27" name="Ellipse 27"/>
            <p:cNvSpPr/>
            <p:nvPr/>
          </p:nvSpPr>
          <p:spPr>
            <a:xfrm>
              <a:off x="2966752" y="3671697"/>
              <a:ext cx="445580" cy="413194"/>
            </a:xfrm>
            <a:prstGeom prst="ellipse">
              <a:avLst/>
            </a:prstGeom>
            <a:solidFill>
              <a:srgbClr val="48A2A0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1" grpId="0"/>
      <p:bldP spid="14" grpId="0"/>
      <p:bldP spid="19" grpId="0"/>
      <p:bldP spid="21" grpId="0"/>
      <p:bldP spid="23" grpId="0"/>
      <p:bldP spid="2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