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，我们来快速看一下公司目前的盈利全貌。从整体数据来看，营收虽然保持了一定的规模，但利润端的压力比较明显，毛利率和净利率都出现了一定程度的下滑。这说明我们在收入增长的同时，成本控制和盈利转化效率方面，还有一些需要重点关注和优化的地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，我们把几个核心盈利指标拆开来看一看。毛利率的波动主要受到原材料成本和产品结构变化的影响，而净利率的变动则更多反映了期间费用，尤其是销售和研发投入的增加。整体来看，公司的核心业务依然有竞争力，但利润空间的收窄提醒我们需要更精细化地管理各项支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完了利润表上的数字，我们再看看现金流，也就是盈利的"含金量"。从经营性现金流来看，表现还是相对稳健的，说明主营业务能持续带来真金白银。不过，我们需要留意应收账款和存货的周转速度，如果这两个指标变慢，再好的账面利润也可能变成"纸面富贵"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简单总结。公司目前处于"增收不增利"的阶段，核心盈利指标有压力，但现金流基本面还算健康。接下来建议重点做好三件事：一是优化成本结构，二是加快营运资金的周转效率，三是聚焦高毛利产品线的资源投入。稳住基本盘，再谋新增长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14759fffdf10fc7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e6f46a7f3b83295.png"/>
  <Relationship Id="rId3" Type="http://schemas.openxmlformats.org/officeDocument/2006/relationships/image" Target="../media/image_120e3f4572486287.jpg"/>
  <Relationship Id="rId4" Type="http://schemas.openxmlformats.org/officeDocument/2006/relationships/image" Target="../media/image_14759fffdf10fc72.png"/>
  <Relationship Id="rId5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14759fffdf10fc72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aba8f9f2afe064bd.jpg"/>
  <Relationship Id="rId3" Type="http://schemas.openxmlformats.org/officeDocument/2006/relationships/image" Target="../media/image_5df81132dc4e0206.png"/>
  <Relationship Id="rId4" Type="http://schemas.openxmlformats.org/officeDocument/2006/relationships/image" Target="../media/image_14759fffdf10fc72.png"/>
  <Relationship Id="rId5" Type="http://schemas.openxmlformats.org/officeDocument/2006/relationships/notesSlide" Target="../notesSlides/notes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 rot="-1126799">
            <a:off x="3332247" y="1065256"/>
            <a:ext cx="1722787" cy="1487329"/>
            <a:chOff x="3329368" y="1069276"/>
            <a:chExt cx="1722787" cy="1487329"/>
          </a:xfrm>
        </p:grpSpPr>
        <p:sp>
          <p:nvSpPr>
            <p:cNvPr id="5" name="Freeform 5"/>
            <p:cNvSpPr/>
            <p:nvPr/>
          </p:nvSpPr>
          <p:spPr>
            <a:xfrm>
              <a:off x="3329368" y="1307973"/>
              <a:ext cx="1289018" cy="1248632"/>
            </a:xfrm>
            <a:custGeom>
              <a:avLst/>
              <a:gdLst/>
              <a:ahLst/>
              <a:cxnLst/>
              <a:rect l="l" t="t" r="r" b="b"/>
              <a:pathLst>
                <a:path w="1289018" h="1248632">
                  <a:moveTo>
                    <a:pt x="527780" y="100584"/>
                  </a:moveTo>
                  <a:cubicBezTo>
                    <a:pt x="51340" y="1022794"/>
                    <a:pt x="51340" y="1022794"/>
                    <a:pt x="51340" y="1022794"/>
                  </a:cubicBezTo>
                  <a:cubicBezTo>
                    <a:pt x="0" y="1123474"/>
                    <a:pt x="64960" y="1248632"/>
                    <a:pt x="168592" y="1248632"/>
                  </a:cubicBezTo>
                  <a:cubicBezTo>
                    <a:pt x="1120426" y="1248632"/>
                    <a:pt x="1120426" y="1248632"/>
                    <a:pt x="1120426" y="1248632"/>
                  </a:cubicBezTo>
                  <a:cubicBezTo>
                    <a:pt x="1225201" y="1248632"/>
                    <a:pt x="1289018" y="1123474"/>
                    <a:pt x="1237774" y="1022794"/>
                  </a:cubicBezTo>
                  <a:cubicBezTo>
                    <a:pt x="761238" y="100584"/>
                    <a:pt x="761238" y="100584"/>
                    <a:pt x="761238" y="100584"/>
                  </a:cubicBezTo>
                  <a:cubicBezTo>
                    <a:pt x="709993" y="0"/>
                    <a:pt x="580168" y="0"/>
                    <a:pt x="527780" y="100584"/>
                  </a:cubicBezTo>
                  <a:close/>
                </a:path>
              </a:pathLst>
            </a:custGeom>
            <a:solidFill>
              <a:srgbClr val="6C92C0">
                <a:alpha val="68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3637121" y="1069276"/>
              <a:ext cx="1415034" cy="1331786"/>
            </a:xfrm>
            <a:custGeom>
              <a:avLst/>
              <a:gdLst/>
              <a:ahLst/>
              <a:cxnLst/>
              <a:rect l="l" t="t" r="r" b="b"/>
              <a:pathLst>
                <a:path w="1415034" h="1331786">
                  <a:moveTo>
                    <a:pt x="579310" y="107347"/>
                  </a:moveTo>
                  <a:cubicBezTo>
                    <a:pt x="56293" y="1090898"/>
                    <a:pt x="56293" y="1090898"/>
                    <a:pt x="56293" y="1090898"/>
                  </a:cubicBezTo>
                  <a:cubicBezTo>
                    <a:pt x="0" y="1198245"/>
                    <a:pt x="71247" y="1331786"/>
                    <a:pt x="185071" y="1331786"/>
                  </a:cubicBezTo>
                  <a:cubicBezTo>
                    <a:pt x="1229963" y="1331786"/>
                    <a:pt x="1229963" y="1331786"/>
                    <a:pt x="1229963" y="1331786"/>
                  </a:cubicBezTo>
                  <a:cubicBezTo>
                    <a:pt x="1344930" y="1331786"/>
                    <a:pt x="1415034" y="1198245"/>
                    <a:pt x="1358741" y="1090898"/>
                  </a:cubicBezTo>
                  <a:cubicBezTo>
                    <a:pt x="835723" y="107347"/>
                    <a:pt x="835723" y="107347"/>
                    <a:pt x="835723" y="107347"/>
                  </a:cubicBezTo>
                  <a:cubicBezTo>
                    <a:pt x="779335" y="0"/>
                    <a:pt x="636841" y="0"/>
                    <a:pt x="579310" y="107347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386774" y="4107180"/>
            <a:ext cx="191834" cy="191834"/>
            <a:chOff x="2386774" y="4107180"/>
            <a:chExt cx="191834" cy="191834"/>
          </a:xfrm>
        </p:grpSpPr>
        <p:sp>
          <p:nvSpPr>
            <p:cNvPr id="8" name="Ellipse 8"/>
            <p:cNvSpPr/>
            <p:nvPr/>
          </p:nvSpPr>
          <p:spPr>
            <a:xfrm>
              <a:off x="2386774" y="4107180"/>
              <a:ext cx="191834" cy="191834"/>
            </a:xfrm>
            <a:prstGeom prst="ellipse">
              <a:avLst/>
            </a:prstGeom>
            <a:solidFill>
              <a:srgbClr val="6C92C0">
                <a:alpha val="70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692878" y="3381280"/>
            <a:ext cx="952500" cy="952500"/>
            <a:chOff x="1692878" y="3381280"/>
            <a:chExt cx="952500" cy="952500"/>
          </a:xfrm>
        </p:grpSpPr>
        <p:sp>
          <p:nvSpPr>
            <p:cNvPr id="10" name="Ellipse 10"/>
            <p:cNvSpPr/>
            <p:nvPr/>
          </p:nvSpPr>
          <p:spPr>
            <a:xfrm>
              <a:off x="1692878" y="3381280"/>
              <a:ext cx="952500" cy="952500"/>
            </a:xfrm>
            <a:prstGeom prst="ellipse">
              <a:avLst/>
            </a:prstGeom>
            <a:solidFill>
              <a:srgbClr val="48A2A0">
                <a:alpha val="698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837944" y="3472815"/>
            <a:ext cx="684848" cy="1445228"/>
            <a:chOff x="1837944" y="3472815"/>
            <a:chExt cx="684848" cy="1445228"/>
          </a:xfrm>
        </p:grpSpPr>
        <p:sp>
          <p:nvSpPr>
            <p:cNvPr id="12" name="Rectangle 12"/>
            <p:cNvSpPr/>
            <p:nvPr/>
          </p:nvSpPr>
          <p:spPr>
            <a:xfrm>
              <a:off x="1837944" y="3472815"/>
              <a:ext cx="684848" cy="144522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62542" y="3518540"/>
              <a:ext cx="635462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7268" y="4501515"/>
            <a:ext cx="2262188" cy="533400"/>
            <a:chOff x="997268" y="4501515"/>
            <a:chExt cx="2262188" cy="533400"/>
          </a:xfrm>
        </p:grpSpPr>
        <p:sp>
          <p:nvSpPr>
            <p:cNvPr id="15" name="Rectangle 15"/>
            <p:cNvSpPr/>
            <p:nvPr/>
          </p:nvSpPr>
          <p:spPr>
            <a:xfrm>
              <a:off x="997268" y="4501515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7761" y="4547235"/>
              <a:ext cx="1981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36B9B"/>
                  </a:solidFill>
                  <a:latin typeface="印品黑体"/>
                  <a:ea typeface="Microsoft YaHei"/>
                  <a:cs typeface="印品黑体"/>
                </a:rPr>
                <a:t>盈利现状概览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30276" y="4482846"/>
            <a:ext cx="2262188" cy="533400"/>
            <a:chOff x="3730276" y="4482846"/>
            <a:chExt cx="2262188" cy="533400"/>
          </a:xfrm>
        </p:grpSpPr>
        <p:sp>
          <p:nvSpPr>
            <p:cNvPr id="18" name="Rectangle 18"/>
            <p:cNvSpPr/>
            <p:nvPr/>
          </p:nvSpPr>
          <p:spPr>
            <a:xfrm>
              <a:off x="3730276" y="4482846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0770" y="4528566"/>
              <a:ext cx="1981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04040"/>
                  </a:solidFill>
                  <a:latin typeface="印品黑体"/>
                  <a:ea typeface="Microsoft YaHei"/>
                  <a:cs typeface="印品黑体"/>
                </a:rPr>
                <a:t>营收增长趋势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76416" y="4496848"/>
            <a:ext cx="2262188" cy="533400"/>
            <a:chOff x="6376416" y="4496848"/>
            <a:chExt cx="2262188" cy="533400"/>
          </a:xfrm>
        </p:grpSpPr>
        <p:sp>
          <p:nvSpPr>
            <p:cNvPr id="21" name="Rectangle 21"/>
            <p:cNvSpPr/>
            <p:nvPr/>
          </p:nvSpPr>
          <p:spPr>
            <a:xfrm>
              <a:off x="6376416" y="4496848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16910" y="4542568"/>
              <a:ext cx="1981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36B9B"/>
                  </a:solidFill>
                  <a:latin typeface="印品黑体"/>
                  <a:ea typeface="Microsoft YaHei"/>
                  <a:cs typeface="印品黑体"/>
                </a:rPr>
                <a:t>利润结构分析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54370" y="4521898"/>
            <a:ext cx="2262188" cy="533400"/>
            <a:chOff x="9054370" y="4521898"/>
            <a:chExt cx="2262188" cy="533400"/>
          </a:xfrm>
        </p:grpSpPr>
        <p:sp>
          <p:nvSpPr>
            <p:cNvPr id="24" name="Rectangle 24"/>
            <p:cNvSpPr/>
            <p:nvPr/>
          </p:nvSpPr>
          <p:spPr>
            <a:xfrm>
              <a:off x="9054370" y="4521898"/>
              <a:ext cx="2262188" cy="460343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94864" y="4567618"/>
              <a:ext cx="19812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404040"/>
                  </a:solidFill>
                  <a:latin typeface="印品黑体"/>
                  <a:ea typeface="Microsoft YaHei"/>
                  <a:cs typeface="印品黑体"/>
                </a:rPr>
                <a:t>成本费用控制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49210" y="3400044"/>
            <a:ext cx="952500" cy="952500"/>
            <a:chOff x="4349210" y="3400044"/>
            <a:chExt cx="952500" cy="952500"/>
          </a:xfrm>
        </p:grpSpPr>
        <p:sp>
          <p:nvSpPr>
            <p:cNvPr id="27" name="Ellipse 27"/>
            <p:cNvSpPr/>
            <p:nvPr/>
          </p:nvSpPr>
          <p:spPr>
            <a:xfrm>
              <a:off x="4349210" y="3400044"/>
              <a:ext cx="952500" cy="952500"/>
            </a:xfrm>
            <a:prstGeom prst="ellipse">
              <a:avLst/>
            </a:prstGeom>
            <a:solidFill>
              <a:srgbClr val="6C92C0">
                <a:alpha val="69800"/>
              </a:srgbClr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430715" y="3491579"/>
            <a:ext cx="789490" cy="939856"/>
            <a:chOff x="4430715" y="3491579"/>
            <a:chExt cx="789490" cy="939856"/>
          </a:xfrm>
        </p:grpSpPr>
        <p:sp>
          <p:nvSpPr>
            <p:cNvPr id="29" name="Rectangle 29"/>
            <p:cNvSpPr/>
            <p:nvPr/>
          </p:nvSpPr>
          <p:spPr>
            <a:xfrm>
              <a:off x="4433411" y="3491579"/>
              <a:ext cx="784193" cy="76838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430715" y="3537304"/>
              <a:ext cx="789490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057299" y="4107180"/>
            <a:ext cx="191834" cy="191834"/>
            <a:chOff x="5057299" y="4107180"/>
            <a:chExt cx="191834" cy="191834"/>
          </a:xfrm>
        </p:grpSpPr>
        <p:sp>
          <p:nvSpPr>
            <p:cNvPr id="32" name="Ellipse 32"/>
            <p:cNvSpPr/>
            <p:nvPr/>
          </p:nvSpPr>
          <p:spPr>
            <a:xfrm>
              <a:off x="5057299" y="4107180"/>
              <a:ext cx="191834" cy="191834"/>
            </a:xfrm>
            <a:prstGeom prst="ellipse">
              <a:avLst/>
            </a:prstGeom>
            <a:solidFill>
              <a:srgbClr val="48A2A0">
                <a:alpha val="70000"/>
              </a:srgbClr>
            </a:solidFill>
            <a:ln>
              <a:noFill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025164" y="3400044"/>
            <a:ext cx="952500" cy="952500"/>
            <a:chOff x="7025164" y="3400044"/>
            <a:chExt cx="952500" cy="952500"/>
          </a:xfrm>
        </p:grpSpPr>
        <p:sp>
          <p:nvSpPr>
            <p:cNvPr id="34" name="Ellipse 34"/>
            <p:cNvSpPr/>
            <p:nvPr/>
          </p:nvSpPr>
          <p:spPr>
            <a:xfrm>
              <a:off x="7025164" y="3400044"/>
              <a:ext cx="952500" cy="952500"/>
            </a:xfrm>
            <a:prstGeom prst="ellipse">
              <a:avLst/>
            </a:prstGeom>
            <a:solidFill>
              <a:srgbClr val="48A2A0">
                <a:alpha val="70000"/>
              </a:srgbClr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7077808" y="3491579"/>
            <a:ext cx="789490" cy="939856"/>
            <a:chOff x="7077808" y="3491579"/>
            <a:chExt cx="789490" cy="939856"/>
          </a:xfrm>
        </p:grpSpPr>
        <p:sp>
          <p:nvSpPr>
            <p:cNvPr id="36" name="Rectangle 36"/>
            <p:cNvSpPr/>
            <p:nvPr/>
          </p:nvSpPr>
          <p:spPr>
            <a:xfrm>
              <a:off x="7082028" y="3491579"/>
              <a:ext cx="780955" cy="76838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77808" y="3537304"/>
              <a:ext cx="789490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766399" y="4107180"/>
            <a:ext cx="191834" cy="191834"/>
            <a:chOff x="7766399" y="4107180"/>
            <a:chExt cx="191834" cy="191834"/>
          </a:xfrm>
        </p:grpSpPr>
        <p:sp>
          <p:nvSpPr>
            <p:cNvPr id="39" name="Ellipse 39"/>
            <p:cNvSpPr/>
            <p:nvPr/>
          </p:nvSpPr>
          <p:spPr>
            <a:xfrm>
              <a:off x="7766399" y="4107180"/>
              <a:ext cx="191834" cy="191834"/>
            </a:xfrm>
            <a:prstGeom prst="ellipse">
              <a:avLst/>
            </a:prstGeom>
            <a:solidFill>
              <a:srgbClr val="6C92C0">
                <a:alpha val="70000"/>
              </a:srgbClr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9731502" y="3374993"/>
            <a:ext cx="952500" cy="952500"/>
            <a:chOff x="9731502" y="3374993"/>
            <a:chExt cx="952500" cy="952500"/>
          </a:xfrm>
        </p:grpSpPr>
        <p:sp>
          <p:nvSpPr>
            <p:cNvPr id="41" name="Ellipse 41"/>
            <p:cNvSpPr/>
            <p:nvPr/>
          </p:nvSpPr>
          <p:spPr>
            <a:xfrm>
              <a:off x="9731502" y="3374993"/>
              <a:ext cx="952500" cy="952500"/>
            </a:xfrm>
            <a:prstGeom prst="ellipse">
              <a:avLst/>
            </a:prstGeom>
            <a:solidFill>
              <a:srgbClr val="6C92C0">
                <a:alpha val="70000"/>
              </a:srgbClr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9808464" y="3466528"/>
            <a:ext cx="798576" cy="939761"/>
            <a:chOff x="9808464" y="3466528"/>
            <a:chExt cx="798576" cy="939761"/>
          </a:xfrm>
        </p:grpSpPr>
        <p:sp>
          <p:nvSpPr>
            <p:cNvPr id="43" name="Rectangle 43"/>
            <p:cNvSpPr/>
            <p:nvPr/>
          </p:nvSpPr>
          <p:spPr>
            <a:xfrm>
              <a:off x="9808464" y="3466528"/>
              <a:ext cx="798576" cy="76838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813007" y="3512158"/>
              <a:ext cx="789490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FFFFFF"/>
                  </a:solidFill>
                  <a:latin typeface="印品黑体"/>
                  <a:ea typeface="Microsoft YaHei"/>
                  <a:cs typeface="印品黑体"/>
                </a:rPr>
                <a:t>04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446830" y="4107180"/>
            <a:ext cx="191834" cy="191834"/>
            <a:chOff x="10446830" y="4107180"/>
            <a:chExt cx="191834" cy="191834"/>
          </a:xfrm>
        </p:grpSpPr>
        <p:sp>
          <p:nvSpPr>
            <p:cNvPr id="46" name="Ellipse 46"/>
            <p:cNvSpPr/>
            <p:nvPr/>
          </p:nvSpPr>
          <p:spPr>
            <a:xfrm>
              <a:off x="10446830" y="4107180"/>
              <a:ext cx="191834" cy="191834"/>
            </a:xfrm>
            <a:prstGeom prst="ellipse">
              <a:avLst/>
            </a:prstGeom>
            <a:solidFill>
              <a:srgbClr val="48A2A0">
                <a:alpha val="70000"/>
              </a:srgbClr>
            </a:solidFill>
            <a:ln>
              <a:noFill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177856" y="1431512"/>
            <a:ext cx="3955447" cy="939761"/>
            <a:chOff x="4177856" y="1431512"/>
            <a:chExt cx="3955447" cy="939761"/>
          </a:xfrm>
        </p:grpSpPr>
        <p:sp>
          <p:nvSpPr>
            <p:cNvPr id="48" name="Rectangle 48"/>
            <p:cNvSpPr/>
            <p:nvPr/>
          </p:nvSpPr>
          <p:spPr>
            <a:xfrm>
              <a:off x="4177856" y="1431512"/>
              <a:ext cx="3955447" cy="847916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867519" y="1477142"/>
              <a:ext cx="2576214" cy="894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400" b="1" dirty="0">
                  <a:solidFill>
                    <a:srgbClr val="6C92C0"/>
                  </a:solidFill>
                  <a:latin typeface="微软雅黑"/>
                  <a:ea typeface="Microsoft YaHei"/>
                  <a:cs typeface="微软雅黑"/>
                </a:rPr>
                <a:t>盈利现状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244620" y="70294"/>
            <a:ext cx="4840414" cy="885158"/>
            <a:chOff x="7244620" y="70294"/>
            <a:chExt cx="4840414" cy="885158"/>
          </a:xfrm>
        </p:grpSpPr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44620" y="70294"/>
              <a:ext cx="4840414" cy="885158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90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8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60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6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6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44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3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2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100"/>
                            </p:stCondLst>
                            <p:childTnLst>
                              <p:par>
                                <p:cTn id="8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8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1" grpId="0"/>
      <p:bldP spid="14" grpId="0"/>
      <p:bldP spid="17" grpId="0"/>
      <p:bldP spid="20" grpId="0"/>
      <p:bldP spid="23" grpId="0"/>
      <p:bldP spid="26" grpId="0"/>
      <p:bldP spid="28" grpId="0"/>
      <p:bldP spid="31" grpId="0"/>
      <p:bldP spid="33" grpId="0"/>
      <p:bldP spid="35" grpId="0"/>
      <p:bldP spid="38" grpId="0"/>
      <p:bldP spid="40" grpId="0"/>
      <p:bldP spid="42" grpId="0"/>
      <p:bldP spid="45" grpId="0"/>
      <p:bldP spid="47" grpId="0"/>
      <p:bldP spid="50" grpId="0"/>
      <p:bldP spid="5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634841" y="1957006"/>
            <a:ext cx="5189411" cy="4135946"/>
            <a:chOff x="634841" y="1957006"/>
            <a:chExt cx="5189411" cy="4135946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4841" y="1957006"/>
              <a:ext cx="5189411" cy="4135946"/>
            </a:xfrm>
            <a:prstGeom prst="rect">
              <a:avLst/>
            </a:prstGeom>
          </p:spPr>
        </p:pic>
        <p:grpSp>
          <p:nvGrpSpPr>
            <p:cNvPr id="6" name="Group 6"/>
            <p:cNvGrpSpPr/>
            <p:nvPr/>
          </p:nvGrpSpPr>
          <p:grpSpPr>
            <a:xfrm>
              <a:off x="903922" y="2207419"/>
              <a:ext cx="4643533" cy="2630138"/>
              <a:chOff x="903922" y="2207419"/>
              <a:chExt cx="4643533" cy="2630138"/>
            </a:xfrm>
          </p:grpSpPr>
          <p:pic>
            <p:nvPicPr>
              <p:cNvPr id="4" name="Image 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3922" y="2207419"/>
                <a:ext cx="4643533" cy="2630138"/>
              </a:xfrm>
              <a:prstGeom prst="rect">
                <a:avLst/>
              </a:prstGeom>
            </p:spPr>
          </p:pic>
          <p:sp>
            <p:nvSpPr>
              <p:cNvPr id="5" name="Rectangle 5"/>
              <p:cNvSpPr/>
              <p:nvPr/>
            </p:nvSpPr>
            <p:spPr>
              <a:xfrm>
                <a:off x="903922" y="2207419"/>
                <a:ext cx="4643533" cy="2630138"/>
              </a:xfrm>
              <a:prstGeom prst="rect">
                <a:avLst/>
              </a:prstGeom>
              <a:noFill/>
              <a:ln>
                <a:noFill/>
              </a:ln>
            </p:spPr>
          </p:sp>
        </p:grpSp>
        <p:sp>
          <p:nvSpPr>
            <p:cNvPr id="7" name="Freeform 7"/>
            <p:cNvSpPr/>
            <p:nvPr/>
          </p:nvSpPr>
          <p:spPr>
            <a:xfrm>
              <a:off x="3154775" y="2207419"/>
              <a:ext cx="2392680" cy="2630138"/>
            </a:xfrm>
            <a:custGeom>
              <a:avLst/>
              <a:gdLst/>
              <a:ahLst/>
              <a:cxnLst/>
              <a:rect l="l" t="t" r="r" b="b"/>
              <a:pathLst>
                <a:path w="2392680" h="2630138">
                  <a:moveTo>
                    <a:pt x="2392680" y="0"/>
                  </a:moveTo>
                  <a:lnTo>
                    <a:pt x="1122426" y="0"/>
                  </a:lnTo>
                  <a:lnTo>
                    <a:pt x="0" y="2630138"/>
                  </a:lnTo>
                  <a:lnTo>
                    <a:pt x="2392680" y="2630138"/>
                  </a:lnTo>
                  <a:lnTo>
                    <a:pt x="239268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0000"/>
                  </a:srgbClr>
                </a:gs>
                <a:gs pos="23000">
                  <a:srgbClr val="FFFFFF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8100000" scaled="1"/>
            </a:gra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987730" y="2202275"/>
            <a:ext cx="10611993" cy="960787"/>
            <a:chOff x="6987730" y="2202275"/>
            <a:chExt cx="10611993" cy="960787"/>
          </a:xfrm>
        </p:grpSpPr>
        <p:grpSp>
          <p:nvGrpSpPr>
            <p:cNvPr id="11" name="Group 11"/>
            <p:cNvGrpSpPr/>
            <p:nvPr/>
          </p:nvGrpSpPr>
          <p:grpSpPr>
            <a:xfrm>
              <a:off x="6987730" y="2202275"/>
              <a:ext cx="3585782" cy="411480"/>
              <a:chOff x="6987730" y="2202275"/>
              <a:chExt cx="3585782" cy="41148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987730" y="2202275"/>
                <a:ext cx="3585782" cy="36938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056311" y="2247995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毛利率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987730" y="2545747"/>
              <a:ext cx="10611993" cy="617315"/>
              <a:chOff x="6987730" y="2545747"/>
              <a:chExt cx="10611993" cy="61731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987730" y="2545747"/>
                <a:ext cx="4229957" cy="61731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063930" y="2591467"/>
                <a:ext cx="105357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08080"/>
                    </a:solidFill>
                    <a:latin typeface="印品黑体"/>
                    <a:ea typeface="Microsoft YaHei"/>
                    <a:cs typeface="印品黑体"/>
                  </a:rPr>
                  <a:t>毛利率 = (营业收入 - 营业成本) / 营业收入 × 100%，反映企业产品定价与成本控制能力。毛利率越高，说明企业产品的附加值越高，盈利空间越大。</a:t>
                </a: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6468618" y="2268569"/>
            <a:ext cx="394430" cy="317945"/>
            <a:chOff x="6468618" y="2268569"/>
            <a:chExt cx="394430" cy="317945"/>
          </a:xfrm>
        </p:grpSpPr>
        <p:sp>
          <p:nvSpPr>
            <p:cNvPr id="16" name="Freeform 16"/>
            <p:cNvSpPr/>
            <p:nvPr/>
          </p:nvSpPr>
          <p:spPr>
            <a:xfrm>
              <a:off x="6468618" y="2268569"/>
              <a:ext cx="394430" cy="317945"/>
            </a:xfrm>
            <a:custGeom>
              <a:avLst/>
              <a:gdLst/>
              <a:ahLst/>
              <a:cxnLst/>
              <a:rect l="l" t="t" r="r" b="b"/>
              <a:pathLst>
                <a:path w="394430" h="317945">
                  <a:moveTo>
                    <a:pt x="32957" y="75152"/>
                  </a:moveTo>
                  <a:lnTo>
                    <a:pt x="32957" y="130397"/>
                  </a:lnTo>
                  <a:lnTo>
                    <a:pt x="284321" y="130397"/>
                  </a:lnTo>
                  <a:lnTo>
                    <a:pt x="284321" y="105632"/>
                  </a:lnTo>
                  <a:lnTo>
                    <a:pt x="142303" y="105632"/>
                  </a:lnTo>
                  <a:cubicBezTo>
                    <a:pt x="130016" y="105632"/>
                    <a:pt x="118682" y="98774"/>
                    <a:pt x="113062" y="87820"/>
                  </a:cubicBezTo>
                  <a:lnTo>
                    <a:pt x="107251" y="76772"/>
                  </a:lnTo>
                  <a:cubicBezTo>
                    <a:pt x="107061" y="76295"/>
                    <a:pt x="106680" y="75724"/>
                    <a:pt x="106489" y="75152"/>
                  </a:cubicBezTo>
                  <a:close/>
                  <a:moveTo>
                    <a:pt x="32861" y="42196"/>
                  </a:moveTo>
                  <a:lnTo>
                    <a:pt x="106585" y="42196"/>
                  </a:lnTo>
                  <a:cubicBezTo>
                    <a:pt x="119539" y="42196"/>
                    <a:pt x="131254" y="49816"/>
                    <a:pt x="136589" y="61627"/>
                  </a:cubicBezTo>
                  <a:lnTo>
                    <a:pt x="142303" y="72676"/>
                  </a:lnTo>
                  <a:lnTo>
                    <a:pt x="284417" y="72676"/>
                  </a:lnTo>
                  <a:cubicBezTo>
                    <a:pt x="302609" y="72676"/>
                    <a:pt x="317278" y="87344"/>
                    <a:pt x="317278" y="105537"/>
                  </a:cubicBezTo>
                  <a:lnTo>
                    <a:pt x="317278" y="288989"/>
                  </a:lnTo>
                  <a:cubicBezTo>
                    <a:pt x="317278" y="304991"/>
                    <a:pt x="304324" y="317945"/>
                    <a:pt x="288322" y="317945"/>
                  </a:cubicBezTo>
                  <a:lnTo>
                    <a:pt x="29051" y="317945"/>
                  </a:lnTo>
                  <a:cubicBezTo>
                    <a:pt x="12954" y="317945"/>
                    <a:pt x="0" y="304991"/>
                    <a:pt x="0" y="288989"/>
                  </a:cubicBezTo>
                  <a:lnTo>
                    <a:pt x="0" y="74962"/>
                  </a:lnTo>
                  <a:cubicBezTo>
                    <a:pt x="0" y="56864"/>
                    <a:pt x="14668" y="42196"/>
                    <a:pt x="32861" y="42196"/>
                  </a:cubicBezTo>
                  <a:close/>
                  <a:moveTo>
                    <a:pt x="169831" y="0"/>
                  </a:moveTo>
                  <a:lnTo>
                    <a:pt x="336899" y="0"/>
                  </a:lnTo>
                  <a:cubicBezTo>
                    <a:pt x="368713" y="0"/>
                    <a:pt x="394430" y="25813"/>
                    <a:pt x="394430" y="57531"/>
                  </a:cubicBezTo>
                  <a:lnTo>
                    <a:pt x="394430" y="217741"/>
                  </a:lnTo>
                  <a:cubicBezTo>
                    <a:pt x="394430" y="228600"/>
                    <a:pt x="385667" y="237363"/>
                    <a:pt x="374809" y="237363"/>
                  </a:cubicBezTo>
                  <a:cubicBezTo>
                    <a:pt x="364046" y="237363"/>
                    <a:pt x="355282" y="228600"/>
                    <a:pt x="355282" y="217741"/>
                  </a:cubicBezTo>
                  <a:lnTo>
                    <a:pt x="355282" y="57531"/>
                  </a:lnTo>
                  <a:cubicBezTo>
                    <a:pt x="355282" y="47339"/>
                    <a:pt x="346996" y="39148"/>
                    <a:pt x="336899" y="39148"/>
                  </a:cubicBezTo>
                  <a:lnTo>
                    <a:pt x="169831" y="39148"/>
                  </a:lnTo>
                  <a:cubicBezTo>
                    <a:pt x="158972" y="39148"/>
                    <a:pt x="150209" y="30385"/>
                    <a:pt x="150209" y="19622"/>
                  </a:cubicBezTo>
                  <a:cubicBezTo>
                    <a:pt x="150209" y="8858"/>
                    <a:pt x="158972" y="0"/>
                    <a:pt x="169831" y="0"/>
                  </a:cubicBezTo>
                  <a:close/>
                </a:path>
              </a:pathLst>
            </a:cu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987730" y="3531679"/>
            <a:ext cx="10611993" cy="960787"/>
            <a:chOff x="6987730" y="3531679"/>
            <a:chExt cx="10611993" cy="960787"/>
          </a:xfrm>
        </p:grpSpPr>
        <p:grpSp>
          <p:nvGrpSpPr>
            <p:cNvPr id="20" name="Group 20"/>
            <p:cNvGrpSpPr/>
            <p:nvPr/>
          </p:nvGrpSpPr>
          <p:grpSpPr>
            <a:xfrm>
              <a:off x="6987730" y="3531679"/>
              <a:ext cx="3585782" cy="411481"/>
              <a:chOff x="6987730" y="3531679"/>
              <a:chExt cx="3585782" cy="411481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987730" y="3531679"/>
                <a:ext cx="3585782" cy="36938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56311" y="3577400"/>
                <a:ext cx="80181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净利率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987730" y="3875151"/>
              <a:ext cx="10611993" cy="617315"/>
              <a:chOff x="6987730" y="3875151"/>
              <a:chExt cx="10611993" cy="61731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987730" y="3875151"/>
                <a:ext cx="4229957" cy="61731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063930" y="3920871"/>
                <a:ext cx="105357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08080"/>
                    </a:solidFill>
                    <a:latin typeface="印品黑体"/>
                    <a:ea typeface="Microsoft YaHei"/>
                    <a:cs typeface="印品黑体"/>
                  </a:rPr>
                  <a:t>毛利率 = (营业收入 - 营业成本) / 营业收入 × 100%，反映企业产品定价与成本控制能力。毛利率越高，说明企业产品的附加值越高，盈利空间越大。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6987730" y="4861179"/>
            <a:ext cx="10611993" cy="960786"/>
            <a:chOff x="6987730" y="4861179"/>
            <a:chExt cx="10611993" cy="960786"/>
          </a:xfrm>
        </p:grpSpPr>
        <p:grpSp>
          <p:nvGrpSpPr>
            <p:cNvPr id="27" name="Group 27"/>
            <p:cNvGrpSpPr/>
            <p:nvPr/>
          </p:nvGrpSpPr>
          <p:grpSpPr>
            <a:xfrm>
              <a:off x="6987730" y="4861179"/>
              <a:ext cx="3585782" cy="411480"/>
              <a:chOff x="6987730" y="4861179"/>
              <a:chExt cx="3585782" cy="41148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987730" y="4861179"/>
                <a:ext cx="3585782" cy="369380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056311" y="4906899"/>
                <a:ext cx="252823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404040"/>
                    </a:solidFill>
                    <a:latin typeface="印品黑体"/>
                    <a:ea typeface="Microsoft YaHei"/>
                    <a:cs typeface="印品黑体"/>
                  </a:rPr>
                  <a:t>ROE（净资产收益率）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987730" y="5204650"/>
              <a:ext cx="10611993" cy="617315"/>
              <a:chOff x="6987730" y="5204650"/>
              <a:chExt cx="10611993" cy="61731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987730" y="5204650"/>
                <a:ext cx="4229957" cy="617315"/>
              </a:xfrm>
              <a:prstGeom prst="rect">
                <a:avLst/>
              </a:prstGeom>
              <a:noFill/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063930" y="5250370"/>
                <a:ext cx="105357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808080"/>
                    </a:solidFill>
                    <a:latin typeface="印品黑体"/>
                    <a:ea typeface="Microsoft YaHei"/>
                    <a:cs typeface="印品黑体"/>
                  </a:rPr>
                  <a:t>毛利率 = (营业收入 - 营业成本) / 营业收入 × 100%，反映企业产品定价与成本控制能力。毛利率越高，说明企业产品的附加值越高，盈利空间越大。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6657880" y="3281648"/>
            <a:ext cx="4488466" cy="1333501"/>
            <a:chOff x="6657880" y="3281648"/>
            <a:chExt cx="4488466" cy="1333501"/>
          </a:xfrm>
        </p:grpSpPr>
        <p:sp>
          <p:nvSpPr>
            <p:cNvPr id="32" name="Line 32"/>
            <p:cNvSpPr/>
            <p:nvPr/>
          </p:nvSpPr>
          <p:spPr>
            <a:xfrm>
              <a:off x="6657880" y="3281648"/>
              <a:ext cx="4488466" cy="1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custDash>
                <a:ds d="300000" sp="300000"/>
              </a:custDash>
              <a:headEnd type="oval" w="lg" len="lg"/>
              <a:tailEnd type="oval" w="lg" len="lg"/>
            </a:ln>
          </p:spPr>
        </p:sp>
        <p:sp>
          <p:nvSpPr>
            <p:cNvPr id="33" name="Line 33"/>
            <p:cNvSpPr/>
            <p:nvPr/>
          </p:nvSpPr>
          <p:spPr>
            <a:xfrm>
              <a:off x="6657880" y="4615148"/>
              <a:ext cx="4488466" cy="1"/>
            </a:xfrm>
            <a:prstGeom prst="line">
              <a:avLst/>
            </a:prstGeom>
            <a:noFill/>
            <a:ln w="9525">
              <a:solidFill>
                <a:srgbClr val="BFBFBF"/>
              </a:solidFill>
              <a:custDash>
                <a:ds d="300000" sp="300000"/>
              </a:custDash>
              <a:headEnd type="oval" w="lg" len="lg"/>
              <a:tailEnd type="oval" w="lg" len="lg"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472428" y="3599116"/>
            <a:ext cx="370904" cy="317849"/>
            <a:chOff x="6472428" y="3599116"/>
            <a:chExt cx="370904" cy="317849"/>
          </a:xfrm>
        </p:grpSpPr>
        <p:sp>
          <p:nvSpPr>
            <p:cNvPr id="35" name="Freeform 35"/>
            <p:cNvSpPr/>
            <p:nvPr/>
          </p:nvSpPr>
          <p:spPr>
            <a:xfrm>
              <a:off x="6472428" y="3599116"/>
              <a:ext cx="370904" cy="317849"/>
            </a:xfrm>
            <a:custGeom>
              <a:avLst/>
              <a:gdLst/>
              <a:ahLst/>
              <a:cxnLst/>
              <a:rect l="l" t="t" r="r" b="b"/>
              <a:pathLst>
                <a:path w="370904" h="317849">
                  <a:moveTo>
                    <a:pt x="15811" y="74485"/>
                  </a:moveTo>
                  <a:cubicBezTo>
                    <a:pt x="181547" y="74485"/>
                    <a:pt x="181547" y="74485"/>
                    <a:pt x="181547" y="74485"/>
                  </a:cubicBezTo>
                  <a:cubicBezTo>
                    <a:pt x="197358" y="62770"/>
                    <a:pt x="197358" y="62770"/>
                    <a:pt x="197358" y="62770"/>
                  </a:cubicBezTo>
                  <a:cubicBezTo>
                    <a:pt x="288036" y="0"/>
                    <a:pt x="288036" y="0"/>
                    <a:pt x="288036" y="0"/>
                  </a:cubicBezTo>
                  <a:cubicBezTo>
                    <a:pt x="288036" y="129445"/>
                    <a:pt x="288036" y="129445"/>
                    <a:pt x="288036" y="129445"/>
                  </a:cubicBezTo>
                  <a:cubicBezTo>
                    <a:pt x="288036" y="258985"/>
                    <a:pt x="288036" y="258985"/>
                    <a:pt x="288036" y="258985"/>
                  </a:cubicBezTo>
                  <a:cubicBezTo>
                    <a:pt x="197358" y="192310"/>
                    <a:pt x="197358" y="192310"/>
                    <a:pt x="197358" y="192310"/>
                  </a:cubicBezTo>
                  <a:cubicBezTo>
                    <a:pt x="181547" y="184404"/>
                    <a:pt x="181547" y="184404"/>
                    <a:pt x="181547" y="184404"/>
                  </a:cubicBezTo>
                  <a:cubicBezTo>
                    <a:pt x="130207" y="184404"/>
                    <a:pt x="130207" y="184404"/>
                    <a:pt x="130207" y="184404"/>
                  </a:cubicBezTo>
                  <a:cubicBezTo>
                    <a:pt x="157829" y="274701"/>
                    <a:pt x="157829" y="274701"/>
                    <a:pt x="157829" y="274701"/>
                  </a:cubicBezTo>
                  <a:cubicBezTo>
                    <a:pt x="177641" y="274701"/>
                    <a:pt x="177641" y="274701"/>
                    <a:pt x="177641" y="274701"/>
                  </a:cubicBezTo>
                  <a:cubicBezTo>
                    <a:pt x="177641" y="317849"/>
                    <a:pt x="177641" y="317849"/>
                    <a:pt x="177641" y="317849"/>
                  </a:cubicBezTo>
                  <a:cubicBezTo>
                    <a:pt x="169736" y="317849"/>
                    <a:pt x="169736" y="317849"/>
                    <a:pt x="169736" y="317849"/>
                  </a:cubicBezTo>
                  <a:cubicBezTo>
                    <a:pt x="82868" y="317849"/>
                    <a:pt x="82868" y="317849"/>
                    <a:pt x="82868" y="317849"/>
                  </a:cubicBezTo>
                  <a:cubicBezTo>
                    <a:pt x="43434" y="184404"/>
                    <a:pt x="43434" y="184404"/>
                    <a:pt x="43434" y="184404"/>
                  </a:cubicBezTo>
                  <a:cubicBezTo>
                    <a:pt x="15811" y="184404"/>
                    <a:pt x="15811" y="184404"/>
                    <a:pt x="15811" y="184404"/>
                  </a:cubicBezTo>
                  <a:cubicBezTo>
                    <a:pt x="0" y="145161"/>
                    <a:pt x="0" y="109823"/>
                    <a:pt x="15811" y="74485"/>
                  </a:cubicBezTo>
                  <a:close/>
                  <a:moveTo>
                    <a:pt x="343281" y="90202"/>
                  </a:moveTo>
                  <a:cubicBezTo>
                    <a:pt x="359093" y="94202"/>
                    <a:pt x="370904" y="109823"/>
                    <a:pt x="370904" y="129445"/>
                  </a:cubicBezTo>
                  <a:cubicBezTo>
                    <a:pt x="370904" y="149066"/>
                    <a:pt x="359093" y="164783"/>
                    <a:pt x="343281" y="168688"/>
                  </a:cubicBezTo>
                  <a:cubicBezTo>
                    <a:pt x="343281" y="258985"/>
                    <a:pt x="343281" y="258985"/>
                    <a:pt x="343281" y="258985"/>
                  </a:cubicBezTo>
                  <a:cubicBezTo>
                    <a:pt x="307848" y="258985"/>
                    <a:pt x="307848" y="258985"/>
                    <a:pt x="307848" y="258985"/>
                  </a:cubicBezTo>
                  <a:cubicBezTo>
                    <a:pt x="307848" y="0"/>
                    <a:pt x="307848" y="0"/>
                    <a:pt x="307848" y="0"/>
                  </a:cubicBezTo>
                  <a:cubicBezTo>
                    <a:pt x="343281" y="0"/>
                    <a:pt x="343281" y="0"/>
                    <a:pt x="343281" y="0"/>
                  </a:cubicBezTo>
                  <a:cubicBezTo>
                    <a:pt x="343281" y="90202"/>
                    <a:pt x="343281" y="90202"/>
                    <a:pt x="343281" y="90202"/>
                  </a:cubicBezTo>
                  <a:close/>
                  <a:moveTo>
                    <a:pt x="181547" y="192310"/>
                  </a:moveTo>
                  <a:cubicBezTo>
                    <a:pt x="146018" y="192310"/>
                    <a:pt x="146018" y="192310"/>
                    <a:pt x="146018" y="192310"/>
                  </a:cubicBezTo>
                  <a:cubicBezTo>
                    <a:pt x="157829" y="239363"/>
                    <a:pt x="157829" y="239363"/>
                    <a:pt x="157829" y="239363"/>
                  </a:cubicBezTo>
                  <a:cubicBezTo>
                    <a:pt x="169736" y="239363"/>
                    <a:pt x="169736" y="239363"/>
                    <a:pt x="169736" y="239363"/>
                  </a:cubicBezTo>
                  <a:cubicBezTo>
                    <a:pt x="169736" y="223647"/>
                    <a:pt x="169736" y="223647"/>
                    <a:pt x="169736" y="223647"/>
                  </a:cubicBezTo>
                  <a:lnTo>
                    <a:pt x="181547" y="192310"/>
                  </a:lnTo>
                  <a:close/>
                </a:path>
              </a:pathLst>
            </a:custGeom>
            <a:solidFill>
              <a:srgbClr val="6C92C0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439662" y="4870228"/>
            <a:ext cx="365855" cy="369380"/>
            <a:chOff x="6439662" y="4870228"/>
            <a:chExt cx="365855" cy="369380"/>
          </a:xfrm>
        </p:grpSpPr>
        <p:sp>
          <p:nvSpPr>
            <p:cNvPr id="37" name="Freeform 37"/>
            <p:cNvSpPr/>
            <p:nvPr/>
          </p:nvSpPr>
          <p:spPr>
            <a:xfrm>
              <a:off x="6439662" y="4870228"/>
              <a:ext cx="365855" cy="369380"/>
            </a:xfrm>
            <a:custGeom>
              <a:avLst/>
              <a:gdLst/>
              <a:ahLst/>
              <a:cxnLst/>
              <a:rect l="l" t="t" r="r" b="b"/>
              <a:pathLst>
                <a:path w="365855" h="369380">
                  <a:moveTo>
                    <a:pt x="181070" y="0"/>
                  </a:moveTo>
                  <a:cubicBezTo>
                    <a:pt x="284512" y="0"/>
                    <a:pt x="365855" y="81248"/>
                    <a:pt x="365855" y="184690"/>
                  </a:cubicBezTo>
                  <a:cubicBezTo>
                    <a:pt x="365855" y="284416"/>
                    <a:pt x="284512" y="369380"/>
                    <a:pt x="181070" y="369380"/>
                  </a:cubicBezTo>
                  <a:cubicBezTo>
                    <a:pt x="81248" y="369380"/>
                    <a:pt x="0" y="284416"/>
                    <a:pt x="0" y="184690"/>
                  </a:cubicBezTo>
                  <a:cubicBezTo>
                    <a:pt x="0" y="81248"/>
                    <a:pt x="81248" y="0"/>
                    <a:pt x="181070" y="0"/>
                  </a:cubicBezTo>
                  <a:close/>
                  <a:moveTo>
                    <a:pt x="166306" y="55435"/>
                  </a:moveTo>
                  <a:cubicBezTo>
                    <a:pt x="166306" y="162497"/>
                    <a:pt x="166306" y="162497"/>
                    <a:pt x="166306" y="162497"/>
                  </a:cubicBezTo>
                  <a:cubicBezTo>
                    <a:pt x="199549" y="162497"/>
                    <a:pt x="199549" y="162497"/>
                    <a:pt x="199549" y="162497"/>
                  </a:cubicBezTo>
                  <a:cubicBezTo>
                    <a:pt x="199549" y="55435"/>
                    <a:pt x="199549" y="55435"/>
                    <a:pt x="199549" y="55435"/>
                  </a:cubicBezTo>
                  <a:cubicBezTo>
                    <a:pt x="166306" y="55435"/>
                    <a:pt x="166306" y="55435"/>
                    <a:pt x="166306" y="55435"/>
                  </a:cubicBezTo>
                  <a:close/>
                  <a:moveTo>
                    <a:pt x="247555" y="88678"/>
                  </a:moveTo>
                  <a:cubicBezTo>
                    <a:pt x="225361" y="118205"/>
                    <a:pt x="225361" y="118205"/>
                    <a:pt x="225361" y="118205"/>
                  </a:cubicBezTo>
                  <a:cubicBezTo>
                    <a:pt x="229076" y="121920"/>
                    <a:pt x="232791" y="125635"/>
                    <a:pt x="236506" y="129254"/>
                  </a:cubicBezTo>
                  <a:cubicBezTo>
                    <a:pt x="251269" y="144018"/>
                    <a:pt x="258699" y="162497"/>
                    <a:pt x="258699" y="184690"/>
                  </a:cubicBezTo>
                  <a:cubicBezTo>
                    <a:pt x="258699" y="203168"/>
                    <a:pt x="251269" y="225266"/>
                    <a:pt x="236506" y="240125"/>
                  </a:cubicBezTo>
                  <a:cubicBezTo>
                    <a:pt x="221742" y="251174"/>
                    <a:pt x="203263" y="262223"/>
                    <a:pt x="181070" y="262223"/>
                  </a:cubicBezTo>
                  <a:cubicBezTo>
                    <a:pt x="162592" y="262223"/>
                    <a:pt x="140399" y="251174"/>
                    <a:pt x="129349" y="240125"/>
                  </a:cubicBezTo>
                  <a:cubicBezTo>
                    <a:pt x="114490" y="225266"/>
                    <a:pt x="103442" y="203168"/>
                    <a:pt x="103442" y="184690"/>
                  </a:cubicBezTo>
                  <a:cubicBezTo>
                    <a:pt x="103442" y="162497"/>
                    <a:pt x="114490" y="144018"/>
                    <a:pt x="129349" y="129254"/>
                  </a:cubicBezTo>
                  <a:cubicBezTo>
                    <a:pt x="129349" y="125635"/>
                    <a:pt x="132969" y="121920"/>
                    <a:pt x="136684" y="118205"/>
                  </a:cubicBezTo>
                  <a:cubicBezTo>
                    <a:pt x="114490" y="88678"/>
                    <a:pt x="114490" y="88678"/>
                    <a:pt x="114490" y="88678"/>
                  </a:cubicBezTo>
                  <a:cubicBezTo>
                    <a:pt x="110871" y="92392"/>
                    <a:pt x="107156" y="96012"/>
                    <a:pt x="99727" y="103441"/>
                  </a:cubicBezTo>
                  <a:cubicBezTo>
                    <a:pt x="81248" y="121920"/>
                    <a:pt x="66484" y="151448"/>
                    <a:pt x="66484" y="184690"/>
                  </a:cubicBezTo>
                  <a:cubicBezTo>
                    <a:pt x="66484" y="214217"/>
                    <a:pt x="81248" y="243745"/>
                    <a:pt x="99727" y="265938"/>
                  </a:cubicBezTo>
                  <a:cubicBezTo>
                    <a:pt x="121920" y="284416"/>
                    <a:pt x="151447" y="299180"/>
                    <a:pt x="181070" y="299180"/>
                  </a:cubicBezTo>
                  <a:cubicBezTo>
                    <a:pt x="214312" y="299180"/>
                    <a:pt x="243840" y="284416"/>
                    <a:pt x="266033" y="265938"/>
                  </a:cubicBezTo>
                  <a:cubicBezTo>
                    <a:pt x="284512" y="243745"/>
                    <a:pt x="299371" y="214217"/>
                    <a:pt x="299371" y="184690"/>
                  </a:cubicBezTo>
                  <a:cubicBezTo>
                    <a:pt x="299371" y="151448"/>
                    <a:pt x="284512" y="121920"/>
                    <a:pt x="266033" y="103441"/>
                  </a:cubicBezTo>
                  <a:cubicBezTo>
                    <a:pt x="258699" y="96012"/>
                    <a:pt x="254984" y="92392"/>
                    <a:pt x="247555" y="88678"/>
                  </a:cubicBezTo>
                  <a:close/>
                </a:path>
              </a:pathLst>
            </a:cu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244620" y="70294"/>
            <a:ext cx="4840414" cy="885158"/>
            <a:chOff x="7244620" y="70294"/>
            <a:chExt cx="4840414" cy="885158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4620" y="70294"/>
              <a:ext cx="4840414" cy="885158"/>
            </a:xfrm>
            <a:prstGeom prst="rect">
              <a:avLst/>
            </a:prstGeom>
          </p:spPr>
        </p:pic>
      </p:grpSp>
      <p:grpSp>
        <p:nvGrpSpPr>
          <p:cNvPr id="43" name="Group 43"/>
          <p:cNvGrpSpPr/>
          <p:nvPr/>
        </p:nvGrpSpPr>
        <p:grpSpPr>
          <a:xfrm>
            <a:off x="1010031" y="600742"/>
            <a:ext cx="2250710" cy="452176"/>
            <a:chOff x="1010031" y="600742"/>
            <a:chExt cx="2250710" cy="452176"/>
          </a:xfrm>
        </p:grpSpPr>
        <p:sp>
          <p:nvSpPr>
            <p:cNvPr id="41" name="Rectangle 41"/>
            <p:cNvSpPr/>
            <p:nvPr/>
          </p:nvSpPr>
          <p:spPr>
            <a:xfrm>
              <a:off x="1010031" y="600742"/>
              <a:ext cx="2249329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76068" y="646467"/>
              <a:ext cx="2184673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rgbClr val="768394"/>
                  </a:solidFill>
                  <a:latin typeface="印品黑体"/>
                  <a:ea typeface="Microsoft YaHei"/>
                  <a:cs typeface="印品黑体"/>
                </a:rPr>
                <a:t>核心盈利指标解读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-57340" y="361759"/>
            <a:ext cx="1119377" cy="742664"/>
            <a:chOff x="-57340" y="361759"/>
            <a:chExt cx="1119377" cy="742664"/>
          </a:xfrm>
        </p:grpSpPr>
        <p:sp>
          <p:nvSpPr>
            <p:cNvPr id="44" name="Freeform 44"/>
            <p:cNvSpPr/>
            <p:nvPr/>
          </p:nvSpPr>
          <p:spPr>
            <a:xfrm>
              <a:off x="285845" y="388239"/>
              <a:ext cx="776192" cy="672275"/>
            </a:xfrm>
            <a:custGeom>
              <a:avLst/>
              <a:gdLst/>
              <a:ahLst/>
              <a:cxnLst/>
              <a:rect l="l" t="t" r="r" b="b"/>
              <a:pathLst>
                <a:path w="776192" h="672275">
                  <a:moveTo>
                    <a:pt x="317754" y="54197"/>
                  </a:moveTo>
                  <a:cubicBezTo>
                    <a:pt x="30861" y="550736"/>
                    <a:pt x="30861" y="550736"/>
                    <a:pt x="30861" y="550736"/>
                  </a:cubicBezTo>
                  <a:cubicBezTo>
                    <a:pt x="0" y="604933"/>
                    <a:pt x="39052" y="672275"/>
                    <a:pt x="101441" y="672275"/>
                  </a:cubicBezTo>
                  <a:cubicBezTo>
                    <a:pt x="674656" y="672275"/>
                    <a:pt x="674656" y="672275"/>
                    <a:pt x="674656" y="672275"/>
                  </a:cubicBezTo>
                  <a:cubicBezTo>
                    <a:pt x="737711" y="672275"/>
                    <a:pt x="776192" y="604933"/>
                    <a:pt x="745331" y="550736"/>
                  </a:cubicBezTo>
                  <a:cubicBezTo>
                    <a:pt x="458438" y="54197"/>
                    <a:pt x="458438" y="54197"/>
                    <a:pt x="458438" y="54197"/>
                  </a:cubicBezTo>
                  <a:cubicBezTo>
                    <a:pt x="427482" y="0"/>
                    <a:pt x="349282" y="0"/>
                    <a:pt x="317754" y="54197"/>
                  </a:cubicBezTo>
                  <a:close/>
                </a:path>
              </a:pathLst>
            </a:custGeom>
            <a:solidFill>
              <a:srgbClr val="6C92C0">
                <a:alpha val="68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-57340" y="361759"/>
              <a:ext cx="857345" cy="742664"/>
            </a:xfrm>
            <a:custGeom>
              <a:avLst/>
              <a:gdLst/>
              <a:ahLst/>
              <a:cxnLst/>
              <a:rect l="l" t="t" r="r" b="b"/>
              <a:pathLst>
                <a:path w="857345" h="742664">
                  <a:moveTo>
                    <a:pt x="350996" y="59912"/>
                  </a:moveTo>
                  <a:cubicBezTo>
                    <a:pt x="34100" y="608362"/>
                    <a:pt x="34100" y="608362"/>
                    <a:pt x="34100" y="608362"/>
                  </a:cubicBezTo>
                  <a:cubicBezTo>
                    <a:pt x="0" y="668179"/>
                    <a:pt x="43148" y="742664"/>
                    <a:pt x="112109" y="742664"/>
                  </a:cubicBezTo>
                  <a:cubicBezTo>
                    <a:pt x="745236" y="742664"/>
                    <a:pt x="745236" y="742664"/>
                    <a:pt x="745236" y="742664"/>
                  </a:cubicBezTo>
                  <a:cubicBezTo>
                    <a:pt x="814864" y="742664"/>
                    <a:pt x="857345" y="668179"/>
                    <a:pt x="823246" y="608362"/>
                  </a:cubicBezTo>
                  <a:cubicBezTo>
                    <a:pt x="506349" y="59912"/>
                    <a:pt x="506349" y="59912"/>
                    <a:pt x="506349" y="59912"/>
                  </a:cubicBezTo>
                  <a:cubicBezTo>
                    <a:pt x="472154" y="0"/>
                    <a:pt x="385858" y="0"/>
                    <a:pt x="350996" y="59912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7" grpId="0"/>
      <p:bldP spid="24" grpId="0"/>
      <p:bldP spid="31" grpId="0"/>
      <p:bldP spid="34" grpId="0"/>
      <p:bldP spid="36" grpId="0"/>
      <p:bldP spid="38" grpId="0"/>
      <p:bldP spid="40" grpId="0"/>
      <p:bldP spid="43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1010031" y="600742"/>
            <a:ext cx="2784177" cy="452176"/>
            <a:chOff x="1010031" y="600742"/>
            <a:chExt cx="2784177" cy="452176"/>
          </a:xfrm>
        </p:grpSpPr>
        <p:sp>
          <p:nvSpPr>
            <p:cNvPr id="3" name="Rectangle 3"/>
            <p:cNvSpPr/>
            <p:nvPr/>
          </p:nvSpPr>
          <p:spPr>
            <a:xfrm>
              <a:off x="1010031" y="600742"/>
              <a:ext cx="2249329" cy="400145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76068" y="646467"/>
              <a:ext cx="2718140" cy="4064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dirty="0">
                  <a:solidFill>
                    <a:srgbClr val="768394"/>
                  </a:solidFill>
                  <a:latin typeface="印品黑体"/>
                  <a:ea typeface="Microsoft YaHei"/>
                  <a:cs typeface="印品黑体"/>
                </a:rPr>
                <a:t>现金流与盈利质量评估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7340" y="361759"/>
            <a:ext cx="1119377" cy="742664"/>
            <a:chOff x="-57340" y="361759"/>
            <a:chExt cx="1119377" cy="742664"/>
          </a:xfrm>
        </p:grpSpPr>
        <p:sp>
          <p:nvSpPr>
            <p:cNvPr id="6" name="Freeform 6"/>
            <p:cNvSpPr/>
            <p:nvPr/>
          </p:nvSpPr>
          <p:spPr>
            <a:xfrm>
              <a:off x="285845" y="388239"/>
              <a:ext cx="776192" cy="672275"/>
            </a:xfrm>
            <a:custGeom>
              <a:avLst/>
              <a:gdLst/>
              <a:ahLst/>
              <a:cxnLst/>
              <a:rect l="l" t="t" r="r" b="b"/>
              <a:pathLst>
                <a:path w="776192" h="672275">
                  <a:moveTo>
                    <a:pt x="317754" y="54197"/>
                  </a:moveTo>
                  <a:cubicBezTo>
                    <a:pt x="30861" y="550736"/>
                    <a:pt x="30861" y="550736"/>
                    <a:pt x="30861" y="550736"/>
                  </a:cubicBezTo>
                  <a:cubicBezTo>
                    <a:pt x="0" y="604933"/>
                    <a:pt x="39052" y="672275"/>
                    <a:pt x="101441" y="672275"/>
                  </a:cubicBezTo>
                  <a:cubicBezTo>
                    <a:pt x="674656" y="672275"/>
                    <a:pt x="674656" y="672275"/>
                    <a:pt x="674656" y="672275"/>
                  </a:cubicBezTo>
                  <a:cubicBezTo>
                    <a:pt x="737711" y="672275"/>
                    <a:pt x="776192" y="604933"/>
                    <a:pt x="745331" y="550736"/>
                  </a:cubicBezTo>
                  <a:cubicBezTo>
                    <a:pt x="458438" y="54197"/>
                    <a:pt x="458438" y="54197"/>
                    <a:pt x="458438" y="54197"/>
                  </a:cubicBezTo>
                  <a:cubicBezTo>
                    <a:pt x="427482" y="0"/>
                    <a:pt x="349282" y="0"/>
                    <a:pt x="317754" y="54197"/>
                  </a:cubicBezTo>
                  <a:close/>
                </a:path>
              </a:pathLst>
            </a:custGeom>
            <a:solidFill>
              <a:srgbClr val="6C92C0">
                <a:alpha val="68000"/>
              </a:srgbClr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-57340" y="361759"/>
              <a:ext cx="857345" cy="742664"/>
            </a:xfrm>
            <a:custGeom>
              <a:avLst/>
              <a:gdLst/>
              <a:ahLst/>
              <a:cxnLst/>
              <a:rect l="l" t="t" r="r" b="b"/>
              <a:pathLst>
                <a:path w="857345" h="742664">
                  <a:moveTo>
                    <a:pt x="350996" y="59912"/>
                  </a:moveTo>
                  <a:cubicBezTo>
                    <a:pt x="34100" y="608362"/>
                    <a:pt x="34100" y="608362"/>
                    <a:pt x="34100" y="608362"/>
                  </a:cubicBezTo>
                  <a:cubicBezTo>
                    <a:pt x="0" y="668179"/>
                    <a:pt x="43148" y="742664"/>
                    <a:pt x="112109" y="742664"/>
                  </a:cubicBezTo>
                  <a:cubicBezTo>
                    <a:pt x="745236" y="742664"/>
                    <a:pt x="745236" y="742664"/>
                    <a:pt x="745236" y="742664"/>
                  </a:cubicBezTo>
                  <a:cubicBezTo>
                    <a:pt x="814864" y="742664"/>
                    <a:pt x="857345" y="668179"/>
                    <a:pt x="823246" y="608362"/>
                  </a:cubicBezTo>
                  <a:cubicBezTo>
                    <a:pt x="506349" y="59912"/>
                    <a:pt x="506349" y="59912"/>
                    <a:pt x="506349" y="59912"/>
                  </a:cubicBezTo>
                  <a:cubicBezTo>
                    <a:pt x="472154" y="0"/>
                    <a:pt x="385858" y="0"/>
                    <a:pt x="350996" y="59912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2535079" y="1306068"/>
            <a:ext cx="6592728" cy="3316891"/>
            <a:chOff x="2535079" y="1306068"/>
            <a:chExt cx="6592728" cy="3316891"/>
          </a:xfrm>
        </p:grpSpPr>
        <p:sp>
          <p:nvSpPr>
            <p:cNvPr id="9" name="Rectangle 9"/>
            <p:cNvSpPr/>
            <p:nvPr/>
          </p:nvSpPr>
          <p:spPr>
            <a:xfrm>
              <a:off x="2535079" y="1306068"/>
              <a:ext cx="6573488" cy="331689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9D9D9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427125" y="1848231"/>
              <a:ext cx="3839908" cy="31661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2744248" y="1815370"/>
              <a:ext cx="1884617" cy="2285404"/>
              <a:chOff x="2744248" y="1815370"/>
              <a:chExt cx="1884617" cy="2285404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2744248" y="1815370"/>
                <a:ext cx="1884617" cy="370879"/>
                <a:chOff x="2744248" y="1815370"/>
                <a:chExt cx="1884617" cy="370879"/>
              </a:xfrm>
            </p:grpSpPr>
            <p:sp>
              <p:nvSpPr>
                <p:cNvPr id="11" name="Rectangle 11"/>
                <p:cNvSpPr/>
                <p:nvPr/>
              </p:nvSpPr>
              <p:spPr>
                <a:xfrm>
                  <a:off x="2744248" y="1815370"/>
                  <a:ext cx="1884617" cy="351663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2815371" y="1861180"/>
                  <a:ext cx="1608585" cy="3250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00" b="1" dirty="0">
                      <a:solidFill>
                        <a:srgbClr val="404040"/>
                      </a:solidFill>
                      <a:latin typeface="印品黑体"/>
                      <a:ea typeface="Microsoft YaHei"/>
                      <a:cs typeface="印品黑体"/>
                    </a:rPr>
                    <a:t>经营活动现金流</a:t>
                  </a:r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2744248" y="2453640"/>
                <a:ext cx="1884617" cy="370784"/>
                <a:chOff x="2744248" y="2453640"/>
                <a:chExt cx="1884617" cy="370784"/>
              </a:xfrm>
            </p:grpSpPr>
            <p:sp>
              <p:nvSpPr>
                <p:cNvPr id="14" name="Rectangle 14"/>
                <p:cNvSpPr/>
                <p:nvPr/>
              </p:nvSpPr>
              <p:spPr>
                <a:xfrm>
                  <a:off x="2744248" y="2453640"/>
                  <a:ext cx="1884617" cy="351663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2815371" y="2499355"/>
                  <a:ext cx="1608585" cy="3250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00" b="1" dirty="0">
                      <a:solidFill>
                        <a:srgbClr val="404040"/>
                      </a:solidFill>
                      <a:latin typeface="印品黑体"/>
                      <a:ea typeface="Microsoft YaHei"/>
                      <a:cs typeface="印品黑体"/>
                    </a:rPr>
                    <a:t>经营活动现金流</a:t>
                  </a:r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2744248" y="3091815"/>
                <a:ext cx="1884617" cy="370784"/>
                <a:chOff x="2744248" y="3091815"/>
                <a:chExt cx="1884617" cy="370784"/>
              </a:xfrm>
            </p:grpSpPr>
            <p:sp>
              <p:nvSpPr>
                <p:cNvPr id="17" name="Rectangle 17"/>
                <p:cNvSpPr/>
                <p:nvPr/>
              </p:nvSpPr>
              <p:spPr>
                <a:xfrm>
                  <a:off x="2744248" y="3091815"/>
                  <a:ext cx="1884617" cy="351663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2815371" y="3137530"/>
                  <a:ext cx="1608585" cy="3250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00" b="1" dirty="0">
                      <a:solidFill>
                        <a:srgbClr val="404040"/>
                      </a:solidFill>
                      <a:latin typeface="印品黑体"/>
                      <a:ea typeface="Microsoft YaHei"/>
                      <a:cs typeface="印品黑体"/>
                    </a:rPr>
                    <a:t>经营活动现金流</a:t>
                  </a:r>
                </a:p>
              </p:txBody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2744248" y="3729990"/>
                <a:ext cx="1884617" cy="370784"/>
                <a:chOff x="2744248" y="3729990"/>
                <a:chExt cx="1884617" cy="370784"/>
              </a:xfrm>
            </p:grpSpPr>
            <p:sp>
              <p:nvSpPr>
                <p:cNvPr id="20" name="Rectangle 20"/>
                <p:cNvSpPr/>
                <p:nvPr/>
              </p:nvSpPr>
              <p:spPr>
                <a:xfrm>
                  <a:off x="2744248" y="3729990"/>
                  <a:ext cx="1884617" cy="351663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2815371" y="3775705"/>
                  <a:ext cx="1608585" cy="3250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600" b="1" dirty="0">
                      <a:solidFill>
                        <a:srgbClr val="404040"/>
                      </a:solidFill>
                      <a:latin typeface="印品黑体"/>
                      <a:ea typeface="Microsoft YaHei"/>
                      <a:cs typeface="印品黑体"/>
                    </a:rPr>
                    <a:t>经营活动现金流</a:t>
                  </a:r>
                </a:p>
              </p:txBody>
            </p:sp>
          </p:grpSp>
        </p:grpSp>
        <p:sp>
          <p:nvSpPr>
            <p:cNvPr id="24" name="Rectangle 24"/>
            <p:cNvSpPr/>
            <p:nvPr/>
          </p:nvSpPr>
          <p:spPr>
            <a:xfrm>
              <a:off x="4427125" y="2486596"/>
              <a:ext cx="3839908" cy="31661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27125" y="3125057"/>
              <a:ext cx="3839908" cy="31661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27125" y="3763518"/>
              <a:ext cx="3839908" cy="31661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27220" y="1848231"/>
              <a:ext cx="2049018" cy="316611"/>
            </a:xfrm>
            <a:prstGeom prst="rect">
              <a:avLst/>
            </a:prstGeom>
            <a:solidFill>
              <a:srgbClr val="6C92C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27220" y="2486596"/>
              <a:ext cx="2682240" cy="316611"/>
            </a:xfrm>
            <a:prstGeom prst="rect">
              <a:avLst/>
            </a:prstGeom>
            <a:solidFill>
              <a:srgbClr val="48A2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27220" y="3125057"/>
              <a:ext cx="1613725" cy="316611"/>
            </a:xfrm>
            <a:prstGeom prst="rect">
              <a:avLst/>
            </a:prstGeom>
            <a:solidFill>
              <a:srgbClr val="6C92C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427220" y="3763518"/>
              <a:ext cx="3216497" cy="316611"/>
            </a:xfrm>
            <a:prstGeom prst="rect">
              <a:avLst/>
            </a:prstGeom>
            <a:solidFill>
              <a:srgbClr val="48A2A0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8312277" y="1825276"/>
              <a:ext cx="815530" cy="2244876"/>
              <a:chOff x="8312277" y="1825276"/>
              <a:chExt cx="815530" cy="2244876"/>
            </a:xfrm>
          </p:grpSpPr>
          <p:grpSp>
            <p:nvGrpSpPr>
              <p:cNvPr id="33" name="Group 33"/>
              <p:cNvGrpSpPr/>
              <p:nvPr/>
            </p:nvGrpSpPr>
            <p:grpSpPr>
              <a:xfrm>
                <a:off x="8312277" y="1825276"/>
                <a:ext cx="815530" cy="330256"/>
                <a:chOff x="8312277" y="1825276"/>
                <a:chExt cx="815530" cy="330256"/>
              </a:xfrm>
            </p:grpSpPr>
            <p:sp>
              <p:nvSpPr>
                <p:cNvPr id="31" name="Rectangle 31"/>
                <p:cNvSpPr/>
                <p:nvPr/>
              </p:nvSpPr>
              <p:spPr>
                <a:xfrm>
                  <a:off x="8312277" y="1825276"/>
                  <a:ext cx="815530" cy="319659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8385934" y="1871001"/>
                  <a:ext cx="343660" cy="2845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00" dirty="0">
                      <a:solidFill>
                        <a:srgbClr val="404040"/>
                      </a:solidFill>
                      <a:latin typeface="印品黑体"/>
                      <a:ea typeface="Microsoft YaHei"/>
                      <a:cs typeface="印品黑体"/>
                    </a:rPr>
                    <a:t>72%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8312277" y="2463546"/>
                <a:ext cx="815530" cy="330161"/>
                <a:chOff x="8312277" y="2463546"/>
                <a:chExt cx="815530" cy="330161"/>
              </a:xfrm>
            </p:grpSpPr>
            <p:sp>
              <p:nvSpPr>
                <p:cNvPr id="34" name="Rectangle 34"/>
                <p:cNvSpPr/>
                <p:nvPr/>
              </p:nvSpPr>
              <p:spPr>
                <a:xfrm>
                  <a:off x="8312277" y="2463546"/>
                  <a:ext cx="815530" cy="319659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385934" y="2509176"/>
                  <a:ext cx="343660" cy="2845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00" dirty="0">
                      <a:solidFill>
                        <a:srgbClr val="404040"/>
                      </a:solidFill>
                      <a:latin typeface="印品黑体"/>
                      <a:ea typeface="Microsoft YaHei"/>
                      <a:cs typeface="印品黑体"/>
                    </a:rPr>
                    <a:t>83%</a:t>
                  </a: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8312277" y="3101721"/>
                <a:ext cx="815530" cy="330161"/>
                <a:chOff x="8312277" y="3101721"/>
                <a:chExt cx="815530" cy="330161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8312277" y="3101721"/>
                  <a:ext cx="815530" cy="319659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385934" y="3147351"/>
                  <a:ext cx="343660" cy="2845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00" dirty="0">
                      <a:solidFill>
                        <a:srgbClr val="404040"/>
                      </a:solidFill>
                      <a:latin typeface="印品黑体"/>
                      <a:ea typeface="Microsoft YaHei"/>
                      <a:cs typeface="印品黑体"/>
                    </a:rPr>
                    <a:t>46%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8312277" y="3739896"/>
                <a:ext cx="815530" cy="330256"/>
                <a:chOff x="8312277" y="3739896"/>
                <a:chExt cx="815530" cy="330256"/>
              </a:xfrm>
            </p:grpSpPr>
            <p:sp>
              <p:nvSpPr>
                <p:cNvPr id="40" name="Rectangle 40"/>
                <p:cNvSpPr/>
                <p:nvPr/>
              </p:nvSpPr>
              <p:spPr>
                <a:xfrm>
                  <a:off x="8312277" y="3739896"/>
                  <a:ext cx="815530" cy="319659"/>
                </a:xfrm>
                <a:prstGeom prst="rect">
                  <a:avLst/>
                </a:prstGeom>
                <a:noFill/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385934" y="3785621"/>
                  <a:ext cx="343660" cy="2845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400" dirty="0">
                      <a:solidFill>
                        <a:srgbClr val="404040"/>
                      </a:solidFill>
                      <a:latin typeface="印品黑体"/>
                      <a:ea typeface="Microsoft YaHei"/>
                      <a:cs typeface="印品黑体"/>
                    </a:rPr>
                    <a:t>90%</a:t>
                  </a:r>
                </a:p>
              </p:txBody>
            </p:sp>
          </p:grpSp>
        </p:grpSp>
      </p:grpSp>
      <p:grpSp>
        <p:nvGrpSpPr>
          <p:cNvPr id="48" name="Group 48"/>
          <p:cNvGrpSpPr/>
          <p:nvPr/>
        </p:nvGrpSpPr>
        <p:grpSpPr>
          <a:xfrm>
            <a:off x="752570" y="5081016"/>
            <a:ext cx="14486920" cy="1144619"/>
            <a:chOff x="752570" y="5081016"/>
            <a:chExt cx="14486920" cy="1144619"/>
          </a:xfrm>
        </p:grpSpPr>
        <p:sp>
          <p:nvSpPr>
            <p:cNvPr id="45" name="Rectangle 45"/>
            <p:cNvSpPr/>
            <p:nvPr/>
          </p:nvSpPr>
          <p:spPr>
            <a:xfrm>
              <a:off x="752570" y="5081016"/>
              <a:ext cx="10677430" cy="1144619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6227" y="5126741"/>
              <a:ext cx="14413263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04040"/>
                  </a:solidFill>
                  <a:latin typeface="印品黑体"/>
                  <a:ea typeface="Microsoft YaHei"/>
                  <a:cs typeface="印品黑体"/>
                </a:rPr>
                <a:t>经营活动现金流健康，主营业务回款能力较强，但需关注应收账款周转效率对现金流稳定性的影响。自由现金流比率处于中等偏上水平，为资本开支和偿债提供一定缓冲空间。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227" y="5571273"/>
              <a:ext cx="10986890" cy="2845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04040"/>
                  </a:solidFill>
                  <a:latin typeface="印品黑体"/>
                  <a:ea typeface="Microsoft YaHei"/>
                  <a:cs typeface="印品黑体"/>
                </a:rPr>
                <a:t>盈利现金保障倍数为46%，提示利润含金量仍有提升空间，需加强利润向现金的转化能力，降低账面利润与实际现金流之间的偏离度。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244620" y="63056"/>
            <a:ext cx="4840414" cy="885158"/>
            <a:chOff x="7244620" y="63056"/>
            <a:chExt cx="4840414" cy="885158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44620" y="63056"/>
              <a:ext cx="4840414" cy="885158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44" grpId="0"/>
      <p:bldP spid="48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-947738" y="3856006"/>
            <a:ext cx="3247169" cy="3523107"/>
            <a:chOff x="-947738" y="3856006"/>
            <a:chExt cx="3247169" cy="3523107"/>
          </a:xfrm>
        </p:grpSpPr>
        <p:sp>
          <p:nvSpPr>
            <p:cNvPr id="5" name="Freeform 5"/>
            <p:cNvSpPr/>
            <p:nvPr/>
          </p:nvSpPr>
          <p:spPr>
            <a:xfrm>
              <a:off x="-947738" y="3856006"/>
              <a:ext cx="2656046" cy="2582132"/>
            </a:xfrm>
            <a:custGeom>
              <a:avLst/>
              <a:gdLst/>
              <a:ahLst/>
              <a:cxnLst/>
              <a:rect l="l" t="t" r="r" b="b"/>
              <a:pathLst>
                <a:path w="2656046" h="2582132">
                  <a:moveTo>
                    <a:pt x="1158716" y="12668"/>
                  </a:moveTo>
                  <a:cubicBezTo>
                    <a:pt x="1233392" y="20288"/>
                    <a:pt x="1306163" y="56293"/>
                    <a:pt x="1358932" y="123444"/>
                  </a:cubicBezTo>
                  <a:cubicBezTo>
                    <a:pt x="1358932" y="123444"/>
                    <a:pt x="1358932" y="123444"/>
                    <a:pt x="2544413" y="1613345"/>
                  </a:cubicBezTo>
                  <a:lnTo>
                    <a:pt x="2656046" y="1753648"/>
                  </a:lnTo>
                  <a:lnTo>
                    <a:pt x="2656046" y="2136267"/>
                  </a:lnTo>
                  <a:lnTo>
                    <a:pt x="2618804" y="2175796"/>
                  </a:lnTo>
                  <a:cubicBezTo>
                    <a:pt x="2579370" y="2208181"/>
                    <a:pt x="2530221" y="2231041"/>
                    <a:pt x="2473261" y="2239518"/>
                  </a:cubicBezTo>
                  <a:cubicBezTo>
                    <a:pt x="2473261" y="2239518"/>
                    <a:pt x="2473261" y="2239518"/>
                    <a:pt x="403003" y="2548509"/>
                  </a:cubicBezTo>
                  <a:cubicBezTo>
                    <a:pt x="177546" y="2582132"/>
                    <a:pt x="0" y="2359724"/>
                    <a:pt x="82391" y="2147316"/>
                  </a:cubicBezTo>
                  <a:cubicBezTo>
                    <a:pt x="82391" y="2147316"/>
                    <a:pt x="82391" y="2147316"/>
                    <a:pt x="851059" y="199263"/>
                  </a:cubicBezTo>
                  <a:cubicBezTo>
                    <a:pt x="903922" y="66294"/>
                    <a:pt x="1034129" y="0"/>
                    <a:pt x="1158716" y="12668"/>
                  </a:cubicBezTo>
                  <a:close/>
                </a:path>
              </a:pathLst>
            </a:custGeom>
            <a:solidFill>
              <a:srgbClr val="6C92C0">
                <a:alpha val="66000"/>
              </a:srgbClr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-283654" y="4149757"/>
              <a:ext cx="2583085" cy="3229356"/>
            </a:xfrm>
            <a:custGeom>
              <a:avLst/>
              <a:gdLst/>
              <a:ahLst/>
              <a:cxnLst/>
              <a:rect l="l" t="t" r="r" b="b"/>
              <a:pathLst>
                <a:path w="2583085" h="3229356">
                  <a:moveTo>
                    <a:pt x="2583085" y="0"/>
                  </a:moveTo>
                  <a:lnTo>
                    <a:pt x="2583085" y="3229356"/>
                  </a:lnTo>
                  <a:lnTo>
                    <a:pt x="1817846" y="3229356"/>
                  </a:lnTo>
                  <a:lnTo>
                    <a:pt x="1550480" y="3097530"/>
                  </a:lnTo>
                  <a:cubicBezTo>
                    <a:pt x="1231964" y="2940368"/>
                    <a:pt x="880491" y="2767012"/>
                    <a:pt x="492633" y="2575750"/>
                  </a:cubicBezTo>
                  <a:cubicBezTo>
                    <a:pt x="42101" y="2353532"/>
                    <a:pt x="0" y="1727740"/>
                    <a:pt x="415862" y="1446657"/>
                  </a:cubicBezTo>
                  <a:cubicBezTo>
                    <a:pt x="415862" y="1446657"/>
                    <a:pt x="415862" y="1446657"/>
                    <a:pt x="2474690" y="72295"/>
                  </a:cubicBezTo>
                  <a:close/>
                </a:path>
              </a:pathLst>
            </a:custGeom>
            <a:solidFill>
              <a:srgbClr val="48A2A0">
                <a:alpha val="45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87040" y="-1443800"/>
            <a:ext cx="3204401" cy="4893660"/>
            <a:chOff x="9087040" y="-1443800"/>
            <a:chExt cx="3204401" cy="4893660"/>
          </a:xfrm>
        </p:grpSpPr>
        <p:sp>
          <p:nvSpPr>
            <p:cNvPr id="8" name="Freeform 8"/>
            <p:cNvSpPr/>
            <p:nvPr/>
          </p:nvSpPr>
          <p:spPr>
            <a:xfrm>
              <a:off x="9087040" y="-1443800"/>
              <a:ext cx="3204401" cy="3482054"/>
            </a:xfrm>
            <a:custGeom>
              <a:avLst/>
              <a:gdLst/>
              <a:ahLst/>
              <a:cxnLst/>
              <a:rect l="l" t="t" r="r" b="b"/>
              <a:pathLst>
                <a:path w="3204401" h="3482054">
                  <a:moveTo>
                    <a:pt x="0" y="0"/>
                  </a:moveTo>
                  <a:lnTo>
                    <a:pt x="45911" y="11620"/>
                  </a:lnTo>
                  <a:cubicBezTo>
                    <a:pt x="152590" y="46101"/>
                    <a:pt x="252793" y="109633"/>
                    <a:pt x="334899" y="204502"/>
                  </a:cubicBezTo>
                  <a:cubicBezTo>
                    <a:pt x="334899" y="204502"/>
                    <a:pt x="334899" y="204502"/>
                    <a:pt x="3098673" y="3361277"/>
                  </a:cubicBezTo>
                  <a:lnTo>
                    <a:pt x="3204401" y="3482054"/>
                  </a:lnTo>
                  <a:lnTo>
                    <a:pt x="0" y="3482054"/>
                  </a:lnTo>
                  <a:close/>
                </a:path>
              </a:pathLst>
            </a:custGeom>
            <a:solidFill>
              <a:srgbClr val="6C92C0">
                <a:alpha val="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102280" y="-843629"/>
              <a:ext cx="1443323" cy="4293489"/>
            </a:xfrm>
            <a:custGeom>
              <a:avLst/>
              <a:gdLst/>
              <a:ahLst/>
              <a:cxnLst/>
              <a:rect l="l" t="t" r="r" b="b"/>
              <a:pathLst>
                <a:path w="1443323" h="4293489">
                  <a:moveTo>
                    <a:pt x="898970" y="2286"/>
                  </a:moveTo>
                  <a:cubicBezTo>
                    <a:pt x="1208342" y="18002"/>
                    <a:pt x="1443323" y="324326"/>
                    <a:pt x="1343787" y="640842"/>
                  </a:cubicBezTo>
                  <a:cubicBezTo>
                    <a:pt x="1343787" y="640842"/>
                    <a:pt x="1343787" y="640842"/>
                    <a:pt x="316801" y="3971830"/>
                  </a:cubicBezTo>
                  <a:cubicBezTo>
                    <a:pt x="266986" y="4130040"/>
                    <a:pt x="151067" y="4239578"/>
                    <a:pt x="14478" y="4289203"/>
                  </a:cubicBezTo>
                  <a:lnTo>
                    <a:pt x="0" y="4293489"/>
                  </a:lnTo>
                  <a:lnTo>
                    <a:pt x="0" y="187738"/>
                  </a:lnTo>
                  <a:lnTo>
                    <a:pt x="164306" y="150304"/>
                  </a:lnTo>
                  <a:cubicBezTo>
                    <a:pt x="350996" y="107823"/>
                    <a:pt x="550164" y="62484"/>
                    <a:pt x="762572" y="14097"/>
                  </a:cubicBezTo>
                  <a:cubicBezTo>
                    <a:pt x="809053" y="3715"/>
                    <a:pt x="854773" y="0"/>
                    <a:pt x="898970" y="2286"/>
                  </a:cubicBezTo>
                  <a:close/>
                </a:path>
              </a:pathLst>
            </a:custGeom>
            <a:solidFill>
              <a:srgbClr val="6C92C0">
                <a:alpha val="78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734645" y="-218884"/>
              <a:ext cx="1191863" cy="1032224"/>
            </a:xfrm>
            <a:custGeom>
              <a:avLst/>
              <a:gdLst/>
              <a:ahLst/>
              <a:cxnLst/>
              <a:rect l="l" t="t" r="r" b="b"/>
              <a:pathLst>
                <a:path w="1191863" h="1032224">
                  <a:moveTo>
                    <a:pt x="487966" y="83153"/>
                  </a:moveTo>
                  <a:cubicBezTo>
                    <a:pt x="47435" y="845534"/>
                    <a:pt x="47435" y="845534"/>
                    <a:pt x="47435" y="845534"/>
                  </a:cubicBezTo>
                  <a:cubicBezTo>
                    <a:pt x="0" y="928783"/>
                    <a:pt x="60007" y="1032224"/>
                    <a:pt x="155924" y="1032224"/>
                  </a:cubicBezTo>
                  <a:cubicBezTo>
                    <a:pt x="1035939" y="1032224"/>
                    <a:pt x="1035939" y="1032224"/>
                    <a:pt x="1035939" y="1032224"/>
                  </a:cubicBezTo>
                  <a:cubicBezTo>
                    <a:pt x="1132808" y="1032224"/>
                    <a:pt x="1191863" y="928783"/>
                    <a:pt x="1144429" y="845534"/>
                  </a:cubicBezTo>
                  <a:cubicBezTo>
                    <a:pt x="703898" y="83153"/>
                    <a:pt x="703898" y="83153"/>
                    <a:pt x="703898" y="83153"/>
                  </a:cubicBezTo>
                  <a:cubicBezTo>
                    <a:pt x="656463" y="0"/>
                    <a:pt x="536353" y="0"/>
                    <a:pt x="487966" y="83153"/>
                  </a:cubicBezTo>
                  <a:close/>
                </a:path>
              </a:pathLst>
            </a:custGeom>
            <a:solidFill>
              <a:srgbClr val="48A2A0">
                <a:alpha val="68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749647" y="1837658"/>
            <a:ext cx="8692706" cy="1317022"/>
            <a:chOff x="1749647" y="1837658"/>
            <a:chExt cx="8692706" cy="1317022"/>
          </a:xfrm>
        </p:grpSpPr>
        <p:sp>
          <p:nvSpPr>
            <p:cNvPr id="12" name="Rectangle 12"/>
            <p:cNvSpPr/>
            <p:nvPr/>
          </p:nvSpPr>
          <p:spPr>
            <a:xfrm>
              <a:off x="1749647" y="1837658"/>
              <a:ext cx="8692706" cy="108842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227195" y="2057400"/>
              <a:ext cx="3737610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dirty="0">
                  <a:solidFill>
                    <a:srgbClr val="48A2A0"/>
                  </a:solidFill>
                  <a:latin typeface="微软雅黑"/>
                  <a:ea typeface="Microsoft YaHei"/>
                  <a:cs typeface="微软雅黑"/>
                </a:rPr>
                <a:t>总结与建议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3862" y="3674269"/>
            <a:ext cx="2550795" cy="416052"/>
            <a:chOff x="6513862" y="3674269"/>
            <a:chExt cx="2550795" cy="416052"/>
          </a:xfrm>
        </p:grpSpPr>
        <p:grpSp>
          <p:nvGrpSpPr>
            <p:cNvPr id="17" name="Group 17"/>
            <p:cNvGrpSpPr/>
            <p:nvPr/>
          </p:nvGrpSpPr>
          <p:grpSpPr>
            <a:xfrm>
              <a:off x="7058882" y="3674269"/>
              <a:ext cx="2005775" cy="416052"/>
              <a:chOff x="7058882" y="3674269"/>
              <a:chExt cx="2005775" cy="416052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7058882" y="3674269"/>
                <a:ext cx="2005775" cy="416052"/>
              </a:xfrm>
              <a:prstGeom prst="roundRect">
                <a:avLst>
                  <a:gd name="adj" fmla="val 50000"/>
                </a:avLst>
              </a:prstGeom>
              <a:solidFill>
                <a:srgbClr val="6C92C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438805" y="3760370"/>
                <a:ext cx="1245929" cy="325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dirty="0">
                    <a:solidFill>
                      <a:srgbClr val="FFFFFF"/>
                    </a:solidFill>
                    <a:latin typeface="印品黑体"/>
                    <a:ea typeface="Microsoft YaHei"/>
                    <a:cs typeface="印品黑体"/>
                  </a:rPr>
                  <a:t>汇报人：XXX</a:t>
                </a:r>
              </a:p>
            </p:txBody>
          </p:sp>
        </p:grpSp>
        <p:sp>
          <p:nvSpPr>
            <p:cNvPr id="18" name="Ellipse 18"/>
            <p:cNvSpPr/>
            <p:nvPr/>
          </p:nvSpPr>
          <p:spPr>
            <a:xfrm>
              <a:off x="6513862" y="3674269"/>
              <a:ext cx="445580" cy="413194"/>
            </a:xfrm>
            <a:prstGeom prst="ellipse">
              <a:avLst/>
            </a:prstGeom>
            <a:solidFill>
              <a:srgbClr val="48A2A0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3943064" y="6087428"/>
            <a:ext cx="4305872" cy="457295"/>
            <a:chOff x="3943064" y="6087428"/>
            <a:chExt cx="4305872" cy="457295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3064" y="6087428"/>
              <a:ext cx="4305872" cy="457295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>
            <a:off x="-95" y="70294"/>
            <a:ext cx="4840414" cy="885158"/>
            <a:chOff x="-95" y="70294"/>
            <a:chExt cx="4840414" cy="885158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95" y="70294"/>
              <a:ext cx="4840414" cy="885158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2966752" y="3671697"/>
            <a:ext cx="2550795" cy="416052"/>
            <a:chOff x="2966752" y="3671697"/>
            <a:chExt cx="2550795" cy="416052"/>
          </a:xfrm>
        </p:grpSpPr>
        <p:grpSp>
          <p:nvGrpSpPr>
            <p:cNvPr id="26" name="Group 26"/>
            <p:cNvGrpSpPr/>
            <p:nvPr/>
          </p:nvGrpSpPr>
          <p:grpSpPr>
            <a:xfrm>
              <a:off x="3511772" y="3671697"/>
              <a:ext cx="2005775" cy="416052"/>
              <a:chOff x="3511772" y="3671697"/>
              <a:chExt cx="2005775" cy="416052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511772" y="3671697"/>
                <a:ext cx="2005775" cy="416052"/>
              </a:xfrm>
              <a:prstGeom prst="roundRect">
                <a:avLst>
                  <a:gd name="adj" fmla="val 50000"/>
                </a:avLst>
              </a:prstGeom>
              <a:solidFill>
                <a:srgbClr val="6C92C0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891695" y="3757798"/>
                <a:ext cx="1245929" cy="325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00" dirty="0">
                    <a:solidFill>
                      <a:srgbClr val="FFFFFF"/>
                    </a:solidFill>
                    <a:latin typeface="印品黑体"/>
                    <a:ea typeface="Microsoft YaHei"/>
                    <a:cs typeface="印品黑体"/>
                  </a:rPr>
                  <a:t>汇报人：XXX</a:t>
                </a:r>
              </a:p>
            </p:txBody>
          </p:sp>
        </p:grpSp>
        <p:sp>
          <p:nvSpPr>
            <p:cNvPr id="27" name="Ellipse 27"/>
            <p:cNvSpPr/>
            <p:nvPr/>
          </p:nvSpPr>
          <p:spPr>
            <a:xfrm>
              <a:off x="2966752" y="3671697"/>
              <a:ext cx="445580" cy="413194"/>
            </a:xfrm>
            <a:prstGeom prst="ellipse">
              <a:avLst/>
            </a:prstGeom>
            <a:solidFill>
              <a:srgbClr val="48A2A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4" grpId="0"/>
      <p:bldP spid="19" grpId="0"/>
      <p:bldP spid="21" grpId="0"/>
      <p:bldP spid="23" grpId="0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