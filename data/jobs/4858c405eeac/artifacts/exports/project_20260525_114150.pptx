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大家好，欢迎来到今天的分享。今天我要为大家介绍一种全新的数据管理思路，从实体、属性到元数据，层层递进，帮助我们更灵活地理解和组织复杂世界中的信息。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从最基础的三个概念讲起。首先是实体，也就是我们关心的核心对象，比如一辆车、一台设备或一个传感器。每个实体都有它的属性，比如车牌号、温度读数或者运行状态。而元数据，则是描述属性本身的数据，比如这个属性的单位、采集时间、精度等等。从粗到细，从实体到属性再到元数据，构成了一个完整的信息分层体系，让数据不再是孤立的数字，而是有血有肉的知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，我们来看看这个模型在实际中的应用。在智慧城市交通监控中，不同部门——交警、市政、环保——看到的虽然是同一个实体，但关注的是不同的属性和上下文。在工业IoT设备监控中，我们可以按需聚合设备数据，只看温度、只看功耗，或者综合所有元数据做预测性维护。再到智能农业，传感器、土壤湿度、气象数据，同样可以灵活组合。这套方法的核心价值，就是让数据管理更灵活、更精准、更贴近真实业务。谢谢大家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ba8f9f2afe064bd.jpg"/>
  <Relationship Id="rId3" Type="http://schemas.openxmlformats.org/officeDocument/2006/relationships/image" Target="../media/image_5df81132dc4e0206.png"/>
  <Relationship Id="rId4" Type="http://schemas.openxmlformats.org/officeDocument/2006/relationships/image" Target="../media/image_14759fffdf10fc72.png"/>
  <Relationship Id="rId5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ba8f9f2afe064bd.jpg"/>
  <Relationship Id="rId3" Type="http://schemas.openxmlformats.org/officeDocument/2006/relationships/image" Target="../media/image_14759fffdf10fc72.pn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ba8f9f2afe064bd.jpg"/>
  <Relationship Id="rId3" Type="http://schemas.openxmlformats.org/officeDocument/2006/relationships/image" Target="../media/image_14759fffdf10fc72.png"/>
  <Relationship Id="rId4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-947738" y="3856006"/>
            <a:ext cx="3247169" cy="3523107"/>
            <a:chOff x="-947738" y="3856006"/>
            <a:chExt cx="3247169" cy="3523107"/>
          </a:xfrm>
        </p:grpSpPr>
        <p:sp>
          <p:nvSpPr>
            <p:cNvPr id="5" name="Freeform 5"/>
            <p:cNvSpPr/>
            <p:nvPr/>
          </p:nvSpPr>
          <p:spPr>
            <a:xfrm>
              <a:off x="-947738" y="3856006"/>
              <a:ext cx="2656046" cy="2582132"/>
            </a:xfrm>
            <a:custGeom>
              <a:avLst/>
              <a:gdLst/>
              <a:ahLst/>
              <a:cxnLst/>
              <a:rect l="l" t="t" r="r" b="b"/>
              <a:pathLst>
                <a:path w="2656046" h="2582132">
                  <a:moveTo>
                    <a:pt x="1158716" y="12668"/>
                  </a:moveTo>
                  <a:cubicBezTo>
                    <a:pt x="1233392" y="20288"/>
                    <a:pt x="1306163" y="56293"/>
                    <a:pt x="1358932" y="123444"/>
                  </a:cubicBezTo>
                  <a:cubicBezTo>
                    <a:pt x="1358932" y="123444"/>
                    <a:pt x="1358932" y="123444"/>
                    <a:pt x="2544413" y="1613345"/>
                  </a:cubicBezTo>
                  <a:lnTo>
                    <a:pt x="2656046" y="1753648"/>
                  </a:lnTo>
                  <a:lnTo>
                    <a:pt x="2656046" y="2136267"/>
                  </a:lnTo>
                  <a:lnTo>
                    <a:pt x="2618804" y="2175796"/>
                  </a:lnTo>
                  <a:cubicBezTo>
                    <a:pt x="2579370" y="2208181"/>
                    <a:pt x="2530221" y="2231041"/>
                    <a:pt x="2473261" y="2239518"/>
                  </a:cubicBezTo>
                  <a:cubicBezTo>
                    <a:pt x="2473261" y="2239518"/>
                    <a:pt x="2473261" y="2239518"/>
                    <a:pt x="403003" y="2548509"/>
                  </a:cubicBezTo>
                  <a:cubicBezTo>
                    <a:pt x="177546" y="2582132"/>
                    <a:pt x="0" y="2359724"/>
                    <a:pt x="82391" y="2147316"/>
                  </a:cubicBezTo>
                  <a:cubicBezTo>
                    <a:pt x="82391" y="2147316"/>
                    <a:pt x="82391" y="2147316"/>
                    <a:pt x="851059" y="199263"/>
                  </a:cubicBezTo>
                  <a:cubicBezTo>
                    <a:pt x="903922" y="66294"/>
                    <a:pt x="1034129" y="0"/>
                    <a:pt x="1158716" y="12668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-283654" y="4149757"/>
              <a:ext cx="2583085" cy="3229356"/>
            </a:xfrm>
            <a:custGeom>
              <a:avLst/>
              <a:gdLst/>
              <a:ahLst/>
              <a:cxnLst/>
              <a:rect l="l" t="t" r="r" b="b"/>
              <a:pathLst>
                <a:path w="2583085" h="3229356">
                  <a:moveTo>
                    <a:pt x="2583085" y="0"/>
                  </a:moveTo>
                  <a:lnTo>
                    <a:pt x="2583085" y="3229356"/>
                  </a:lnTo>
                  <a:lnTo>
                    <a:pt x="1817846" y="3229356"/>
                  </a:lnTo>
                  <a:lnTo>
                    <a:pt x="1550480" y="3097530"/>
                  </a:lnTo>
                  <a:cubicBezTo>
                    <a:pt x="1231964" y="2940368"/>
                    <a:pt x="880491" y="2767012"/>
                    <a:pt x="492633" y="2575750"/>
                  </a:cubicBezTo>
                  <a:cubicBezTo>
                    <a:pt x="42101" y="2353532"/>
                    <a:pt x="0" y="1727740"/>
                    <a:pt x="415862" y="1446657"/>
                  </a:cubicBezTo>
                  <a:cubicBezTo>
                    <a:pt x="415862" y="1446657"/>
                    <a:pt x="415862" y="1446657"/>
                    <a:pt x="2474690" y="72295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087040" y="-1443800"/>
            <a:ext cx="3204401" cy="4893660"/>
            <a:chOff x="9087040" y="-1443800"/>
            <a:chExt cx="3204401" cy="4893660"/>
          </a:xfrm>
        </p:grpSpPr>
        <p:sp>
          <p:nvSpPr>
            <p:cNvPr id="8" name="Freeform 8"/>
            <p:cNvSpPr/>
            <p:nvPr/>
          </p:nvSpPr>
          <p:spPr>
            <a:xfrm>
              <a:off x="9087040" y="-1443800"/>
              <a:ext cx="3204401" cy="3482054"/>
            </a:xfrm>
            <a:custGeom>
              <a:avLst/>
              <a:gdLst/>
              <a:ahLst/>
              <a:cxnLst/>
              <a:rect l="l" t="t" r="r" b="b"/>
              <a:pathLst>
                <a:path w="3204401" h="3482054">
                  <a:moveTo>
                    <a:pt x="0" y="0"/>
                  </a:moveTo>
                  <a:lnTo>
                    <a:pt x="45911" y="11620"/>
                  </a:lnTo>
                  <a:cubicBezTo>
                    <a:pt x="152590" y="46101"/>
                    <a:pt x="252793" y="109633"/>
                    <a:pt x="334899" y="204502"/>
                  </a:cubicBezTo>
                  <a:cubicBezTo>
                    <a:pt x="334899" y="204502"/>
                    <a:pt x="334899" y="204502"/>
                    <a:pt x="3098673" y="3361277"/>
                  </a:cubicBezTo>
                  <a:lnTo>
                    <a:pt x="3204401" y="3482054"/>
                  </a:lnTo>
                  <a:lnTo>
                    <a:pt x="0" y="3482054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102280" y="-843629"/>
              <a:ext cx="1443323" cy="4293489"/>
            </a:xfrm>
            <a:custGeom>
              <a:avLst/>
              <a:gdLst/>
              <a:ahLst/>
              <a:cxnLst/>
              <a:rect l="l" t="t" r="r" b="b"/>
              <a:pathLst>
                <a:path w="1443323" h="4293489">
                  <a:moveTo>
                    <a:pt x="898970" y="2286"/>
                  </a:moveTo>
                  <a:cubicBezTo>
                    <a:pt x="1208342" y="18002"/>
                    <a:pt x="1443323" y="324326"/>
                    <a:pt x="1343787" y="640842"/>
                  </a:cubicBezTo>
                  <a:cubicBezTo>
                    <a:pt x="1343787" y="640842"/>
                    <a:pt x="1343787" y="640842"/>
                    <a:pt x="316801" y="3971830"/>
                  </a:cubicBezTo>
                  <a:cubicBezTo>
                    <a:pt x="266986" y="4130040"/>
                    <a:pt x="151067" y="4239578"/>
                    <a:pt x="14478" y="4289203"/>
                  </a:cubicBezTo>
                  <a:lnTo>
                    <a:pt x="0" y="4293489"/>
                  </a:lnTo>
                  <a:lnTo>
                    <a:pt x="0" y="187738"/>
                  </a:lnTo>
                  <a:lnTo>
                    <a:pt x="164306" y="150304"/>
                  </a:lnTo>
                  <a:cubicBezTo>
                    <a:pt x="350996" y="107823"/>
                    <a:pt x="550164" y="62484"/>
                    <a:pt x="762572" y="14097"/>
                  </a:cubicBezTo>
                  <a:cubicBezTo>
                    <a:pt x="809053" y="3715"/>
                    <a:pt x="854773" y="0"/>
                    <a:pt x="898970" y="2286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9734645" y="-218884"/>
              <a:ext cx="1191863" cy="1032224"/>
            </a:xfrm>
            <a:custGeom>
              <a:avLst/>
              <a:gdLst/>
              <a:ahLst/>
              <a:cxnLst/>
              <a:rect l="l" t="t" r="r" b="b"/>
              <a:pathLst>
                <a:path w="1191863" h="1032224">
                  <a:moveTo>
                    <a:pt x="487966" y="83153"/>
                  </a:moveTo>
                  <a:cubicBezTo>
                    <a:pt x="47435" y="845534"/>
                    <a:pt x="47435" y="845534"/>
                    <a:pt x="47435" y="845534"/>
                  </a:cubicBezTo>
                  <a:cubicBezTo>
                    <a:pt x="0" y="928783"/>
                    <a:pt x="60007" y="1032224"/>
                    <a:pt x="155924" y="1032224"/>
                  </a:cubicBezTo>
                  <a:cubicBezTo>
                    <a:pt x="1035939" y="1032224"/>
                    <a:pt x="1035939" y="1032224"/>
                    <a:pt x="1035939" y="1032224"/>
                  </a:cubicBezTo>
                  <a:cubicBezTo>
                    <a:pt x="1132808" y="1032224"/>
                    <a:pt x="1191863" y="928783"/>
                    <a:pt x="1144429" y="845534"/>
                  </a:cubicBezTo>
                  <a:cubicBezTo>
                    <a:pt x="703898" y="83153"/>
                    <a:pt x="703898" y="83153"/>
                    <a:pt x="703898" y="83153"/>
                  </a:cubicBezTo>
                  <a:cubicBezTo>
                    <a:pt x="656463" y="0"/>
                    <a:pt x="536353" y="0"/>
                    <a:pt x="487966" y="83153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508855" y="1837658"/>
            <a:ext cx="9174290" cy="1317022"/>
            <a:chOff x="1508855" y="1837658"/>
            <a:chExt cx="9174290" cy="1317022"/>
          </a:xfrm>
        </p:grpSpPr>
        <p:sp>
          <p:nvSpPr>
            <p:cNvPr id="12" name="Rectangle 12"/>
            <p:cNvSpPr/>
            <p:nvPr/>
          </p:nvSpPr>
          <p:spPr>
            <a:xfrm>
              <a:off x="1749647" y="1837658"/>
              <a:ext cx="8692706" cy="108842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08855" y="2057400"/>
              <a:ext cx="9174290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dirty="0">
                  <a:solidFill>
                    <a:srgbClr val="48A2A0"/>
                  </a:solidFill>
                  <a:latin typeface="微软雅黑"/>
                  <a:ea typeface="Microsoft YaHei"/>
                  <a:cs typeface="微软雅黑"/>
                </a:rPr>
                <a:t>人工智能赋能
商业创新报告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13862" y="3674269"/>
            <a:ext cx="2550795" cy="416052"/>
            <a:chOff x="6513862" y="3674269"/>
            <a:chExt cx="2550795" cy="416052"/>
          </a:xfrm>
        </p:grpSpPr>
        <p:grpSp>
          <p:nvGrpSpPr>
            <p:cNvPr id="17" name="Group 17"/>
            <p:cNvGrpSpPr/>
            <p:nvPr/>
          </p:nvGrpSpPr>
          <p:grpSpPr>
            <a:xfrm>
              <a:off x="7058882" y="3674269"/>
              <a:ext cx="2005775" cy="416052"/>
              <a:chOff x="7058882" y="3674269"/>
              <a:chExt cx="2005775" cy="416052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7058882" y="3674269"/>
                <a:ext cx="2005775" cy="416052"/>
              </a:xfrm>
              <a:prstGeom prst="roundRect">
                <a:avLst>
                  <a:gd name="adj" fmla="val 50000"/>
                </a:avLst>
              </a:prstGeom>
              <a:solidFill>
                <a:srgbClr val="6C92C0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097482" y="3760370"/>
                <a:ext cx="1928575" cy="325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00" dirty="0">
                    <a:solidFill>
                      <a:srgbClr val="FFFFFF"/>
                    </a:solidFill>
                    <a:latin typeface="印品黑体"/>
                    <a:ea typeface="Microsoft YaHei"/>
                    <a:cs typeface="印品黑体"/>
                  </a:rPr>
                  <a:t>汇报人：AI研究团队</a:t>
                </a:r>
              </a:p>
            </p:txBody>
          </p:sp>
        </p:grpSp>
        <p:sp>
          <p:nvSpPr>
            <p:cNvPr id="18" name="Ellipse 18"/>
            <p:cNvSpPr/>
            <p:nvPr/>
          </p:nvSpPr>
          <p:spPr>
            <a:xfrm>
              <a:off x="6513862" y="3674269"/>
              <a:ext cx="445580" cy="413194"/>
            </a:xfrm>
            <a:prstGeom prst="ellipse">
              <a:avLst/>
            </a:prstGeom>
            <a:solidFill>
              <a:srgbClr val="48A2A0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3943064" y="6087428"/>
            <a:ext cx="4305872" cy="457295"/>
            <a:chOff x="3943064" y="6087428"/>
            <a:chExt cx="4305872" cy="457295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3064" y="6087428"/>
              <a:ext cx="4305872" cy="457295"/>
            </a:xfrm>
            <a:prstGeom prst="rect">
              <a:avLst/>
            </a:prstGeom>
          </p:spPr>
        </p:pic>
      </p:grpSp>
      <p:grpSp>
        <p:nvGrpSpPr>
          <p:cNvPr id="23" name="Group 23"/>
          <p:cNvGrpSpPr/>
          <p:nvPr/>
        </p:nvGrpSpPr>
        <p:grpSpPr>
          <a:xfrm>
            <a:off x="-95" y="70294"/>
            <a:ext cx="4840414" cy="885158"/>
            <a:chOff x="-95" y="70294"/>
            <a:chExt cx="4840414" cy="885158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95" y="70294"/>
              <a:ext cx="4840414" cy="885158"/>
            </a:xfrm>
            <a:prstGeom prst="rect">
              <a:avLst/>
            </a:prstGeom>
          </p:spPr>
        </p:pic>
      </p:grpSp>
      <p:grpSp>
        <p:nvGrpSpPr>
          <p:cNvPr id="28" name="Group 28"/>
          <p:cNvGrpSpPr/>
          <p:nvPr/>
        </p:nvGrpSpPr>
        <p:grpSpPr>
          <a:xfrm>
            <a:off x="2966752" y="3671697"/>
            <a:ext cx="2550795" cy="416052"/>
            <a:chOff x="2966752" y="3671697"/>
            <a:chExt cx="2550795" cy="416052"/>
          </a:xfrm>
        </p:grpSpPr>
        <p:grpSp>
          <p:nvGrpSpPr>
            <p:cNvPr id="26" name="Group 26"/>
            <p:cNvGrpSpPr/>
            <p:nvPr/>
          </p:nvGrpSpPr>
          <p:grpSpPr>
            <a:xfrm>
              <a:off x="3511772" y="3671697"/>
              <a:ext cx="2005775" cy="416052"/>
              <a:chOff x="3511772" y="3671697"/>
              <a:chExt cx="2005775" cy="416052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511772" y="3671697"/>
                <a:ext cx="2005775" cy="416052"/>
              </a:xfrm>
              <a:prstGeom prst="roundRect">
                <a:avLst>
                  <a:gd name="adj" fmla="val 50000"/>
                </a:avLst>
              </a:prstGeom>
              <a:solidFill>
                <a:srgbClr val="6C92C0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550372" y="3757798"/>
                <a:ext cx="1928575" cy="325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00" dirty="0">
                    <a:solidFill>
                      <a:srgbClr val="FFFFFF"/>
                    </a:solidFill>
                    <a:latin typeface="印品黑体"/>
                    <a:ea typeface="Microsoft YaHei"/>
                    <a:cs typeface="印品黑体"/>
                  </a:rPr>
                  <a:t>汇报人：AI研究团队</a:t>
                </a:r>
              </a:p>
            </p:txBody>
          </p:sp>
        </p:grpSp>
        <p:sp>
          <p:nvSpPr>
            <p:cNvPr id="27" name="Ellipse 27"/>
            <p:cNvSpPr/>
            <p:nvPr/>
          </p:nvSpPr>
          <p:spPr>
            <a:xfrm>
              <a:off x="2966752" y="3671697"/>
              <a:ext cx="445580" cy="413194"/>
            </a:xfrm>
            <a:prstGeom prst="ellipse">
              <a:avLst/>
            </a:prstGeom>
            <a:solidFill>
              <a:srgbClr val="48A2A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1" grpId="0"/>
      <p:bldP spid="14" grpId="0"/>
      <p:bldP spid="19" grpId="0"/>
      <p:bldP spid="21" grpId="0"/>
      <p:bldP spid="23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 rot="-1126799">
            <a:off x="3332247" y="1065256"/>
            <a:ext cx="1722787" cy="1487329"/>
            <a:chOff x="3329368" y="1069276"/>
            <a:chExt cx="1722787" cy="1487329"/>
          </a:xfrm>
        </p:grpSpPr>
        <p:sp>
          <p:nvSpPr>
            <p:cNvPr id="5" name="Freeform 5"/>
            <p:cNvSpPr/>
            <p:nvPr/>
          </p:nvSpPr>
          <p:spPr>
            <a:xfrm>
              <a:off x="3329368" y="1307973"/>
              <a:ext cx="1289018" cy="1248632"/>
            </a:xfrm>
            <a:custGeom>
              <a:avLst/>
              <a:gdLst/>
              <a:ahLst/>
              <a:cxnLst/>
              <a:rect l="l" t="t" r="r" b="b"/>
              <a:pathLst>
                <a:path w="1289018" h="1248632">
                  <a:moveTo>
                    <a:pt x="527780" y="100584"/>
                  </a:moveTo>
                  <a:cubicBezTo>
                    <a:pt x="51340" y="1022794"/>
                    <a:pt x="51340" y="1022794"/>
                    <a:pt x="51340" y="1022794"/>
                  </a:cubicBezTo>
                  <a:cubicBezTo>
                    <a:pt x="0" y="1123474"/>
                    <a:pt x="64960" y="1248632"/>
                    <a:pt x="168592" y="1248632"/>
                  </a:cubicBezTo>
                  <a:cubicBezTo>
                    <a:pt x="1120426" y="1248632"/>
                    <a:pt x="1120426" y="1248632"/>
                    <a:pt x="1120426" y="1248632"/>
                  </a:cubicBezTo>
                  <a:cubicBezTo>
                    <a:pt x="1225201" y="1248632"/>
                    <a:pt x="1289018" y="1123474"/>
                    <a:pt x="1237774" y="1022794"/>
                  </a:cubicBezTo>
                  <a:cubicBezTo>
                    <a:pt x="761238" y="100584"/>
                    <a:pt x="761238" y="100584"/>
                    <a:pt x="761238" y="100584"/>
                  </a:cubicBezTo>
                  <a:cubicBezTo>
                    <a:pt x="709993" y="0"/>
                    <a:pt x="580168" y="0"/>
                    <a:pt x="527780" y="100584"/>
                  </a:cubicBezTo>
                  <a:close/>
                </a:path>
              </a:pathLst>
            </a:custGeom>
            <a:solidFill>
              <a:srgbClr val="6C92C0">
                <a:alpha val="68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3637121" y="1069276"/>
              <a:ext cx="1415034" cy="1331786"/>
            </a:xfrm>
            <a:custGeom>
              <a:avLst/>
              <a:gdLst/>
              <a:ahLst/>
              <a:cxnLst/>
              <a:rect l="l" t="t" r="r" b="b"/>
              <a:pathLst>
                <a:path w="1415034" h="1331786">
                  <a:moveTo>
                    <a:pt x="579310" y="107347"/>
                  </a:moveTo>
                  <a:cubicBezTo>
                    <a:pt x="56293" y="1090898"/>
                    <a:pt x="56293" y="1090898"/>
                    <a:pt x="56293" y="1090898"/>
                  </a:cubicBezTo>
                  <a:cubicBezTo>
                    <a:pt x="0" y="1198245"/>
                    <a:pt x="71247" y="1331786"/>
                    <a:pt x="185071" y="1331786"/>
                  </a:cubicBezTo>
                  <a:cubicBezTo>
                    <a:pt x="1229963" y="1331786"/>
                    <a:pt x="1229963" y="1331786"/>
                    <a:pt x="1229963" y="1331786"/>
                  </a:cubicBezTo>
                  <a:cubicBezTo>
                    <a:pt x="1344930" y="1331786"/>
                    <a:pt x="1415034" y="1198245"/>
                    <a:pt x="1358741" y="1090898"/>
                  </a:cubicBezTo>
                  <a:cubicBezTo>
                    <a:pt x="835723" y="107347"/>
                    <a:pt x="835723" y="107347"/>
                    <a:pt x="835723" y="107347"/>
                  </a:cubicBezTo>
                  <a:cubicBezTo>
                    <a:pt x="779335" y="0"/>
                    <a:pt x="636841" y="0"/>
                    <a:pt x="579310" y="107347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2386774" y="4107180"/>
            <a:ext cx="191834" cy="191834"/>
            <a:chOff x="2386774" y="4107180"/>
            <a:chExt cx="191834" cy="191834"/>
          </a:xfrm>
        </p:grpSpPr>
        <p:sp>
          <p:nvSpPr>
            <p:cNvPr id="8" name="Ellipse 8"/>
            <p:cNvSpPr/>
            <p:nvPr/>
          </p:nvSpPr>
          <p:spPr>
            <a:xfrm>
              <a:off x="2386774" y="4107180"/>
              <a:ext cx="191834" cy="191834"/>
            </a:xfrm>
            <a:prstGeom prst="ellipse">
              <a:avLst/>
            </a:prstGeom>
            <a:solidFill>
              <a:srgbClr val="6C92C0">
                <a:alpha val="7000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692878" y="3381280"/>
            <a:ext cx="952500" cy="952500"/>
            <a:chOff x="1692878" y="3381280"/>
            <a:chExt cx="952500" cy="952500"/>
          </a:xfrm>
        </p:grpSpPr>
        <p:sp>
          <p:nvSpPr>
            <p:cNvPr id="10" name="Ellipse 10"/>
            <p:cNvSpPr/>
            <p:nvPr/>
          </p:nvSpPr>
          <p:spPr>
            <a:xfrm>
              <a:off x="1692878" y="3381280"/>
              <a:ext cx="952500" cy="952500"/>
            </a:xfrm>
            <a:prstGeom prst="ellipse">
              <a:avLst/>
            </a:prstGeom>
            <a:solidFill>
              <a:srgbClr val="48A2A0">
                <a:alpha val="698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837944" y="3472815"/>
            <a:ext cx="684848" cy="1445228"/>
            <a:chOff x="1837944" y="3472815"/>
            <a:chExt cx="684848" cy="1445228"/>
          </a:xfrm>
        </p:grpSpPr>
        <p:sp>
          <p:nvSpPr>
            <p:cNvPr id="12" name="Rectangle 12"/>
            <p:cNvSpPr/>
            <p:nvPr/>
          </p:nvSpPr>
          <p:spPr>
            <a:xfrm>
              <a:off x="1837944" y="3472815"/>
              <a:ext cx="684848" cy="144522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62542" y="3518540"/>
              <a:ext cx="635462" cy="894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400" b="1" dirty="0">
                  <a:solidFill>
                    <a:srgbClr val="FFFFFF"/>
                  </a:solidFill>
                  <a:latin typeface="印品黑体"/>
                  <a:ea typeface="Microsoft YaHei"/>
                  <a:cs typeface="印品黑体"/>
                </a:rPr>
                <a:t>01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81679" y="4501515"/>
            <a:ext cx="3293364" cy="533400"/>
            <a:chOff x="481679" y="4501515"/>
            <a:chExt cx="3293364" cy="533400"/>
          </a:xfrm>
        </p:grpSpPr>
        <p:sp>
          <p:nvSpPr>
            <p:cNvPr id="15" name="Rectangle 15"/>
            <p:cNvSpPr/>
            <p:nvPr/>
          </p:nvSpPr>
          <p:spPr>
            <a:xfrm>
              <a:off x="997268" y="4501515"/>
              <a:ext cx="2262188" cy="46034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81679" y="4547235"/>
              <a:ext cx="329336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436B9B"/>
                  </a:solidFill>
                  <a:latin typeface="印品黑体"/>
                  <a:ea typeface="Microsoft YaHei"/>
                  <a:cs typeface="印品黑体"/>
                </a:rPr>
                <a:t>实体-属性-元数据层级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606737" y="4482846"/>
            <a:ext cx="2509266" cy="533400"/>
            <a:chOff x="3606737" y="4482846"/>
            <a:chExt cx="2509266" cy="533400"/>
          </a:xfrm>
        </p:grpSpPr>
        <p:sp>
          <p:nvSpPr>
            <p:cNvPr id="18" name="Rectangle 18"/>
            <p:cNvSpPr/>
            <p:nvPr/>
          </p:nvSpPr>
          <p:spPr>
            <a:xfrm>
              <a:off x="3730276" y="4482846"/>
              <a:ext cx="2262188" cy="46034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606737" y="4528566"/>
              <a:ext cx="25092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404040"/>
                  </a:solidFill>
                  <a:latin typeface="印品黑体"/>
                  <a:ea typeface="Microsoft YaHei"/>
                  <a:cs typeface="印品黑体"/>
                </a:rPr>
                <a:t>NGSI v2 数据交互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76416" y="4496848"/>
            <a:ext cx="2262188" cy="533400"/>
            <a:chOff x="6376416" y="4496848"/>
            <a:chExt cx="2262188" cy="533400"/>
          </a:xfrm>
        </p:grpSpPr>
        <p:sp>
          <p:nvSpPr>
            <p:cNvPr id="21" name="Rectangle 21"/>
            <p:cNvSpPr/>
            <p:nvPr/>
          </p:nvSpPr>
          <p:spPr>
            <a:xfrm>
              <a:off x="6376416" y="4496848"/>
              <a:ext cx="2262188" cy="46034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16910" y="4542568"/>
              <a:ext cx="19812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436B9B"/>
                  </a:solidFill>
                  <a:latin typeface="印品黑体"/>
                  <a:ea typeface="Microsoft YaHei"/>
                  <a:cs typeface="印品黑体"/>
                </a:rPr>
                <a:t>订阅通知机制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054370" y="4521898"/>
            <a:ext cx="2262188" cy="533400"/>
            <a:chOff x="9054370" y="4521898"/>
            <a:chExt cx="2262188" cy="533400"/>
          </a:xfrm>
        </p:grpSpPr>
        <p:sp>
          <p:nvSpPr>
            <p:cNvPr id="24" name="Rectangle 24"/>
            <p:cNvSpPr/>
            <p:nvPr/>
          </p:nvSpPr>
          <p:spPr>
            <a:xfrm>
              <a:off x="9054370" y="4521898"/>
              <a:ext cx="2262188" cy="46034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94864" y="4567618"/>
              <a:ext cx="19812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404040"/>
                  </a:solidFill>
                  <a:latin typeface="印品黑体"/>
                  <a:ea typeface="Microsoft YaHei"/>
                  <a:cs typeface="印品黑体"/>
                </a:rPr>
                <a:t>按需披露架构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349210" y="3400044"/>
            <a:ext cx="952500" cy="952500"/>
            <a:chOff x="4349210" y="3400044"/>
            <a:chExt cx="952500" cy="952500"/>
          </a:xfrm>
        </p:grpSpPr>
        <p:sp>
          <p:nvSpPr>
            <p:cNvPr id="27" name="Ellipse 27"/>
            <p:cNvSpPr/>
            <p:nvPr/>
          </p:nvSpPr>
          <p:spPr>
            <a:xfrm>
              <a:off x="4349210" y="3400044"/>
              <a:ext cx="952500" cy="952500"/>
            </a:xfrm>
            <a:prstGeom prst="ellipse">
              <a:avLst/>
            </a:prstGeom>
            <a:solidFill>
              <a:srgbClr val="6C92C0">
                <a:alpha val="69800"/>
              </a:srgbClr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430715" y="3491579"/>
            <a:ext cx="789490" cy="939856"/>
            <a:chOff x="4430715" y="3491579"/>
            <a:chExt cx="789490" cy="939856"/>
          </a:xfrm>
        </p:grpSpPr>
        <p:sp>
          <p:nvSpPr>
            <p:cNvPr id="29" name="Rectangle 29"/>
            <p:cNvSpPr/>
            <p:nvPr/>
          </p:nvSpPr>
          <p:spPr>
            <a:xfrm>
              <a:off x="4433411" y="3491579"/>
              <a:ext cx="784193" cy="76838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430715" y="3537304"/>
              <a:ext cx="789490" cy="894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400" b="1" dirty="0">
                  <a:solidFill>
                    <a:srgbClr val="FFFFFF"/>
                  </a:solidFill>
                  <a:latin typeface="印品黑体"/>
                  <a:ea typeface="Microsoft YaHei"/>
                  <a:cs typeface="印品黑体"/>
                </a:rPr>
                <a:t>02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057299" y="4107180"/>
            <a:ext cx="191834" cy="191834"/>
            <a:chOff x="5057299" y="4107180"/>
            <a:chExt cx="191834" cy="191834"/>
          </a:xfrm>
        </p:grpSpPr>
        <p:sp>
          <p:nvSpPr>
            <p:cNvPr id="32" name="Ellipse 32"/>
            <p:cNvSpPr/>
            <p:nvPr/>
          </p:nvSpPr>
          <p:spPr>
            <a:xfrm>
              <a:off x="5057299" y="4107180"/>
              <a:ext cx="191834" cy="191834"/>
            </a:xfrm>
            <a:prstGeom prst="ellipse">
              <a:avLst/>
            </a:prstGeom>
            <a:solidFill>
              <a:srgbClr val="48A2A0">
                <a:alpha val="70000"/>
              </a:srgbClr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025164" y="3400044"/>
            <a:ext cx="952500" cy="952500"/>
            <a:chOff x="7025164" y="3400044"/>
            <a:chExt cx="952500" cy="952500"/>
          </a:xfrm>
        </p:grpSpPr>
        <p:sp>
          <p:nvSpPr>
            <p:cNvPr id="34" name="Ellipse 34"/>
            <p:cNvSpPr/>
            <p:nvPr/>
          </p:nvSpPr>
          <p:spPr>
            <a:xfrm>
              <a:off x="7025164" y="3400044"/>
              <a:ext cx="952500" cy="952500"/>
            </a:xfrm>
            <a:prstGeom prst="ellipse">
              <a:avLst/>
            </a:prstGeom>
            <a:solidFill>
              <a:srgbClr val="48A2A0">
                <a:alpha val="70000"/>
              </a:srgbClr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7077808" y="3491579"/>
            <a:ext cx="789490" cy="939856"/>
            <a:chOff x="7077808" y="3491579"/>
            <a:chExt cx="789490" cy="939856"/>
          </a:xfrm>
        </p:grpSpPr>
        <p:sp>
          <p:nvSpPr>
            <p:cNvPr id="36" name="Rectangle 36"/>
            <p:cNvSpPr/>
            <p:nvPr/>
          </p:nvSpPr>
          <p:spPr>
            <a:xfrm>
              <a:off x="7082028" y="3491579"/>
              <a:ext cx="780955" cy="76838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77808" y="3537304"/>
              <a:ext cx="789490" cy="894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400" b="1" dirty="0">
                  <a:solidFill>
                    <a:srgbClr val="FFFFFF"/>
                  </a:solidFill>
                  <a:latin typeface="印品黑体"/>
                  <a:ea typeface="Microsoft YaHei"/>
                  <a:cs typeface="印品黑体"/>
                </a:rPr>
                <a:t>03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766399" y="4107180"/>
            <a:ext cx="191834" cy="191834"/>
            <a:chOff x="7766399" y="4107180"/>
            <a:chExt cx="191834" cy="191834"/>
          </a:xfrm>
        </p:grpSpPr>
        <p:sp>
          <p:nvSpPr>
            <p:cNvPr id="39" name="Ellipse 39"/>
            <p:cNvSpPr/>
            <p:nvPr/>
          </p:nvSpPr>
          <p:spPr>
            <a:xfrm>
              <a:off x="7766399" y="4107180"/>
              <a:ext cx="191834" cy="191834"/>
            </a:xfrm>
            <a:prstGeom prst="ellipse">
              <a:avLst/>
            </a:prstGeom>
            <a:solidFill>
              <a:srgbClr val="6C92C0">
                <a:alpha val="70000"/>
              </a:srgbClr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9731502" y="3374993"/>
            <a:ext cx="952500" cy="952500"/>
            <a:chOff x="9731502" y="3374993"/>
            <a:chExt cx="952500" cy="952500"/>
          </a:xfrm>
        </p:grpSpPr>
        <p:sp>
          <p:nvSpPr>
            <p:cNvPr id="41" name="Ellipse 41"/>
            <p:cNvSpPr/>
            <p:nvPr/>
          </p:nvSpPr>
          <p:spPr>
            <a:xfrm>
              <a:off x="9731502" y="3374993"/>
              <a:ext cx="952500" cy="952500"/>
            </a:xfrm>
            <a:prstGeom prst="ellipse">
              <a:avLst/>
            </a:prstGeom>
            <a:solidFill>
              <a:srgbClr val="6C92C0">
                <a:alpha val="70000"/>
              </a:srgbClr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9808464" y="3466528"/>
            <a:ext cx="798576" cy="939761"/>
            <a:chOff x="9808464" y="3466528"/>
            <a:chExt cx="798576" cy="939761"/>
          </a:xfrm>
        </p:grpSpPr>
        <p:sp>
          <p:nvSpPr>
            <p:cNvPr id="43" name="Rectangle 43"/>
            <p:cNvSpPr/>
            <p:nvPr/>
          </p:nvSpPr>
          <p:spPr>
            <a:xfrm>
              <a:off x="9808464" y="3466528"/>
              <a:ext cx="798576" cy="76838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813007" y="3512158"/>
              <a:ext cx="789490" cy="894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400" b="1" dirty="0">
                  <a:solidFill>
                    <a:srgbClr val="FFFFFF"/>
                  </a:solidFill>
                  <a:latin typeface="印品黑体"/>
                  <a:ea typeface="Microsoft YaHei"/>
                  <a:cs typeface="印品黑体"/>
                </a:rPr>
                <a:t>04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446830" y="4107180"/>
            <a:ext cx="191834" cy="191834"/>
            <a:chOff x="10446830" y="4107180"/>
            <a:chExt cx="191834" cy="191834"/>
          </a:xfrm>
        </p:grpSpPr>
        <p:sp>
          <p:nvSpPr>
            <p:cNvPr id="46" name="Ellipse 46"/>
            <p:cNvSpPr/>
            <p:nvPr/>
          </p:nvSpPr>
          <p:spPr>
            <a:xfrm>
              <a:off x="10446830" y="4107180"/>
              <a:ext cx="191834" cy="191834"/>
            </a:xfrm>
            <a:prstGeom prst="ellipse">
              <a:avLst/>
            </a:prstGeom>
            <a:solidFill>
              <a:srgbClr val="48A2A0">
                <a:alpha val="70000"/>
              </a:srgbClr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177856" y="1431512"/>
            <a:ext cx="3955447" cy="939761"/>
            <a:chOff x="4177856" y="1431512"/>
            <a:chExt cx="3955447" cy="939761"/>
          </a:xfrm>
        </p:grpSpPr>
        <p:sp>
          <p:nvSpPr>
            <p:cNvPr id="48" name="Rectangle 48"/>
            <p:cNvSpPr/>
            <p:nvPr/>
          </p:nvSpPr>
          <p:spPr>
            <a:xfrm>
              <a:off x="4177856" y="1431512"/>
              <a:ext cx="3955447" cy="84791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251407" y="1477142"/>
              <a:ext cx="3808438" cy="894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400" b="1" dirty="0">
                  <a:solidFill>
                    <a:srgbClr val="6C92C0"/>
                  </a:solidFill>
                  <a:latin typeface="微软雅黑"/>
                  <a:ea typeface="Microsoft YaHei"/>
                  <a:cs typeface="微软雅黑"/>
                </a:rPr>
                <a:t>核心机制详解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244620" y="70294"/>
            <a:ext cx="4840414" cy="885158"/>
            <a:chOff x="7244620" y="70294"/>
            <a:chExt cx="4840414" cy="885158"/>
          </a:xfrm>
        </p:grpSpPr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44620" y="70294"/>
              <a:ext cx="4840414" cy="885158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1" grpId="0"/>
      <p:bldP spid="14" grpId="0"/>
      <p:bldP spid="17" grpId="0"/>
      <p:bldP spid="20" grpId="0"/>
      <p:bldP spid="23" grpId="0"/>
      <p:bldP spid="26" grpId="0"/>
      <p:bldP spid="28" grpId="0"/>
      <p:bldP spid="31" grpId="0"/>
      <p:bldP spid="33" grpId="0"/>
      <p:bldP spid="35" grpId="0"/>
      <p:bldP spid="38" grpId="0"/>
      <p:bldP spid="40" grpId="0"/>
      <p:bldP spid="42" grpId="0"/>
      <p:bldP spid="45" grpId="0"/>
      <p:bldP spid="47" grpId="0"/>
      <p:bldP spid="50" grpId="0"/>
      <p:bldP spid="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-639794" y="4856416"/>
            <a:ext cx="2158460" cy="2341912"/>
            <a:chOff x="-639794" y="4856416"/>
            <a:chExt cx="2158460" cy="2341912"/>
          </a:xfrm>
        </p:grpSpPr>
        <p:sp>
          <p:nvSpPr>
            <p:cNvPr id="5" name="Freeform 5"/>
            <p:cNvSpPr/>
            <p:nvPr/>
          </p:nvSpPr>
          <p:spPr>
            <a:xfrm>
              <a:off x="-639794" y="4856416"/>
              <a:ext cx="1765554" cy="1716405"/>
            </a:xfrm>
            <a:custGeom>
              <a:avLst/>
              <a:gdLst/>
              <a:ahLst/>
              <a:cxnLst/>
              <a:rect l="l" t="t" r="r" b="b"/>
              <a:pathLst>
                <a:path w="1765554" h="1716405">
                  <a:moveTo>
                    <a:pt x="770192" y="8477"/>
                  </a:moveTo>
                  <a:cubicBezTo>
                    <a:pt x="819912" y="13525"/>
                    <a:pt x="868204" y="37433"/>
                    <a:pt x="903351" y="82106"/>
                  </a:cubicBezTo>
                  <a:cubicBezTo>
                    <a:pt x="903351" y="82106"/>
                    <a:pt x="903351" y="82106"/>
                    <a:pt x="1691354" y="1072420"/>
                  </a:cubicBezTo>
                  <a:lnTo>
                    <a:pt x="1765554" y="1165670"/>
                  </a:lnTo>
                  <a:lnTo>
                    <a:pt x="1765554" y="1419987"/>
                  </a:lnTo>
                  <a:lnTo>
                    <a:pt x="1740789" y="1446371"/>
                  </a:lnTo>
                  <a:cubicBezTo>
                    <a:pt x="1714595" y="1467803"/>
                    <a:pt x="1681924" y="1483042"/>
                    <a:pt x="1644110" y="1488662"/>
                  </a:cubicBezTo>
                  <a:cubicBezTo>
                    <a:pt x="1644110" y="1488662"/>
                    <a:pt x="1644110" y="1488662"/>
                    <a:pt x="267938" y="1694021"/>
                  </a:cubicBezTo>
                  <a:cubicBezTo>
                    <a:pt x="118015" y="1716405"/>
                    <a:pt x="0" y="1568577"/>
                    <a:pt x="54769" y="1427417"/>
                  </a:cubicBezTo>
                  <a:cubicBezTo>
                    <a:pt x="54769" y="1427417"/>
                    <a:pt x="54769" y="1427417"/>
                    <a:pt x="565785" y="132493"/>
                  </a:cubicBezTo>
                  <a:cubicBezTo>
                    <a:pt x="600932" y="44101"/>
                    <a:pt x="687419" y="0"/>
                    <a:pt x="770192" y="8477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-198310" y="5051679"/>
              <a:ext cx="1716976" cy="2146649"/>
            </a:xfrm>
            <a:custGeom>
              <a:avLst/>
              <a:gdLst/>
              <a:ahLst/>
              <a:cxnLst/>
              <a:rect l="l" t="t" r="r" b="b"/>
              <a:pathLst>
                <a:path w="1716976" h="2146649">
                  <a:moveTo>
                    <a:pt x="1716976" y="0"/>
                  </a:moveTo>
                  <a:lnTo>
                    <a:pt x="1716976" y="2146649"/>
                  </a:lnTo>
                  <a:lnTo>
                    <a:pt x="1208342" y="2146649"/>
                  </a:lnTo>
                  <a:lnTo>
                    <a:pt x="1030605" y="2059019"/>
                  </a:lnTo>
                  <a:cubicBezTo>
                    <a:pt x="818864" y="1954530"/>
                    <a:pt x="585216" y="1839278"/>
                    <a:pt x="327470" y="1712214"/>
                  </a:cubicBezTo>
                  <a:cubicBezTo>
                    <a:pt x="28004" y="1564481"/>
                    <a:pt x="0" y="1148525"/>
                    <a:pt x="276416" y="961644"/>
                  </a:cubicBezTo>
                  <a:cubicBezTo>
                    <a:pt x="276416" y="961644"/>
                    <a:pt x="276416" y="961644"/>
                    <a:pt x="1644872" y="48101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087040" y="-1443800"/>
            <a:ext cx="3204401" cy="4893660"/>
            <a:chOff x="9087040" y="-1443800"/>
            <a:chExt cx="3204401" cy="4893660"/>
          </a:xfrm>
        </p:grpSpPr>
        <p:sp>
          <p:nvSpPr>
            <p:cNvPr id="8" name="Freeform 8"/>
            <p:cNvSpPr/>
            <p:nvPr/>
          </p:nvSpPr>
          <p:spPr>
            <a:xfrm>
              <a:off x="9087040" y="-1443800"/>
              <a:ext cx="3204401" cy="3482054"/>
            </a:xfrm>
            <a:custGeom>
              <a:avLst/>
              <a:gdLst/>
              <a:ahLst/>
              <a:cxnLst/>
              <a:rect l="l" t="t" r="r" b="b"/>
              <a:pathLst>
                <a:path w="3204401" h="3482054">
                  <a:moveTo>
                    <a:pt x="0" y="0"/>
                  </a:moveTo>
                  <a:lnTo>
                    <a:pt x="45911" y="11620"/>
                  </a:lnTo>
                  <a:cubicBezTo>
                    <a:pt x="152590" y="46101"/>
                    <a:pt x="252793" y="109633"/>
                    <a:pt x="334899" y="204502"/>
                  </a:cubicBezTo>
                  <a:cubicBezTo>
                    <a:pt x="334899" y="204502"/>
                    <a:pt x="334899" y="204502"/>
                    <a:pt x="3098673" y="3361277"/>
                  </a:cubicBezTo>
                  <a:lnTo>
                    <a:pt x="3204401" y="3482054"/>
                  </a:lnTo>
                  <a:lnTo>
                    <a:pt x="0" y="3482054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102280" y="-843629"/>
              <a:ext cx="1443323" cy="4293489"/>
            </a:xfrm>
            <a:custGeom>
              <a:avLst/>
              <a:gdLst/>
              <a:ahLst/>
              <a:cxnLst/>
              <a:rect l="l" t="t" r="r" b="b"/>
              <a:pathLst>
                <a:path w="1443323" h="4293489">
                  <a:moveTo>
                    <a:pt x="898970" y="2286"/>
                  </a:moveTo>
                  <a:cubicBezTo>
                    <a:pt x="1208342" y="18002"/>
                    <a:pt x="1443323" y="324326"/>
                    <a:pt x="1343787" y="640842"/>
                  </a:cubicBezTo>
                  <a:cubicBezTo>
                    <a:pt x="1343787" y="640842"/>
                    <a:pt x="1343787" y="640842"/>
                    <a:pt x="316801" y="3971830"/>
                  </a:cubicBezTo>
                  <a:cubicBezTo>
                    <a:pt x="266986" y="4130040"/>
                    <a:pt x="151067" y="4239578"/>
                    <a:pt x="14478" y="4289203"/>
                  </a:cubicBezTo>
                  <a:lnTo>
                    <a:pt x="0" y="4293489"/>
                  </a:lnTo>
                  <a:lnTo>
                    <a:pt x="0" y="187738"/>
                  </a:lnTo>
                  <a:lnTo>
                    <a:pt x="164306" y="150304"/>
                  </a:lnTo>
                  <a:cubicBezTo>
                    <a:pt x="350996" y="107823"/>
                    <a:pt x="550164" y="62484"/>
                    <a:pt x="762572" y="14097"/>
                  </a:cubicBezTo>
                  <a:cubicBezTo>
                    <a:pt x="809053" y="3715"/>
                    <a:pt x="854773" y="0"/>
                    <a:pt x="898970" y="2286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9734645" y="-218884"/>
              <a:ext cx="1191863" cy="1032224"/>
            </a:xfrm>
            <a:custGeom>
              <a:avLst/>
              <a:gdLst/>
              <a:ahLst/>
              <a:cxnLst/>
              <a:rect l="l" t="t" r="r" b="b"/>
              <a:pathLst>
                <a:path w="1191863" h="1032224">
                  <a:moveTo>
                    <a:pt x="487966" y="83153"/>
                  </a:moveTo>
                  <a:cubicBezTo>
                    <a:pt x="47435" y="845534"/>
                    <a:pt x="47435" y="845534"/>
                    <a:pt x="47435" y="845534"/>
                  </a:cubicBezTo>
                  <a:cubicBezTo>
                    <a:pt x="0" y="928783"/>
                    <a:pt x="60007" y="1032224"/>
                    <a:pt x="155924" y="1032224"/>
                  </a:cubicBezTo>
                  <a:cubicBezTo>
                    <a:pt x="1035939" y="1032224"/>
                    <a:pt x="1035939" y="1032224"/>
                    <a:pt x="1035939" y="1032224"/>
                  </a:cubicBezTo>
                  <a:cubicBezTo>
                    <a:pt x="1132808" y="1032224"/>
                    <a:pt x="1191863" y="928783"/>
                    <a:pt x="1144429" y="845534"/>
                  </a:cubicBezTo>
                  <a:cubicBezTo>
                    <a:pt x="703898" y="83153"/>
                    <a:pt x="703898" y="83153"/>
                    <a:pt x="703898" y="83153"/>
                  </a:cubicBezTo>
                  <a:cubicBezTo>
                    <a:pt x="656463" y="0"/>
                    <a:pt x="536353" y="0"/>
                    <a:pt x="487966" y="83153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-56674" y="82582"/>
            <a:ext cx="4840414" cy="885158"/>
            <a:chOff x="-56674" y="82582"/>
            <a:chExt cx="4840414" cy="885158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56674" y="82582"/>
              <a:ext cx="4840414" cy="885158"/>
            </a:xfrm>
            <a:prstGeom prst="rect">
              <a:avLst/>
            </a:prstGeom>
          </p:spPr>
        </p:pic>
      </p:grpSp>
      <p:grpSp>
        <p:nvGrpSpPr>
          <p:cNvPr id="24" name="Group 24"/>
          <p:cNvGrpSpPr/>
          <p:nvPr/>
        </p:nvGrpSpPr>
        <p:grpSpPr>
          <a:xfrm>
            <a:off x="1365218" y="1931670"/>
            <a:ext cx="7082123" cy="2202180"/>
            <a:chOff x="1365218" y="1931670"/>
            <a:chExt cx="7082123" cy="2202180"/>
          </a:xfrm>
        </p:grpSpPr>
        <p:sp>
          <p:nvSpPr>
            <p:cNvPr id="14" name="Freeform 14"/>
            <p:cNvSpPr/>
            <p:nvPr/>
          </p:nvSpPr>
          <p:spPr>
            <a:xfrm>
              <a:off x="1584293" y="1931670"/>
              <a:ext cx="2288572" cy="1981867"/>
            </a:xfrm>
            <a:custGeom>
              <a:avLst/>
              <a:gdLst/>
              <a:ahLst/>
              <a:cxnLst/>
              <a:rect l="l" t="t" r="r" b="b"/>
              <a:pathLst>
                <a:path w="2288572" h="1981867">
                  <a:moveTo>
                    <a:pt x="936974" y="159734"/>
                  </a:moveTo>
                  <a:cubicBezTo>
                    <a:pt x="91154" y="1623346"/>
                    <a:pt x="91154" y="1623346"/>
                    <a:pt x="91154" y="1623346"/>
                  </a:cubicBezTo>
                  <a:cubicBezTo>
                    <a:pt x="0" y="1783080"/>
                    <a:pt x="115252" y="1981867"/>
                    <a:pt x="299371" y="1981867"/>
                  </a:cubicBezTo>
                  <a:cubicBezTo>
                    <a:pt x="1989296" y="1981867"/>
                    <a:pt x="1989296" y="1981867"/>
                    <a:pt x="1989296" y="1981867"/>
                  </a:cubicBezTo>
                  <a:cubicBezTo>
                    <a:pt x="2175129" y="1981867"/>
                    <a:pt x="2288572" y="1783080"/>
                    <a:pt x="2197513" y="1623346"/>
                  </a:cubicBezTo>
                  <a:cubicBezTo>
                    <a:pt x="1351598" y="159734"/>
                    <a:pt x="1351598" y="159734"/>
                    <a:pt x="1351598" y="159734"/>
                  </a:cubicBezTo>
                  <a:cubicBezTo>
                    <a:pt x="1260538" y="0"/>
                    <a:pt x="1029938" y="0"/>
                    <a:pt x="936974" y="159734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23" name="Group 23"/>
            <p:cNvGrpSpPr/>
            <p:nvPr/>
          </p:nvGrpSpPr>
          <p:grpSpPr>
            <a:xfrm>
              <a:off x="1365218" y="2419350"/>
              <a:ext cx="7082123" cy="1714500"/>
              <a:chOff x="1365218" y="2419350"/>
              <a:chExt cx="7082123" cy="17145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662773" y="2922937"/>
                <a:ext cx="3784568" cy="985552"/>
              </a:xfrm>
              <a:prstGeom prst="roundRect">
                <a:avLst>
                  <a:gd name="adj" fmla="val 16662"/>
                </a:avLst>
              </a:prstGeom>
              <a:solidFill>
                <a:srgbClr val="D9EEEE"/>
              </a:solidFill>
              <a:ln>
                <a:noFill/>
              </a:ln>
              <a:effectLst>
                <a:outerShdw blurRad="63436" dist="50783" dir="18900000" algn="bl" rotWithShape="0">
                  <a:srgbClr val="000000">
                    <a:alpha val="37500"/>
                  </a:srgbClr>
                </a:outerShdw>
              </a:effectLst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495550" y="2419350"/>
                <a:ext cx="1979295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1979295" h="1714500">
                    <a:moveTo>
                      <a:pt x="810387" y="138208"/>
                    </a:moveTo>
                    <a:cubicBezTo>
                      <a:pt x="78772" y="1404366"/>
                      <a:pt x="78772" y="1404366"/>
                      <a:pt x="78772" y="1404366"/>
                    </a:cubicBezTo>
                    <a:cubicBezTo>
                      <a:pt x="0" y="1542574"/>
                      <a:pt x="99727" y="1714500"/>
                      <a:pt x="258890" y="1714500"/>
                    </a:cubicBezTo>
                    <a:cubicBezTo>
                      <a:pt x="1720406" y="1714500"/>
                      <a:pt x="1720406" y="1714500"/>
                      <a:pt x="1720406" y="1714500"/>
                    </a:cubicBezTo>
                    <a:cubicBezTo>
                      <a:pt x="1881188" y="1714500"/>
                      <a:pt x="1979295" y="1542574"/>
                      <a:pt x="1900523" y="1404366"/>
                    </a:cubicBezTo>
                    <a:cubicBezTo>
                      <a:pt x="1168908" y="138208"/>
                      <a:pt x="1168908" y="138208"/>
                      <a:pt x="1168908" y="138208"/>
                    </a:cubicBezTo>
                    <a:cubicBezTo>
                      <a:pt x="1090136" y="0"/>
                      <a:pt x="890778" y="0"/>
                      <a:pt x="810387" y="138208"/>
                    </a:cubicBezTo>
                    <a:close/>
                  </a:path>
                </a:pathLst>
              </a:custGeom>
              <a:solidFill>
                <a:srgbClr val="6C92C0">
                  <a:alpha val="68000"/>
                </a:srgbClr>
              </a:solidFill>
              <a:ln>
                <a:noFill/>
              </a:ln>
              <a:effectLst>
                <a:outerShdw blurRad="50864" dist="38121" dir="2700000" algn="tl" rotWithShape="0">
                  <a:srgbClr val="000000">
                    <a:alpha val="30000"/>
                  </a:srgbClr>
                </a:outerShdw>
              </a:effectLst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1365218" y="2922937"/>
                <a:ext cx="3955447" cy="939760"/>
                <a:chOff x="1365218" y="2922937"/>
                <a:chExt cx="3955447" cy="939760"/>
              </a:xfrm>
            </p:grpSpPr>
            <p:sp>
              <p:nvSpPr>
                <p:cNvPr id="17" name="Rectangle 17"/>
                <p:cNvSpPr/>
                <p:nvPr/>
              </p:nvSpPr>
              <p:spPr>
                <a:xfrm>
                  <a:off x="1365218" y="2922937"/>
                  <a:ext cx="3955447" cy="847725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2178104" y="2968566"/>
                  <a:ext cx="2329770" cy="8941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4400" b="1" dirty="0">
                      <a:solidFill>
                        <a:srgbClr val="FFFFFF"/>
                      </a:solidFill>
                      <a:latin typeface="印品黑体"/>
                      <a:ea typeface="Microsoft YaHei"/>
                      <a:cs typeface="印品黑体"/>
                    </a:rPr>
                    <a:t>PART 03</a:t>
                  </a:r>
                </a:p>
              </p:txBody>
            </p:sp>
          </p:grpSp>
          <p:grpSp>
            <p:nvGrpSpPr>
              <p:cNvPr id="22" name="Group 22"/>
              <p:cNvGrpSpPr/>
              <p:nvPr/>
            </p:nvGrpSpPr>
            <p:grpSpPr>
              <a:xfrm>
                <a:off x="5011388" y="3115342"/>
                <a:ext cx="3154680" cy="777240"/>
                <a:chOff x="5011388" y="3115342"/>
                <a:chExt cx="3154680" cy="777240"/>
              </a:xfrm>
            </p:grpSpPr>
            <p:sp>
              <p:nvSpPr>
                <p:cNvPr id="20" name="Rectangle 20"/>
                <p:cNvSpPr/>
                <p:nvPr/>
              </p:nvSpPr>
              <p:spPr>
                <a:xfrm>
                  <a:off x="5011388" y="3115342"/>
                  <a:ext cx="3154680" cy="645128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5057108" y="3161062"/>
                  <a:ext cx="2611755" cy="7315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3600" b="1" dirty="0">
                      <a:solidFill>
                        <a:srgbClr val="3EA592"/>
                      </a:solidFill>
                      <a:latin typeface="微软雅黑"/>
                      <a:ea typeface="Microsoft YaHei"/>
                      <a:cs typeface="微软雅黑"/>
                    </a:rPr>
                    <a:t>总结与展望</a:t>
                  </a:r>
                </a:p>
              </p:txBody>
            </p:sp>
          </p:grpSp>
        </p:grp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1" grpId="0"/>
      <p:bldP spid="13" grpId="0"/>
      <p:bldP spid="2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