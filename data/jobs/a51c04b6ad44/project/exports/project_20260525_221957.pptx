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尊敬的各位评委、老师，大家好！今天我要为大家分析的是一家看起来风光无限，但实际财务状况暗藏玄机的公司——锐明技术。我们将从四个核心维度来审视它利润的"含金量"，看看这家公司的盈利质量到底怎么样，它的利润究竟是实打实的真金白银，还是只是纸面上的数字游戏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简单介绍一下锐明技术，股票代码002970，2002年在深圳成立，主要做商用车视频监控这一块。为了全面评估它的盈利质量，我们搭建了一个四维分析框架，分别是现金保障性、持续性、成长性和安全性。这四个维度就像一个体检套餐，能从不同角度帮我们看清这家公司的真实财务健康状况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先看上面两个维度。第一个是现金保障性，这是最核心也是最让人担忧的一点。大家看，锐明技术的经营活动现金流净额持续为负，也就是说，尽管账面上净利润是正的，但真金白银却没流进来。我们用收现比这个指标来看，数值低于1，说明利润的"含金量"很低。第二个维度是持续性，这里我们关注的是利润来源是否稳定可靠，不能今年赚明年亏，或者靠一次性的收入来撑场面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下面两个维度。成长性方面，营收确实在增长，复合增长率达到了两位数，看起来不错。但问题是利润增长波动很大，出现了典型的"增收不增利"现象。收入上去了，利润却没跟上来，成长的质量很值得怀疑。至于安全性，我们看的是财务结构是否稳健，有没有过度依赖债务等问题。综合来看，成长性表面光鲜，但经不起细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个总结。锐明技术给我的整体评价是——"表面风光，暗藏风险"。四个维度综合评级我给的是"警惕"。具体来说，营收确实在增长，这是个亮点；但现金流持续吃紧是最大的警示信号，还有利润波动大、成长质量存疑等问题。所以各位评委、老师，我们看一家公司不能只看利润表上的数字，更要看利润背后的现金支撑和增长质量。谢谢大家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B3D"/>
              </a:gs>
              <a:gs pos="40000">
                <a:srgbClr val="1A2D5C"/>
              </a:gs>
              <a:gs pos="100000">
                <a:srgbClr val="2D4A7A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763000" y="-952500"/>
            <a:ext cx="3429000" cy="3429000"/>
          </a:xfrm>
          <a:prstGeom prst="ellipse">
            <a:avLst/>
          </a:prstGeom>
          <a:solidFill>
            <a:srgbClr val="48CAE4">
              <a:alpha val="4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096500" y="-952500"/>
            <a:ext cx="2286000" cy="2286000"/>
          </a:xfrm>
          <a:prstGeom prst="ellipse">
            <a:avLst/>
          </a:prstGeom>
          <a:solidFill>
            <a:srgbClr val="00B4D8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-3143250" y="3810000"/>
            <a:ext cx="4762500" cy="4762500"/>
          </a:xfrm>
          <a:prstGeom prst="ellipse">
            <a:avLst/>
          </a:prstGeom>
          <a:solidFill>
            <a:srgbClr val="0077B6">
              <a:alpha val="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0" y="5524500"/>
            <a:ext cx="3810000" cy="3810000"/>
          </a:xfrm>
          <a:prstGeom prst="ellipse">
            <a:avLst/>
          </a:prstGeom>
          <a:solidFill>
            <a:srgbClr val="48CAE4">
              <a:alpha val="3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77B6"/>
              </a:gs>
            </a:gsLst>
            <a:lin ang="2700000" scaled="1"/>
          </a:gra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00B4D8">
                  <a:alpha val="60000"/>
                </a:srgbClr>
              </a:gs>
              <a:gs pos="100000">
                <a:srgbClr val="0077B6">
                  <a:alpha val="6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-952500" y="-952500"/>
            <a:ext cx="5715000" cy="3810000"/>
          </a:xfrm>
          <a:prstGeom prst="ellipse">
            <a:avLst/>
          </a:prstGeom>
          <a:solidFill>
            <a:srgbClr val="48CAE4">
              <a:alpha val="5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8096250" y="4000500"/>
            <a:ext cx="4762500" cy="3429000"/>
          </a:xfrm>
          <a:prstGeom prst="ellipse">
            <a:avLst/>
          </a:prstGeom>
          <a:solidFill>
            <a:srgbClr val="0077B6">
              <a:alpha val="6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4855" y="1187768"/>
            <a:ext cx="25546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0E0EF">
                    <a:alphaMod val="90000"/>
                  </a:srgbClr>
                </a:solidFill>
                <a:latin typeface="Segoe UI"/>
                <a:ea typeface="Microsoft YaHei"/>
                <a:cs typeface="Segoe UI"/>
              </a:rPr>
              <a:t>尊敬的各位评委、老师，大家好</a:t>
            </a:r>
          </a:p>
        </p:txBody>
      </p:sp>
      <p:sp>
        <p:nvSpPr>
          <p:cNvPr id="12" name="Freeform 12"/>
          <p:cNvSpPr/>
          <p:nvPr/>
        </p:nvSpPr>
        <p:spPr>
          <a:xfrm>
            <a:off x="762000" y="1524000"/>
            <a:ext cx="381000" cy="28575"/>
          </a:xfrm>
          <a:custGeom>
            <a:avLst/>
            <a:gdLst/>
            <a:ahLst/>
            <a:cxnLst/>
            <a:rect l="l" t="t" r="r" b="b"/>
            <a:pathLst>
              <a:path w="381000" h="28575">
                <a:moveTo>
                  <a:pt x="14288" y="0"/>
                </a:moveTo>
                <a:lnTo>
                  <a:pt x="366712" y="0"/>
                </a:lnTo>
                <a:cubicBezTo>
                  <a:pt x="374603" y="0"/>
                  <a:pt x="381000" y="6397"/>
                  <a:pt x="381000" y="14288"/>
                </a:cubicBezTo>
                <a:lnTo>
                  <a:pt x="381000" y="14288"/>
                </a:lnTo>
                <a:cubicBezTo>
                  <a:pt x="381000" y="22178"/>
                  <a:pt x="374603" y="28575"/>
                  <a:pt x="366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48CAE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41045" y="1822132"/>
            <a:ext cx="46624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CAF0F8">
                    <a:alphaMod val="85000"/>
                  </a:srgbClr>
                </a:solidFill>
                <a:latin typeface="Segoe UI"/>
                <a:ea typeface="Microsoft YaHei"/>
                <a:cs typeface="Segoe UI"/>
              </a:rPr>
              <a:t>一家守护出行安全的企业，盈利质量究竟如何？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8660" y="2594610"/>
            <a:ext cx="245897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gradFill>
                  <a:gsLst>
                    <a:gs pos="0">
                      <a:srgbClr val="FFFFFF"/>
                    </a:gs>
                    <a:gs pos="100000">
                      <a:srgbClr val="90E0EF"/>
                    </a:gs>
                  </a:gsLst>
                  <a:lin ang="0" scaled="1"/>
                </a:gradFill>
                <a:latin typeface="Segoe UI"/>
                <a:ea typeface="Microsoft YaHei"/>
                <a:cs typeface="Segoe UI"/>
              </a:rPr>
              <a:t>锐明技术</a:t>
            </a:r>
          </a:p>
        </p:txBody>
      </p:sp>
      <p:sp>
        <p:nvSpPr>
          <p:cNvPr id="15" name="Freeform 15"/>
          <p:cNvSpPr/>
          <p:nvPr/>
        </p:nvSpPr>
        <p:spPr>
          <a:xfrm>
            <a:off x="784106" y="3362325"/>
            <a:ext cx="298675" cy="285903"/>
          </a:xfrm>
          <a:custGeom>
            <a:avLst/>
            <a:gdLst/>
            <a:ahLst/>
            <a:cxnLst/>
            <a:rect l="l" t="t" r="r" b="b"/>
            <a:pathLst>
              <a:path w="298675" h="285903">
                <a:moveTo>
                  <a:pt x="149316" y="0"/>
                </a:moveTo>
                <a:lnTo>
                  <a:pt x="151002" y="100"/>
                </a:lnTo>
                <a:lnTo>
                  <a:pt x="151845" y="214"/>
                </a:lnTo>
                <a:lnTo>
                  <a:pt x="152716" y="400"/>
                </a:lnTo>
                <a:lnTo>
                  <a:pt x="154302" y="886"/>
                </a:lnTo>
                <a:cubicBezTo>
                  <a:pt x="155397" y="1290"/>
                  <a:pt x="156439" y="1827"/>
                  <a:pt x="157402" y="2486"/>
                </a:cubicBezTo>
                <a:lnTo>
                  <a:pt x="158888" y="3658"/>
                </a:lnTo>
                <a:lnTo>
                  <a:pt x="162532" y="6772"/>
                </a:lnTo>
                <a:cubicBezTo>
                  <a:pt x="191354" y="30712"/>
                  <a:pt x="227781" y="43567"/>
                  <a:pt x="265245" y="43020"/>
                </a:cubicBezTo>
                <a:lnTo>
                  <a:pt x="270131" y="42877"/>
                </a:lnTo>
                <a:cubicBezTo>
                  <a:pt x="276705" y="42577"/>
                  <a:pt x="282634" y="46807"/>
                  <a:pt x="284490" y="53121"/>
                </a:cubicBezTo>
                <a:cubicBezTo>
                  <a:pt x="298675" y="101374"/>
                  <a:pt x="292685" y="153316"/>
                  <a:pt x="267890" y="197074"/>
                </a:cubicBezTo>
                <a:cubicBezTo>
                  <a:pt x="243095" y="240832"/>
                  <a:pt x="201614" y="272664"/>
                  <a:pt x="152930" y="285293"/>
                </a:cubicBezTo>
                <a:cubicBezTo>
                  <a:pt x="150579" y="285903"/>
                  <a:pt x="148110" y="285903"/>
                  <a:pt x="145758" y="285293"/>
                </a:cubicBezTo>
                <a:cubicBezTo>
                  <a:pt x="97072" y="272667"/>
                  <a:pt x="55588" y="240837"/>
                  <a:pt x="30790" y="197078"/>
                </a:cubicBezTo>
                <a:cubicBezTo>
                  <a:pt x="5992" y="153320"/>
                  <a:pt x="0" y="101376"/>
                  <a:pt x="14185" y="53121"/>
                </a:cubicBezTo>
                <a:cubicBezTo>
                  <a:pt x="16040" y="46807"/>
                  <a:pt x="21969" y="42577"/>
                  <a:pt x="28543" y="42877"/>
                </a:cubicBezTo>
                <a:cubicBezTo>
                  <a:pt x="67655" y="44665"/>
                  <a:pt x="106026" y="31790"/>
                  <a:pt x="136143" y="6772"/>
                </a:cubicBezTo>
                <a:lnTo>
                  <a:pt x="139900" y="3558"/>
                </a:lnTo>
                <a:lnTo>
                  <a:pt x="141272" y="2486"/>
                </a:lnTo>
                <a:cubicBezTo>
                  <a:pt x="142236" y="1827"/>
                  <a:pt x="143277" y="1290"/>
                  <a:pt x="144372" y="886"/>
                </a:cubicBezTo>
                <a:lnTo>
                  <a:pt x="145972" y="400"/>
                </a:lnTo>
                <a:cubicBezTo>
                  <a:pt x="146532" y="265"/>
                  <a:pt x="147100" y="165"/>
                  <a:pt x="147673" y="100"/>
                </a:cubicBezTo>
                <a:lnTo>
                  <a:pt x="149316" y="0"/>
                </a:lnTo>
                <a:close/>
                <a:moveTo>
                  <a:pt x="202322" y="104199"/>
                </a:moveTo>
                <a:cubicBezTo>
                  <a:pt x="199642" y="101516"/>
                  <a:pt x="196006" y="100008"/>
                  <a:pt x="192214" y="100008"/>
                </a:cubicBezTo>
                <a:cubicBezTo>
                  <a:pt x="188422" y="100008"/>
                  <a:pt x="184785" y="101516"/>
                  <a:pt x="182106" y="104199"/>
                </a:cubicBezTo>
                <a:lnTo>
                  <a:pt x="135057" y="151233"/>
                </a:lnTo>
                <a:lnTo>
                  <a:pt x="116583" y="132774"/>
                </a:lnTo>
                <a:lnTo>
                  <a:pt x="115240" y="131588"/>
                </a:lnTo>
                <a:cubicBezTo>
                  <a:pt x="109280" y="126980"/>
                  <a:pt x="100766" y="127791"/>
                  <a:pt x="95784" y="133441"/>
                </a:cubicBezTo>
                <a:cubicBezTo>
                  <a:pt x="90802" y="139092"/>
                  <a:pt x="91063" y="147640"/>
                  <a:pt x="96381" y="152976"/>
                </a:cubicBezTo>
                <a:lnTo>
                  <a:pt x="124956" y="181551"/>
                </a:lnTo>
                <a:lnTo>
                  <a:pt x="126299" y="182737"/>
                </a:lnTo>
                <a:cubicBezTo>
                  <a:pt x="131986" y="187149"/>
                  <a:pt x="140068" y="186641"/>
                  <a:pt x="145158" y="181551"/>
                </a:cubicBezTo>
                <a:lnTo>
                  <a:pt x="202308" y="124401"/>
                </a:lnTo>
                <a:lnTo>
                  <a:pt x="203494" y="123058"/>
                </a:lnTo>
                <a:cubicBezTo>
                  <a:pt x="207906" y="117371"/>
                  <a:pt x="207398" y="109289"/>
                  <a:pt x="202308" y="104199"/>
                </a:cubicBezTo>
                <a:close/>
              </a:path>
            </a:pathLst>
          </a:custGeom>
          <a:solidFill>
            <a:srgbClr val="48CAE4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35330" y="3869055"/>
            <a:ext cx="173355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90E0EF"/>
                </a:solidFill>
                <a:latin typeface="Segoe UI"/>
                <a:ea typeface="Microsoft YaHei"/>
                <a:cs typeface="Segoe UI"/>
              </a:rPr>
              <a:t>盈利质量分析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8665" y="4363402"/>
            <a:ext cx="15808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8CAE4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Profit Quality Analysis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4855" y="4902518"/>
            <a:ext cx="23925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AF0F8">
                    <a:alphaMod val="80000"/>
                  </a:srgbClr>
                </a:solidFill>
                <a:latin typeface="Segoe UI"/>
                <a:ea typeface="Microsoft YaHei"/>
                <a:cs typeface="Segoe UI"/>
              </a:rPr>
              <a:t>从四个维度看利润的"含金量"</a:t>
            </a:r>
          </a:p>
        </p:txBody>
      </p:sp>
      <p:sp>
        <p:nvSpPr>
          <p:cNvPr id="19" name="Freeform 19"/>
          <p:cNvSpPr/>
          <p:nvPr/>
        </p:nvSpPr>
        <p:spPr>
          <a:xfrm>
            <a:off x="762000" y="5381625"/>
            <a:ext cx="857250" cy="266700"/>
          </a:xfrm>
          <a:custGeom>
            <a:avLst/>
            <a:gdLst/>
            <a:ahLst/>
            <a:cxnLst/>
            <a:rect l="l" t="t" r="r" b="b"/>
            <a:pathLst>
              <a:path w="857250" h="266700">
                <a:moveTo>
                  <a:pt x="133350" y="0"/>
                </a:moveTo>
                <a:lnTo>
                  <a:pt x="723900" y="0"/>
                </a:lnTo>
                <a:cubicBezTo>
                  <a:pt x="797547" y="0"/>
                  <a:pt x="857250" y="59703"/>
                  <a:pt x="857250" y="133350"/>
                </a:cubicBezTo>
                <a:lnTo>
                  <a:pt x="857250" y="133350"/>
                </a:lnTo>
                <a:cubicBezTo>
                  <a:pt x="857250" y="206997"/>
                  <a:pt x="797547" y="266700"/>
                  <a:pt x="72390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noFill/>
          <a:ln w="9525">
            <a:solidFill>
              <a:srgbClr val="48CAE4">
                <a:alpha val="50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39165" y="546544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8CAE4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盈利能力</a:t>
            </a:r>
          </a:p>
        </p:txBody>
      </p:sp>
      <p:sp>
        <p:nvSpPr>
          <p:cNvPr id="21" name="Freeform 21"/>
          <p:cNvSpPr/>
          <p:nvPr/>
        </p:nvSpPr>
        <p:spPr>
          <a:xfrm>
            <a:off x="1762125" y="5381625"/>
            <a:ext cx="857250" cy="266700"/>
          </a:xfrm>
          <a:custGeom>
            <a:avLst/>
            <a:gdLst/>
            <a:ahLst/>
            <a:cxnLst/>
            <a:rect l="l" t="t" r="r" b="b"/>
            <a:pathLst>
              <a:path w="857250" h="266700">
                <a:moveTo>
                  <a:pt x="133350" y="0"/>
                </a:moveTo>
                <a:lnTo>
                  <a:pt x="723900" y="0"/>
                </a:lnTo>
                <a:cubicBezTo>
                  <a:pt x="797547" y="0"/>
                  <a:pt x="857250" y="59703"/>
                  <a:pt x="857250" y="133350"/>
                </a:cubicBezTo>
                <a:lnTo>
                  <a:pt x="857250" y="133350"/>
                </a:lnTo>
                <a:cubicBezTo>
                  <a:pt x="857250" y="206997"/>
                  <a:pt x="797547" y="266700"/>
                  <a:pt x="72390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noFill/>
          <a:ln w="9525">
            <a:solidFill>
              <a:srgbClr val="48CAE4">
                <a:alpha val="50000"/>
              </a:srgbClr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999298" y="5465445"/>
            <a:ext cx="3829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8CAE4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现金流</a:t>
            </a:r>
          </a:p>
        </p:txBody>
      </p:sp>
      <p:sp>
        <p:nvSpPr>
          <p:cNvPr id="23" name="Freeform 23"/>
          <p:cNvSpPr/>
          <p:nvPr/>
        </p:nvSpPr>
        <p:spPr>
          <a:xfrm>
            <a:off x="2762250" y="5381625"/>
            <a:ext cx="857250" cy="266700"/>
          </a:xfrm>
          <a:custGeom>
            <a:avLst/>
            <a:gdLst/>
            <a:ahLst/>
            <a:cxnLst/>
            <a:rect l="l" t="t" r="r" b="b"/>
            <a:pathLst>
              <a:path w="857250" h="266700">
                <a:moveTo>
                  <a:pt x="133350" y="0"/>
                </a:moveTo>
                <a:lnTo>
                  <a:pt x="723900" y="0"/>
                </a:lnTo>
                <a:cubicBezTo>
                  <a:pt x="797547" y="0"/>
                  <a:pt x="857250" y="59703"/>
                  <a:pt x="857250" y="133350"/>
                </a:cubicBezTo>
                <a:lnTo>
                  <a:pt x="857250" y="133350"/>
                </a:lnTo>
                <a:cubicBezTo>
                  <a:pt x="857250" y="206997"/>
                  <a:pt x="797547" y="266700"/>
                  <a:pt x="72390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noFill/>
          <a:ln w="9525">
            <a:solidFill>
              <a:srgbClr val="48CAE4">
                <a:alpha val="50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939415" y="546544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8CAE4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资产质量</a:t>
            </a:r>
          </a:p>
        </p:txBody>
      </p:sp>
      <p:sp>
        <p:nvSpPr>
          <p:cNvPr id="25" name="Freeform 25"/>
          <p:cNvSpPr/>
          <p:nvPr/>
        </p:nvSpPr>
        <p:spPr>
          <a:xfrm>
            <a:off x="3762375" y="5381625"/>
            <a:ext cx="857250" cy="266700"/>
          </a:xfrm>
          <a:custGeom>
            <a:avLst/>
            <a:gdLst/>
            <a:ahLst/>
            <a:cxnLst/>
            <a:rect l="l" t="t" r="r" b="b"/>
            <a:pathLst>
              <a:path w="857250" h="266700">
                <a:moveTo>
                  <a:pt x="133350" y="0"/>
                </a:moveTo>
                <a:lnTo>
                  <a:pt x="723900" y="0"/>
                </a:lnTo>
                <a:cubicBezTo>
                  <a:pt x="797547" y="0"/>
                  <a:pt x="857250" y="59703"/>
                  <a:pt x="857250" y="133350"/>
                </a:cubicBezTo>
                <a:lnTo>
                  <a:pt x="857250" y="133350"/>
                </a:lnTo>
                <a:cubicBezTo>
                  <a:pt x="857250" y="206997"/>
                  <a:pt x="797547" y="266700"/>
                  <a:pt x="72390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noFill/>
          <a:ln w="9525">
            <a:solidFill>
              <a:srgbClr val="48CAE4">
                <a:alpha val="50000"/>
              </a:srgbClr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3999548" y="5465445"/>
            <a:ext cx="3829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8CAE4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成长性</a:t>
            </a:r>
          </a:p>
        </p:txBody>
      </p:sp>
      <p:sp>
        <p:nvSpPr>
          <p:cNvPr id="27" name="Line 27"/>
          <p:cNvSpPr/>
          <p:nvPr/>
        </p:nvSpPr>
        <p:spPr>
          <a:xfrm>
            <a:off x="4953000" y="762000"/>
            <a:ext cx="9525" cy="5334000"/>
          </a:xfrm>
          <a:custGeom>
            <a:avLst/>
            <a:gdLst/>
            <a:ahLst/>
            <a:cxnLst/>
            <a:rect l="l" t="t" r="r" b="b"/>
            <a:pathLst>
              <a:path w="9525" h="5334000">
                <a:moveTo>
                  <a:pt x="0" y="0"/>
                </a:moveTo>
                <a:lnTo>
                  <a:pt x="0" y="5334000"/>
                </a:lnTo>
              </a:path>
            </a:pathLst>
          </a:custGeom>
          <a:noFill/>
          <a:ln w="4762">
            <a:solidFill>
              <a:srgbClr val="48CAE4">
                <a:alpha val="15000"/>
              </a:srgbClr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610743" y="447675"/>
            <a:ext cx="2800207" cy="274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0" b="1" dirty="0">
                <a:solidFill>
                  <a:srgbClr val="48CAE4">
                    <a:alphaMod val="4000"/>
                  </a:srgbClr>
                </a:solidFill>
                <a:latin typeface="Arial"/>
                <a:ea typeface="Microsoft YaHei"/>
                <a:cs typeface="Arial"/>
              </a:rPr>
              <a:t>RQ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67523" y="2466975"/>
            <a:ext cx="2729127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4500" b="1" dirty="0">
                <a:solidFill>
                  <a:srgbClr val="00B4D8">
                    <a:alphaMod val="6000"/>
                  </a:srgbClr>
                </a:solidFill>
                <a:latin typeface="Arial"/>
                <a:ea typeface="Microsoft YaHei"/>
                <a:cs typeface="Arial"/>
              </a:rPr>
              <a:t>ANALYSIS</a:t>
            </a:r>
          </a:p>
        </p:txBody>
      </p:sp>
      <p:sp>
        <p:nvSpPr>
          <p:cNvPr id="30" name="Freeform 30"/>
          <p:cNvSpPr/>
          <p:nvPr/>
        </p:nvSpPr>
        <p:spPr>
          <a:xfrm>
            <a:off x="8169936" y="2000250"/>
            <a:ext cx="995583" cy="953009"/>
          </a:xfrm>
          <a:custGeom>
            <a:avLst/>
            <a:gdLst/>
            <a:ahLst/>
            <a:cxnLst/>
            <a:rect l="l" t="t" r="r" b="b"/>
            <a:pathLst>
              <a:path w="995583" h="953009">
                <a:moveTo>
                  <a:pt x="497719" y="0"/>
                </a:moveTo>
                <a:lnTo>
                  <a:pt x="503339" y="333"/>
                </a:lnTo>
                <a:lnTo>
                  <a:pt x="506149" y="714"/>
                </a:lnTo>
                <a:lnTo>
                  <a:pt x="509054" y="1333"/>
                </a:lnTo>
                <a:lnTo>
                  <a:pt x="514340" y="2953"/>
                </a:lnTo>
                <a:cubicBezTo>
                  <a:pt x="517991" y="4299"/>
                  <a:pt x="521463" y="6090"/>
                  <a:pt x="524675" y="8287"/>
                </a:cubicBezTo>
                <a:lnTo>
                  <a:pt x="529628" y="12192"/>
                </a:lnTo>
                <a:lnTo>
                  <a:pt x="541772" y="22574"/>
                </a:lnTo>
                <a:cubicBezTo>
                  <a:pt x="637847" y="102373"/>
                  <a:pt x="759269" y="145223"/>
                  <a:pt x="884148" y="143399"/>
                </a:cubicBezTo>
                <a:lnTo>
                  <a:pt x="900436" y="142923"/>
                </a:lnTo>
                <a:cubicBezTo>
                  <a:pt x="922351" y="141923"/>
                  <a:pt x="942114" y="156022"/>
                  <a:pt x="948299" y="177070"/>
                </a:cubicBezTo>
                <a:cubicBezTo>
                  <a:pt x="995583" y="337913"/>
                  <a:pt x="975617" y="511055"/>
                  <a:pt x="892966" y="656914"/>
                </a:cubicBezTo>
                <a:cubicBezTo>
                  <a:pt x="810315" y="802774"/>
                  <a:pt x="672046" y="908880"/>
                  <a:pt x="509768" y="950976"/>
                </a:cubicBezTo>
                <a:cubicBezTo>
                  <a:pt x="501929" y="953009"/>
                  <a:pt x="493700" y="953009"/>
                  <a:pt x="485860" y="950976"/>
                </a:cubicBezTo>
                <a:cubicBezTo>
                  <a:pt x="323574" y="908891"/>
                  <a:pt x="185293" y="802789"/>
                  <a:pt x="102633" y="656928"/>
                </a:cubicBezTo>
                <a:cubicBezTo>
                  <a:pt x="19972" y="511067"/>
                  <a:pt x="0" y="337919"/>
                  <a:pt x="47282" y="177070"/>
                </a:cubicBezTo>
                <a:cubicBezTo>
                  <a:pt x="53467" y="156022"/>
                  <a:pt x="73230" y="141923"/>
                  <a:pt x="95145" y="142923"/>
                </a:cubicBezTo>
                <a:cubicBezTo>
                  <a:pt x="225517" y="148882"/>
                  <a:pt x="353418" y="105965"/>
                  <a:pt x="453809" y="22574"/>
                </a:cubicBezTo>
                <a:lnTo>
                  <a:pt x="466334" y="11859"/>
                </a:lnTo>
                <a:lnTo>
                  <a:pt x="470906" y="8287"/>
                </a:lnTo>
                <a:cubicBezTo>
                  <a:pt x="474119" y="6090"/>
                  <a:pt x="477590" y="4299"/>
                  <a:pt x="481241" y="2953"/>
                </a:cubicBezTo>
                <a:lnTo>
                  <a:pt x="486575" y="1333"/>
                </a:lnTo>
                <a:cubicBezTo>
                  <a:pt x="488441" y="883"/>
                  <a:pt x="490334" y="549"/>
                  <a:pt x="492242" y="333"/>
                </a:cubicBezTo>
                <a:lnTo>
                  <a:pt x="497719" y="0"/>
                </a:lnTo>
                <a:close/>
                <a:moveTo>
                  <a:pt x="674408" y="347329"/>
                </a:moveTo>
                <a:cubicBezTo>
                  <a:pt x="665475" y="338386"/>
                  <a:pt x="653353" y="333361"/>
                  <a:pt x="640713" y="333361"/>
                </a:cubicBezTo>
                <a:cubicBezTo>
                  <a:pt x="628073" y="333361"/>
                  <a:pt x="615951" y="338386"/>
                  <a:pt x="607018" y="347329"/>
                </a:cubicBezTo>
                <a:lnTo>
                  <a:pt x="450189" y="504111"/>
                </a:lnTo>
                <a:lnTo>
                  <a:pt x="388610" y="442579"/>
                </a:lnTo>
                <a:lnTo>
                  <a:pt x="384133" y="438626"/>
                </a:lnTo>
                <a:cubicBezTo>
                  <a:pt x="364268" y="423266"/>
                  <a:pt x="335888" y="425969"/>
                  <a:pt x="319280" y="444804"/>
                </a:cubicBezTo>
                <a:cubicBezTo>
                  <a:pt x="302672" y="463639"/>
                  <a:pt x="303542" y="492134"/>
                  <a:pt x="321268" y="509921"/>
                </a:cubicBezTo>
                <a:lnTo>
                  <a:pt x="416518" y="605171"/>
                </a:lnTo>
                <a:lnTo>
                  <a:pt x="420995" y="609124"/>
                </a:lnTo>
                <a:cubicBezTo>
                  <a:pt x="439954" y="623830"/>
                  <a:pt x="466893" y="622137"/>
                  <a:pt x="483860" y="605171"/>
                </a:cubicBezTo>
                <a:lnTo>
                  <a:pt x="674360" y="414671"/>
                </a:lnTo>
                <a:lnTo>
                  <a:pt x="678313" y="410194"/>
                </a:lnTo>
                <a:cubicBezTo>
                  <a:pt x="693020" y="391235"/>
                  <a:pt x="691326" y="364296"/>
                  <a:pt x="674360" y="347329"/>
                </a:cubicBezTo>
                <a:close/>
              </a:path>
            </a:pathLst>
          </a:custGeom>
          <a:solidFill>
            <a:srgbClr val="48CAE4">
              <a:alpha val="12000"/>
            </a:srgbClr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7810500" y="1524000"/>
            <a:ext cx="1905000" cy="1905000"/>
          </a:xfrm>
          <a:prstGeom prst="ellipse">
            <a:avLst/>
          </a:prstGeom>
          <a:noFill/>
          <a:ln w="9525">
            <a:solidFill>
              <a:srgbClr val="48CAE4">
                <a:alpha val="8000"/>
              </a:srgbClr>
            </a:solidFill>
          </a:ln>
        </p:spPr>
      </p:sp>
      <p:sp>
        <p:nvSpPr>
          <p:cNvPr id="32" name="Ellipse 32"/>
          <p:cNvSpPr/>
          <p:nvPr/>
        </p:nvSpPr>
        <p:spPr>
          <a:xfrm>
            <a:off x="8001000" y="1714500"/>
            <a:ext cx="1524000" cy="1524000"/>
          </a:xfrm>
          <a:prstGeom prst="ellipse">
            <a:avLst/>
          </a:prstGeom>
          <a:noFill/>
          <a:ln w="4762">
            <a:solidFill>
              <a:srgbClr val="48CAE4">
                <a:alpha val="6000"/>
              </a:srgbClr>
            </a:solidFill>
          </a:ln>
        </p:spPr>
      </p:sp>
      <p:sp>
        <p:nvSpPr>
          <p:cNvPr id="33" name="Ellipse 33"/>
          <p:cNvSpPr/>
          <p:nvPr/>
        </p:nvSpPr>
        <p:spPr>
          <a:xfrm>
            <a:off x="7620000" y="1333500"/>
            <a:ext cx="2286000" cy="2286000"/>
          </a:xfrm>
          <a:prstGeom prst="ellipse">
            <a:avLst/>
          </a:prstGeom>
          <a:noFill/>
          <a:ln w="4762">
            <a:solidFill>
              <a:srgbClr val="48CAE4">
                <a:alpha val="5000"/>
              </a:srgbClr>
            </a:solidFill>
          </a:ln>
        </p:spPr>
      </p:sp>
      <p:sp>
        <p:nvSpPr>
          <p:cNvPr id="34" name="Ellipse 34"/>
          <p:cNvSpPr/>
          <p:nvPr/>
        </p:nvSpPr>
        <p:spPr>
          <a:xfrm>
            <a:off x="7115175" y="1685925"/>
            <a:ext cx="57150" cy="57150"/>
          </a:xfrm>
          <a:prstGeom prst="ellipse">
            <a:avLst/>
          </a:prstGeom>
          <a:solidFill>
            <a:srgbClr val="48CAE4">
              <a:alpha val="15000"/>
            </a:srgbClr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7791450" y="1409700"/>
            <a:ext cx="38100" cy="38100"/>
          </a:xfrm>
          <a:prstGeom prst="ellipse">
            <a:avLst/>
          </a:prstGeom>
          <a:solidFill>
            <a:srgbClr val="48CAE4">
              <a:alpha val="10000"/>
            </a:srgbClr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9972675" y="3590925"/>
            <a:ext cx="57150" cy="57150"/>
          </a:xfrm>
          <a:prstGeom prst="ellipse">
            <a:avLst/>
          </a:prstGeom>
          <a:solidFill>
            <a:srgbClr val="48CAE4">
              <a:alpha val="12000"/>
            </a:srgbClr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9315450" y="3981450"/>
            <a:ext cx="38100" cy="38100"/>
          </a:xfrm>
          <a:prstGeom prst="ellipse">
            <a:avLst/>
          </a:prstGeom>
          <a:solidFill>
            <a:srgbClr val="48CAE4">
              <a:alpha val="8000"/>
            </a:srgbClr>
          </a:solidFill>
          <a:ln>
            <a:noFill/>
          </a:ln>
        </p:spPr>
      </p:sp>
      <p:sp>
        <p:nvSpPr>
          <p:cNvPr id="38" name="Polyline 38"/>
          <p:cNvSpPr/>
          <p:nvPr/>
        </p:nvSpPr>
        <p:spPr>
          <a:xfrm>
            <a:off x="7143750" y="4191000"/>
            <a:ext cx="3143250" cy="381000"/>
          </a:xfrm>
          <a:custGeom>
            <a:avLst/>
            <a:gdLst/>
            <a:ahLst/>
            <a:cxnLst/>
            <a:rect l="l" t="t" r="r" b="b"/>
            <a:pathLst>
              <a:path w="3143250" h="381000">
                <a:moveTo>
                  <a:pt x="0" y="381000"/>
                </a:moveTo>
                <a:lnTo>
                  <a:pt x="952500" y="190500"/>
                </a:lnTo>
                <a:lnTo>
                  <a:pt x="1619250" y="285750"/>
                </a:lnTo>
                <a:lnTo>
                  <a:pt x="2381250" y="0"/>
                </a:lnTo>
                <a:lnTo>
                  <a:pt x="3143250" y="95250"/>
                </a:lnTo>
              </a:path>
            </a:pathLst>
          </a:custGeom>
          <a:noFill/>
          <a:ln w="14288">
            <a:solidFill>
              <a:srgbClr val="48CAE4">
                <a:alpha val="10000"/>
              </a:srgbClr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A1329">
              <a:alpha val="50000"/>
            </a:srgbClr>
          </a:solidFill>
          <a:ln>
            <a:noFill/>
          </a:ln>
        </p:spPr>
      </p:sp>
      <p:sp>
        <p:nvSpPr>
          <p:cNvPr id="40" name="Freeform 40"/>
          <p:cNvSpPr/>
          <p:nvPr/>
        </p:nvSpPr>
        <p:spPr>
          <a:xfrm>
            <a:off x="762000" y="6477000"/>
            <a:ext cx="476250" cy="28575"/>
          </a:xfrm>
          <a:custGeom>
            <a:avLst/>
            <a:gdLst/>
            <a:ahLst/>
            <a:cxnLst/>
            <a:rect l="l" t="t" r="r" b="b"/>
            <a:pathLst>
              <a:path w="476250" h="28575">
                <a:moveTo>
                  <a:pt x="14288" y="0"/>
                </a:moveTo>
                <a:lnTo>
                  <a:pt x="461962" y="0"/>
                </a:lnTo>
                <a:cubicBezTo>
                  <a:pt x="469853" y="0"/>
                  <a:pt x="476250" y="6397"/>
                  <a:pt x="476250" y="14288"/>
                </a:cubicBezTo>
                <a:lnTo>
                  <a:pt x="476250" y="14288"/>
                </a:lnTo>
                <a:cubicBezTo>
                  <a:pt x="476250" y="22178"/>
                  <a:pt x="469853" y="28575"/>
                  <a:pt x="46196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48CAE4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48665" y="6601778"/>
            <a:ext cx="1867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E0EF">
                    <a:alphaMod val="60000"/>
                  </a:srgbClr>
                </a:solidFill>
                <a:latin typeface="Segoe UI"/>
                <a:ea typeface="Microsoft YaHei"/>
                <a:cs typeface="Segoe UI"/>
              </a:rPr>
              <a:t>数据分析小组 · 财务分析报告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060049" y="6617970"/>
            <a:ext cx="1908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48CAE4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P01</a:t>
            </a:r>
          </a:p>
        </p:txBody>
      </p:sp>
      <p:sp>
        <p:nvSpPr>
          <p:cNvPr id="43" name="Rectangle 43"/>
          <p:cNvSpPr/>
          <p:nvPr/>
        </p:nvSpPr>
        <p:spPr>
          <a:xfrm>
            <a:off x="11430000" y="6667500"/>
            <a:ext cx="190500" cy="9525"/>
          </a:xfrm>
          <a:prstGeom prst="rect">
            <a:avLst/>
          </a:prstGeom>
          <a:solidFill>
            <a:srgbClr val="48CAE4">
              <a:alpha val="2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100000">
                <a:srgbClr val="0F1F3D"/>
              </a:gs>
            </a:gsLst>
            <a:lin ang="2700000" scaled="1"/>
          </a:gra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0" y="0"/>
            <a:ext cx="12192000" cy="6867525"/>
            <a:chOff x="0" y="0"/>
            <a:chExt cx="12192000" cy="6867525"/>
          </a:xfrm>
        </p:grpSpPr>
        <p:sp>
          <p:nvSpPr>
            <p:cNvPr id="3" name="Line 3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48CAE4">
                  <a:alpha val="3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48CAE4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48CAE4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48CAE4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48CAE4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48CAE4">
                  <a:alpha val="3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48CAE4">
                  <a:alpha val="3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48CAE4">
                  <a:alpha val="3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48CAE4">
                  <a:alpha val="3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48CAE4">
                  <a:alpha val="3000"/>
                </a:srgbClr>
              </a:solidFill>
            </a:ln>
          </p:spPr>
        </p:sp>
      </p:grpSp>
      <p:sp>
        <p:nvSpPr>
          <p:cNvPr id="14" name="Rectangle 14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>
            <a:gsLst>
              <a:gs pos="0">
                <a:srgbClr val="48CAE4"/>
              </a:gs>
              <a:gs pos="100000">
                <a:srgbClr val="00B4D8"/>
              </a:gs>
            </a:gsLst>
            <a:lin ang="0" scaled="1"/>
          </a:gra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655600" y="6466999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48CAE4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6" name="Freeform 16"/>
          <p:cNvSpPr/>
          <p:nvPr/>
        </p:nvSpPr>
        <p:spPr>
          <a:xfrm>
            <a:off x="381000" y="381000"/>
            <a:ext cx="5524500" cy="6096000"/>
          </a:xfrm>
          <a:custGeom>
            <a:avLst/>
            <a:gdLst/>
            <a:ahLst/>
            <a:cxnLst/>
            <a:rect l="l" t="t" r="r" b="b"/>
            <a:pathLst>
              <a:path w="5524500" h="6096000">
                <a:moveTo>
                  <a:pt x="152400" y="0"/>
                </a:moveTo>
                <a:lnTo>
                  <a:pt x="5372100" y="0"/>
                </a:lnTo>
                <a:cubicBezTo>
                  <a:pt x="5456268" y="0"/>
                  <a:pt x="5524500" y="68232"/>
                  <a:pt x="5524500" y="152400"/>
                </a:cubicBezTo>
                <a:lnTo>
                  <a:pt x="5524500" y="5943600"/>
                </a:lnTo>
                <a:cubicBezTo>
                  <a:pt x="5524500" y="6027768"/>
                  <a:pt x="5456268" y="6096000"/>
                  <a:pt x="5372100" y="6096000"/>
                </a:cubicBezTo>
                <a:lnTo>
                  <a:pt x="152400" y="6096000"/>
                </a:lnTo>
                <a:cubicBezTo>
                  <a:pt x="68232" y="6096000"/>
                  <a:pt x="0" y="6027768"/>
                  <a:pt x="0" y="5943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gradFill>
            <a:gsLst>
              <a:gs pos="0">
                <a:srgbClr val="000000"/>
              </a:gs>
              <a:gs pos="100000">
                <a:srgbClr val="000000"/>
              </a:gs>
            </a:gsLst>
            <a:lin ang="5400000" scaled="1"/>
          </a:gra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381000" y="381000"/>
            <a:ext cx="5524500" cy="609600"/>
          </a:xfrm>
          <a:custGeom>
            <a:avLst/>
            <a:gdLst/>
            <a:ahLst/>
            <a:cxnLst/>
            <a:rect l="l" t="t" r="r" b="b"/>
            <a:pathLst>
              <a:path w="5524500" h="609600">
                <a:moveTo>
                  <a:pt x="152400" y="0"/>
                </a:moveTo>
                <a:lnTo>
                  <a:pt x="5372100" y="0"/>
                </a:lnTo>
                <a:cubicBezTo>
                  <a:pt x="5456268" y="0"/>
                  <a:pt x="5524500" y="68232"/>
                  <a:pt x="5524500" y="152400"/>
                </a:cubicBezTo>
                <a:lnTo>
                  <a:pt x="5524500" y="457200"/>
                </a:lnTo>
                <a:cubicBezTo>
                  <a:pt x="5524500" y="541368"/>
                  <a:pt x="5456268" y="609600"/>
                  <a:pt x="5372100" y="609600"/>
                </a:cubicBezTo>
                <a:lnTo>
                  <a:pt x="152400" y="609600"/>
                </a:lnTo>
                <a:cubicBezTo>
                  <a:pt x="68232" y="609600"/>
                  <a:pt x="0" y="541368"/>
                  <a:pt x="0" y="4572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gradFill>
            <a:gsLst>
              <a:gs pos="0">
                <a:srgbClr val="48CAE4">
                  <a:alpha val="12000"/>
                </a:srgbClr>
              </a:gs>
              <a:gs pos="100000">
                <a:srgbClr val="00B4D8">
                  <a:alpha val="12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381000" y="762000"/>
            <a:ext cx="5524500" cy="228600"/>
          </a:xfrm>
          <a:prstGeom prst="rect">
            <a:avLst/>
          </a:prstGeom>
          <a:gradFill>
            <a:gsLst>
              <a:gs pos="0">
                <a:srgbClr val="48CAE4">
                  <a:alpha val="6000"/>
                </a:srgbClr>
              </a:gs>
              <a:gs pos="100000">
                <a:srgbClr val="00B4D8">
                  <a:alpha val="600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625673" y="602908"/>
            <a:ext cx="196453" cy="170998"/>
            <a:chOff x="625673" y="602908"/>
            <a:chExt cx="196453" cy="170998"/>
          </a:xfrm>
        </p:grpSpPr>
        <p:sp>
          <p:nvSpPr>
            <p:cNvPr id="19" name="Freeform 19"/>
            <p:cNvSpPr/>
            <p:nvPr/>
          </p:nvSpPr>
          <p:spPr>
            <a:xfrm>
              <a:off x="651866" y="609842"/>
              <a:ext cx="78583" cy="157515"/>
            </a:xfrm>
            <a:custGeom>
              <a:avLst/>
              <a:gdLst/>
              <a:ahLst/>
              <a:cxnLst/>
              <a:rect l="l" t="t" r="r" b="b"/>
              <a:pathLst>
                <a:path w="78583" h="157515">
                  <a:moveTo>
                    <a:pt x="78583" y="6901"/>
                  </a:moveTo>
                  <a:lnTo>
                    <a:pt x="78583" y="157515"/>
                  </a:lnTo>
                  <a:lnTo>
                    <a:pt x="1" y="157515"/>
                  </a:lnTo>
                  <a:lnTo>
                    <a:pt x="1" y="50571"/>
                  </a:lnTo>
                  <a:cubicBezTo>
                    <a:pt x="0" y="48381"/>
                    <a:pt x="1094" y="46335"/>
                    <a:pt x="2915" y="45120"/>
                  </a:cubicBezTo>
                  <a:lnTo>
                    <a:pt x="68400" y="1466"/>
                  </a:lnTo>
                  <a:cubicBezTo>
                    <a:pt x="70407" y="127"/>
                    <a:pt x="72989" y="0"/>
                    <a:pt x="75118" y="1136"/>
                  </a:cubicBezTo>
                  <a:cubicBezTo>
                    <a:pt x="77247" y="2273"/>
                    <a:pt x="78578" y="4488"/>
                    <a:pt x="78583" y="6901"/>
                  </a:cubicBezTo>
                  <a:close/>
                </a:path>
              </a:pathLst>
            </a:cu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625673" y="602908"/>
              <a:ext cx="196453" cy="170998"/>
            </a:xfrm>
            <a:custGeom>
              <a:avLst/>
              <a:gdLst/>
              <a:ahLst/>
              <a:cxnLst/>
              <a:rect l="l" t="t" r="r" b="b"/>
              <a:pathLst>
                <a:path w="196453" h="170998">
                  <a:moveTo>
                    <a:pt x="189905" y="157901"/>
                  </a:moveTo>
                  <a:lnTo>
                    <a:pt x="176808" y="157901"/>
                  </a:lnTo>
                  <a:lnTo>
                    <a:pt x="176808" y="66223"/>
                  </a:lnTo>
                  <a:cubicBezTo>
                    <a:pt x="176808" y="58990"/>
                    <a:pt x="170944" y="53126"/>
                    <a:pt x="163711" y="53126"/>
                  </a:cubicBezTo>
                  <a:lnTo>
                    <a:pt x="111323" y="53126"/>
                  </a:lnTo>
                  <a:lnTo>
                    <a:pt x="111323" y="13836"/>
                  </a:lnTo>
                  <a:cubicBezTo>
                    <a:pt x="111327" y="9003"/>
                    <a:pt x="108668" y="4562"/>
                    <a:pt x="104408" y="2281"/>
                  </a:cubicBezTo>
                  <a:cubicBezTo>
                    <a:pt x="100148" y="0"/>
                    <a:pt x="94978" y="250"/>
                    <a:pt x="90958" y="2932"/>
                  </a:cubicBezTo>
                  <a:lnTo>
                    <a:pt x="25473" y="46578"/>
                  </a:lnTo>
                  <a:cubicBezTo>
                    <a:pt x="21825" y="49012"/>
                    <a:pt x="19637" y="53111"/>
                    <a:pt x="19645" y="57497"/>
                  </a:cubicBezTo>
                  <a:lnTo>
                    <a:pt x="19645" y="157901"/>
                  </a:lnTo>
                  <a:lnTo>
                    <a:pt x="6548" y="157901"/>
                  </a:lnTo>
                  <a:cubicBezTo>
                    <a:pt x="2932" y="157901"/>
                    <a:pt x="0" y="160833"/>
                    <a:pt x="0" y="164450"/>
                  </a:cubicBezTo>
                  <a:cubicBezTo>
                    <a:pt x="0" y="168066"/>
                    <a:pt x="2932" y="170998"/>
                    <a:pt x="6548" y="170998"/>
                  </a:cubicBezTo>
                  <a:lnTo>
                    <a:pt x="189905" y="170998"/>
                  </a:lnTo>
                  <a:cubicBezTo>
                    <a:pt x="193521" y="170998"/>
                    <a:pt x="196453" y="168066"/>
                    <a:pt x="196453" y="164450"/>
                  </a:cubicBezTo>
                  <a:cubicBezTo>
                    <a:pt x="196453" y="160833"/>
                    <a:pt x="193521" y="157901"/>
                    <a:pt x="189905" y="157901"/>
                  </a:cubicBezTo>
                  <a:close/>
                  <a:moveTo>
                    <a:pt x="163711" y="66223"/>
                  </a:moveTo>
                  <a:lnTo>
                    <a:pt x="163711" y="157901"/>
                  </a:lnTo>
                  <a:lnTo>
                    <a:pt x="111323" y="157901"/>
                  </a:lnTo>
                  <a:lnTo>
                    <a:pt x="111323" y="66223"/>
                  </a:lnTo>
                  <a:close/>
                  <a:moveTo>
                    <a:pt x="32742" y="57497"/>
                  </a:moveTo>
                  <a:lnTo>
                    <a:pt x="98227" y="13836"/>
                  </a:lnTo>
                  <a:lnTo>
                    <a:pt x="98227" y="157901"/>
                  </a:lnTo>
                  <a:lnTo>
                    <a:pt x="32742" y="157901"/>
                  </a:lnTo>
                  <a:close/>
                  <a:moveTo>
                    <a:pt x="85130" y="79320"/>
                  </a:moveTo>
                  <a:lnTo>
                    <a:pt x="85130" y="92417"/>
                  </a:lnTo>
                  <a:cubicBezTo>
                    <a:pt x="85130" y="96033"/>
                    <a:pt x="82198" y="98965"/>
                    <a:pt x="78581" y="98965"/>
                  </a:cubicBezTo>
                  <a:cubicBezTo>
                    <a:pt x="74965" y="98965"/>
                    <a:pt x="72033" y="96033"/>
                    <a:pt x="72033" y="92417"/>
                  </a:cubicBezTo>
                  <a:lnTo>
                    <a:pt x="72033" y="79320"/>
                  </a:lnTo>
                  <a:cubicBezTo>
                    <a:pt x="72033" y="75703"/>
                    <a:pt x="74965" y="72772"/>
                    <a:pt x="78581" y="72772"/>
                  </a:cubicBezTo>
                  <a:cubicBezTo>
                    <a:pt x="82198" y="72772"/>
                    <a:pt x="85130" y="75703"/>
                    <a:pt x="85130" y="79320"/>
                  </a:cubicBezTo>
                  <a:close/>
                  <a:moveTo>
                    <a:pt x="58936" y="79320"/>
                  </a:moveTo>
                  <a:lnTo>
                    <a:pt x="58936" y="92417"/>
                  </a:lnTo>
                  <a:cubicBezTo>
                    <a:pt x="58936" y="96033"/>
                    <a:pt x="56004" y="98965"/>
                    <a:pt x="52388" y="98965"/>
                  </a:cubicBezTo>
                  <a:cubicBezTo>
                    <a:pt x="48771" y="98965"/>
                    <a:pt x="45839" y="96033"/>
                    <a:pt x="45839" y="92417"/>
                  </a:cubicBezTo>
                  <a:lnTo>
                    <a:pt x="45839" y="79320"/>
                  </a:lnTo>
                  <a:cubicBezTo>
                    <a:pt x="45839" y="75703"/>
                    <a:pt x="48771" y="72772"/>
                    <a:pt x="52388" y="72772"/>
                  </a:cubicBezTo>
                  <a:cubicBezTo>
                    <a:pt x="56004" y="72772"/>
                    <a:pt x="58936" y="75703"/>
                    <a:pt x="58936" y="79320"/>
                  </a:cubicBezTo>
                  <a:close/>
                  <a:moveTo>
                    <a:pt x="58936" y="125159"/>
                  </a:moveTo>
                  <a:lnTo>
                    <a:pt x="58936" y="138256"/>
                  </a:lnTo>
                  <a:cubicBezTo>
                    <a:pt x="58936" y="141873"/>
                    <a:pt x="56004" y="144804"/>
                    <a:pt x="52388" y="144804"/>
                  </a:cubicBezTo>
                  <a:cubicBezTo>
                    <a:pt x="48771" y="144804"/>
                    <a:pt x="45839" y="141873"/>
                    <a:pt x="45839" y="138256"/>
                  </a:cubicBezTo>
                  <a:lnTo>
                    <a:pt x="45839" y="125159"/>
                  </a:lnTo>
                  <a:cubicBezTo>
                    <a:pt x="45839" y="121542"/>
                    <a:pt x="48771" y="118611"/>
                    <a:pt x="52388" y="118611"/>
                  </a:cubicBezTo>
                  <a:cubicBezTo>
                    <a:pt x="56004" y="118611"/>
                    <a:pt x="58936" y="121542"/>
                    <a:pt x="58936" y="125159"/>
                  </a:cubicBezTo>
                  <a:close/>
                  <a:moveTo>
                    <a:pt x="85130" y="125159"/>
                  </a:moveTo>
                  <a:lnTo>
                    <a:pt x="85130" y="138256"/>
                  </a:lnTo>
                  <a:cubicBezTo>
                    <a:pt x="85130" y="141873"/>
                    <a:pt x="82198" y="144804"/>
                    <a:pt x="78581" y="144804"/>
                  </a:cubicBezTo>
                  <a:cubicBezTo>
                    <a:pt x="74965" y="144804"/>
                    <a:pt x="72033" y="141873"/>
                    <a:pt x="72033" y="138256"/>
                  </a:cubicBezTo>
                  <a:lnTo>
                    <a:pt x="72033" y="125159"/>
                  </a:lnTo>
                  <a:cubicBezTo>
                    <a:pt x="72033" y="121542"/>
                    <a:pt x="74965" y="118611"/>
                    <a:pt x="78581" y="118611"/>
                  </a:cubicBezTo>
                  <a:cubicBezTo>
                    <a:pt x="82198" y="118611"/>
                    <a:pt x="85130" y="121542"/>
                    <a:pt x="85130" y="125159"/>
                  </a:cubicBezTo>
                  <a:close/>
                </a:path>
              </a:pathLst>
            </a:custGeom>
            <a:solidFill>
              <a:srgbClr val="48CAE4"/>
            </a:solidFill>
            <a:ln>
              <a:noFill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901065" y="558165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公司概况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92455" y="1154430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锐明技术</a:t>
            </a:r>
          </a:p>
        </p:txBody>
      </p:sp>
      <p:sp>
        <p:nvSpPr>
          <p:cNvPr id="24" name="Freeform 24"/>
          <p:cNvSpPr/>
          <p:nvPr/>
        </p:nvSpPr>
        <p:spPr>
          <a:xfrm>
            <a:off x="2400300" y="1209675"/>
            <a:ext cx="1333500" cy="266700"/>
          </a:xfrm>
          <a:custGeom>
            <a:avLst/>
            <a:gdLst/>
            <a:ahLst/>
            <a:cxnLst/>
            <a:rect l="l" t="t" r="r" b="b"/>
            <a:pathLst>
              <a:path w="1333500" h="266700">
                <a:moveTo>
                  <a:pt x="38100" y="0"/>
                </a:moveTo>
                <a:lnTo>
                  <a:pt x="1295400" y="0"/>
                </a:lnTo>
                <a:cubicBezTo>
                  <a:pt x="1316442" y="0"/>
                  <a:pt x="1333500" y="17058"/>
                  <a:pt x="1333500" y="38100"/>
                </a:cubicBezTo>
                <a:lnTo>
                  <a:pt x="1333500" y="228600"/>
                </a:lnTo>
                <a:cubicBezTo>
                  <a:pt x="1333500" y="249642"/>
                  <a:pt x="1316442" y="266700"/>
                  <a:pt x="12954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454615" y="1286828"/>
            <a:ext cx="12248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48CAE4"/>
                </a:solidFill>
                <a:latin typeface="Arial"/>
                <a:ea typeface="Microsoft YaHei"/>
                <a:cs typeface="Arial"/>
              </a:rPr>
              <a:t>股票代码: 002970</a:t>
            </a:r>
          </a:p>
        </p:txBody>
      </p:sp>
      <p:sp>
        <p:nvSpPr>
          <p:cNvPr id="26" name="Line 26"/>
          <p:cNvSpPr/>
          <p:nvPr/>
        </p:nvSpPr>
        <p:spPr>
          <a:xfrm>
            <a:off x="619125" y="1714500"/>
            <a:ext cx="5048250" cy="9525"/>
          </a:xfrm>
          <a:custGeom>
            <a:avLst/>
            <a:gdLst/>
            <a:ahLst/>
            <a:cxnLst/>
            <a:rect l="l" t="t" r="r" b="b"/>
            <a:pathLst>
              <a:path w="5048250" h="9525">
                <a:moveTo>
                  <a:pt x="0" y="0"/>
                </a:moveTo>
                <a:lnTo>
                  <a:pt x="5048250" y="0"/>
                </a:lnTo>
              </a:path>
            </a:pathLst>
          </a:custGeom>
          <a:noFill/>
          <a:ln w="9525">
            <a:gradFill>
              <a:gsLst>
                <a:gs pos="0">
                  <a:srgbClr val="48CAE4">
                    <a:alpha val="40000"/>
                  </a:srgbClr>
                </a:gs>
                <a:gs pos="100000">
                  <a:srgbClr val="00B4D8">
                    <a:alpha val="40000"/>
                  </a:srgbClr>
                </a:gs>
              </a:gsLst>
              <a:lin ang="0" scaled="1"/>
            </a:gradFill>
          </a:ln>
        </p:spPr>
      </p:sp>
      <p:grpSp>
        <p:nvGrpSpPr>
          <p:cNvPr id="46" name="Group 46"/>
          <p:cNvGrpSpPr/>
          <p:nvPr/>
        </p:nvGrpSpPr>
        <p:grpSpPr>
          <a:xfrm>
            <a:off x="619125" y="1905000"/>
            <a:ext cx="5048250" cy="885825"/>
            <a:chOff x="619125" y="1905000"/>
            <a:chExt cx="5048250" cy="885825"/>
          </a:xfrm>
        </p:grpSpPr>
        <p:sp>
          <p:nvSpPr>
            <p:cNvPr id="27" name="Freeform 27"/>
            <p:cNvSpPr/>
            <p:nvPr/>
          </p:nvSpPr>
          <p:spPr>
            <a:xfrm>
              <a:off x="619125" y="1905000"/>
              <a:ext cx="1619250" cy="762000"/>
            </a:xfrm>
            <a:custGeom>
              <a:avLst/>
              <a:gdLst/>
              <a:ahLst/>
              <a:cxnLst/>
              <a:rect l="l" t="t" r="r" b="b"/>
              <a:pathLst>
                <a:path w="1619250" h="762000">
                  <a:moveTo>
                    <a:pt x="95250" y="0"/>
                  </a:moveTo>
                  <a:lnTo>
                    <a:pt x="1524000" y="0"/>
                  </a:lnTo>
                  <a:cubicBezTo>
                    <a:pt x="1576605" y="0"/>
                    <a:pt x="1619250" y="42645"/>
                    <a:pt x="1619250" y="95250"/>
                  </a:cubicBezTo>
                  <a:lnTo>
                    <a:pt x="1619250" y="666750"/>
                  </a:lnTo>
                  <a:cubicBezTo>
                    <a:pt x="1619250" y="719355"/>
                    <a:pt x="1576605" y="762000"/>
                    <a:pt x="152400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000000"/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831056" y="2087166"/>
              <a:ext cx="128588" cy="139303"/>
              <a:chOff x="831056" y="2087166"/>
              <a:chExt cx="128588" cy="13930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36414" y="2103239"/>
                <a:ext cx="117872" cy="32147"/>
              </a:xfrm>
              <a:custGeom>
                <a:avLst/>
                <a:gdLst/>
                <a:ahLst/>
                <a:cxnLst/>
                <a:rect l="l" t="t" r="r" b="b"/>
                <a:pathLst>
                  <a:path w="117872" h="32147">
                    <a:moveTo>
                      <a:pt x="117872" y="5358"/>
                    </a:moveTo>
                    <a:lnTo>
                      <a:pt x="117872" y="32147"/>
                    </a:lnTo>
                    <a:lnTo>
                      <a:pt x="0" y="32147"/>
                    </a:lnTo>
                    <a:lnTo>
                      <a:pt x="0" y="5358"/>
                    </a:lnTo>
                    <a:cubicBezTo>
                      <a:pt x="0" y="2399"/>
                      <a:pt x="2399" y="0"/>
                      <a:pt x="5358" y="0"/>
                    </a:cubicBezTo>
                    <a:lnTo>
                      <a:pt x="112514" y="0"/>
                    </a:lnTo>
                    <a:cubicBezTo>
                      <a:pt x="115473" y="0"/>
                      <a:pt x="117872" y="2399"/>
                      <a:pt x="117872" y="5358"/>
                    </a:cubicBezTo>
                    <a:close/>
                  </a:path>
                </a:pathLst>
              </a:custGeom>
              <a:solidFill>
                <a:srgbClr val="48CAE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1056" y="2087166"/>
                <a:ext cx="128588" cy="139303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39303">
                    <a:moveTo>
                      <a:pt x="117872" y="10716"/>
                    </a:moveTo>
                    <a:lnTo>
                      <a:pt x="101798" y="10716"/>
                    </a:lnTo>
                    <a:lnTo>
                      <a:pt x="101798" y="5358"/>
                    </a:lnTo>
                    <a:cubicBezTo>
                      <a:pt x="101798" y="2399"/>
                      <a:pt x="99400" y="0"/>
                      <a:pt x="96441" y="0"/>
                    </a:cubicBezTo>
                    <a:cubicBezTo>
                      <a:pt x="93482" y="0"/>
                      <a:pt x="91083" y="2399"/>
                      <a:pt x="91083" y="5358"/>
                    </a:cubicBezTo>
                    <a:lnTo>
                      <a:pt x="91083" y="10716"/>
                    </a:lnTo>
                    <a:lnTo>
                      <a:pt x="37505" y="10716"/>
                    </a:lnTo>
                    <a:lnTo>
                      <a:pt x="37505" y="5358"/>
                    </a:lnTo>
                    <a:cubicBezTo>
                      <a:pt x="37505" y="2399"/>
                      <a:pt x="35106" y="0"/>
                      <a:pt x="32147" y="0"/>
                    </a:cubicBezTo>
                    <a:cubicBezTo>
                      <a:pt x="29188" y="0"/>
                      <a:pt x="26789" y="2399"/>
                      <a:pt x="26789" y="5358"/>
                    </a:cubicBezTo>
                    <a:lnTo>
                      <a:pt x="26789" y="10716"/>
                    </a:lnTo>
                    <a:lnTo>
                      <a:pt x="10716" y="10716"/>
                    </a:lnTo>
                    <a:cubicBezTo>
                      <a:pt x="4798" y="10716"/>
                      <a:pt x="0" y="15513"/>
                      <a:pt x="0" y="21431"/>
                    </a:cubicBezTo>
                    <a:lnTo>
                      <a:pt x="0" y="128588"/>
                    </a:lnTo>
                    <a:cubicBezTo>
                      <a:pt x="0" y="134506"/>
                      <a:pt x="4798" y="139303"/>
                      <a:pt x="10716" y="139303"/>
                    </a:cubicBezTo>
                    <a:lnTo>
                      <a:pt x="117872" y="139303"/>
                    </a:lnTo>
                    <a:cubicBezTo>
                      <a:pt x="123790" y="139303"/>
                      <a:pt x="128588" y="134506"/>
                      <a:pt x="128588" y="128588"/>
                    </a:cubicBezTo>
                    <a:lnTo>
                      <a:pt x="128588" y="21431"/>
                    </a:lnTo>
                    <a:cubicBezTo>
                      <a:pt x="128588" y="15513"/>
                      <a:pt x="123790" y="10716"/>
                      <a:pt x="117872" y="10716"/>
                    </a:cubicBezTo>
                    <a:close/>
                    <a:moveTo>
                      <a:pt x="26789" y="21431"/>
                    </a:moveTo>
                    <a:lnTo>
                      <a:pt x="26789" y="26789"/>
                    </a:lnTo>
                    <a:cubicBezTo>
                      <a:pt x="26789" y="29748"/>
                      <a:pt x="29188" y="32147"/>
                      <a:pt x="32147" y="32147"/>
                    </a:cubicBezTo>
                    <a:cubicBezTo>
                      <a:pt x="35106" y="32147"/>
                      <a:pt x="37505" y="29748"/>
                      <a:pt x="37505" y="26789"/>
                    </a:cubicBezTo>
                    <a:lnTo>
                      <a:pt x="37505" y="21431"/>
                    </a:lnTo>
                    <a:lnTo>
                      <a:pt x="91083" y="21431"/>
                    </a:lnTo>
                    <a:lnTo>
                      <a:pt x="91083" y="26789"/>
                    </a:lnTo>
                    <a:cubicBezTo>
                      <a:pt x="91083" y="29748"/>
                      <a:pt x="93482" y="32147"/>
                      <a:pt x="96441" y="32147"/>
                    </a:cubicBezTo>
                    <a:cubicBezTo>
                      <a:pt x="99400" y="32147"/>
                      <a:pt x="101798" y="29748"/>
                      <a:pt x="101798" y="26789"/>
                    </a:cubicBezTo>
                    <a:lnTo>
                      <a:pt x="101798" y="21431"/>
                    </a:lnTo>
                    <a:lnTo>
                      <a:pt x="117872" y="21431"/>
                    </a:lnTo>
                    <a:lnTo>
                      <a:pt x="117872" y="42862"/>
                    </a:lnTo>
                    <a:lnTo>
                      <a:pt x="10716" y="42862"/>
                    </a:lnTo>
                    <a:lnTo>
                      <a:pt x="10716" y="21431"/>
                    </a:lnTo>
                    <a:close/>
                    <a:moveTo>
                      <a:pt x="117872" y="128588"/>
                    </a:moveTo>
                    <a:lnTo>
                      <a:pt x="10716" y="128588"/>
                    </a:lnTo>
                    <a:lnTo>
                      <a:pt x="10716" y="53578"/>
                    </a:lnTo>
                    <a:lnTo>
                      <a:pt x="117872" y="53578"/>
                    </a:lnTo>
                    <a:lnTo>
                      <a:pt x="117872" y="128588"/>
                    </a:lnTo>
                    <a:close/>
                  </a:path>
                </a:pathLst>
              </a:custGeom>
              <a:solidFill>
                <a:srgbClr val="48CAE4"/>
              </a:solidFill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63942" y="2114074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0E0E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成立年份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6765" y="2358390"/>
              <a:ext cx="9278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2002 年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2428875" y="1905000"/>
              <a:ext cx="1619250" cy="762000"/>
            </a:xfrm>
            <a:custGeom>
              <a:avLst/>
              <a:gdLst/>
              <a:ahLst/>
              <a:cxnLst/>
              <a:rect l="l" t="t" r="r" b="b"/>
              <a:pathLst>
                <a:path w="1619250" h="762000">
                  <a:moveTo>
                    <a:pt x="95250" y="0"/>
                  </a:moveTo>
                  <a:lnTo>
                    <a:pt x="1524000" y="0"/>
                  </a:lnTo>
                  <a:cubicBezTo>
                    <a:pt x="1576605" y="0"/>
                    <a:pt x="1619250" y="42645"/>
                    <a:pt x="1619250" y="95250"/>
                  </a:cubicBezTo>
                  <a:lnTo>
                    <a:pt x="1619250" y="666750"/>
                  </a:lnTo>
                  <a:cubicBezTo>
                    <a:pt x="1619250" y="719355"/>
                    <a:pt x="1576605" y="762000"/>
                    <a:pt x="152400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000000"/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2646164" y="2087166"/>
              <a:ext cx="117872" cy="150019"/>
              <a:chOff x="2646164" y="2087166"/>
              <a:chExt cx="117872" cy="150019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2651522" y="2092523"/>
                <a:ext cx="107156" cy="139303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39303">
                    <a:moveTo>
                      <a:pt x="53578" y="0"/>
                    </a:moveTo>
                    <a:cubicBezTo>
                      <a:pt x="23988" y="0"/>
                      <a:pt x="0" y="23988"/>
                      <a:pt x="0" y="53578"/>
                    </a:cubicBezTo>
                    <a:cubicBezTo>
                      <a:pt x="0" y="101798"/>
                      <a:pt x="53578" y="139303"/>
                      <a:pt x="53578" y="139303"/>
                    </a:cubicBezTo>
                    <a:cubicBezTo>
                      <a:pt x="53578" y="139303"/>
                      <a:pt x="107156" y="101798"/>
                      <a:pt x="107156" y="53578"/>
                    </a:cubicBezTo>
                    <a:cubicBezTo>
                      <a:pt x="107156" y="23988"/>
                      <a:pt x="83169" y="0"/>
                      <a:pt x="53578" y="0"/>
                    </a:cubicBezTo>
                    <a:close/>
                    <a:moveTo>
                      <a:pt x="53578" y="75009"/>
                    </a:moveTo>
                    <a:cubicBezTo>
                      <a:pt x="41742" y="75009"/>
                      <a:pt x="32147" y="65414"/>
                      <a:pt x="32147" y="53578"/>
                    </a:cubicBezTo>
                    <a:cubicBezTo>
                      <a:pt x="32147" y="41742"/>
                      <a:pt x="41742" y="32147"/>
                      <a:pt x="53578" y="32147"/>
                    </a:cubicBezTo>
                    <a:cubicBezTo>
                      <a:pt x="65414" y="32147"/>
                      <a:pt x="75009" y="41742"/>
                      <a:pt x="75009" y="53578"/>
                    </a:cubicBezTo>
                    <a:cubicBezTo>
                      <a:pt x="75009" y="65414"/>
                      <a:pt x="65414" y="75009"/>
                      <a:pt x="53578" y="75009"/>
                    </a:cubicBezTo>
                    <a:close/>
                  </a:path>
                </a:pathLst>
              </a:custGeom>
              <a:solidFill>
                <a:srgbClr val="48CAE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2646164" y="2087166"/>
                <a:ext cx="117872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17872" h="150019">
                    <a:moveTo>
                      <a:pt x="107156" y="139303"/>
                    </a:moveTo>
                    <a:lnTo>
                      <a:pt x="74032" y="139303"/>
                    </a:lnTo>
                    <a:cubicBezTo>
                      <a:pt x="79596" y="134335"/>
                      <a:pt x="84844" y="129022"/>
                      <a:pt x="89743" y="123397"/>
                    </a:cubicBezTo>
                    <a:cubicBezTo>
                      <a:pt x="108127" y="102254"/>
                      <a:pt x="117872" y="79965"/>
                      <a:pt x="117872" y="58936"/>
                    </a:cubicBezTo>
                    <a:cubicBezTo>
                      <a:pt x="117872" y="26387"/>
                      <a:pt x="91485" y="0"/>
                      <a:pt x="58936" y="0"/>
                    </a:cubicBezTo>
                    <a:cubicBezTo>
                      <a:pt x="26387" y="0"/>
                      <a:pt x="0" y="26387"/>
                      <a:pt x="0" y="58936"/>
                    </a:cubicBezTo>
                    <a:cubicBezTo>
                      <a:pt x="0" y="79965"/>
                      <a:pt x="9718" y="102254"/>
                      <a:pt x="28129" y="123397"/>
                    </a:cubicBezTo>
                    <a:cubicBezTo>
                      <a:pt x="33028" y="129022"/>
                      <a:pt x="38276" y="134335"/>
                      <a:pt x="43840" y="139303"/>
                    </a:cubicBezTo>
                    <a:lnTo>
                      <a:pt x="10716" y="139303"/>
                    </a:lnTo>
                    <a:cubicBezTo>
                      <a:pt x="7757" y="139303"/>
                      <a:pt x="5358" y="141702"/>
                      <a:pt x="5358" y="144661"/>
                    </a:cubicBezTo>
                    <a:cubicBezTo>
                      <a:pt x="5358" y="147620"/>
                      <a:pt x="7757" y="150019"/>
                      <a:pt x="10716" y="150019"/>
                    </a:cubicBezTo>
                    <a:lnTo>
                      <a:pt x="107156" y="150019"/>
                    </a:lnTo>
                    <a:cubicBezTo>
                      <a:pt x="110115" y="150019"/>
                      <a:pt x="112514" y="147620"/>
                      <a:pt x="112514" y="144661"/>
                    </a:cubicBezTo>
                    <a:cubicBezTo>
                      <a:pt x="112514" y="141702"/>
                      <a:pt x="110115" y="139303"/>
                      <a:pt x="107156" y="139303"/>
                    </a:cubicBezTo>
                    <a:close/>
                    <a:moveTo>
                      <a:pt x="10716" y="58936"/>
                    </a:moveTo>
                    <a:cubicBezTo>
                      <a:pt x="10716" y="32305"/>
                      <a:pt x="32305" y="10716"/>
                      <a:pt x="58936" y="10716"/>
                    </a:cubicBezTo>
                    <a:cubicBezTo>
                      <a:pt x="85567" y="10716"/>
                      <a:pt x="107156" y="32305"/>
                      <a:pt x="107156" y="58936"/>
                    </a:cubicBezTo>
                    <a:cubicBezTo>
                      <a:pt x="107156" y="97264"/>
                      <a:pt x="70007" y="129257"/>
                      <a:pt x="58936" y="137964"/>
                    </a:cubicBezTo>
                    <a:cubicBezTo>
                      <a:pt x="47865" y="129257"/>
                      <a:pt x="10716" y="97264"/>
                      <a:pt x="10716" y="58936"/>
                    </a:cubicBezTo>
                    <a:close/>
                    <a:moveTo>
                      <a:pt x="85725" y="58936"/>
                    </a:moveTo>
                    <a:cubicBezTo>
                      <a:pt x="85725" y="44141"/>
                      <a:pt x="73731" y="32147"/>
                      <a:pt x="58936" y="32147"/>
                    </a:cubicBezTo>
                    <a:cubicBezTo>
                      <a:pt x="44141" y="32147"/>
                      <a:pt x="32147" y="44141"/>
                      <a:pt x="32147" y="58936"/>
                    </a:cubicBezTo>
                    <a:cubicBezTo>
                      <a:pt x="32147" y="73731"/>
                      <a:pt x="44141" y="85725"/>
                      <a:pt x="58936" y="85725"/>
                    </a:cubicBezTo>
                    <a:cubicBezTo>
                      <a:pt x="73731" y="85725"/>
                      <a:pt x="85725" y="73731"/>
                      <a:pt x="85725" y="58936"/>
                    </a:cubicBezTo>
                    <a:close/>
                    <a:moveTo>
                      <a:pt x="42862" y="58936"/>
                    </a:moveTo>
                    <a:cubicBezTo>
                      <a:pt x="42862" y="50059"/>
                      <a:pt x="50059" y="42862"/>
                      <a:pt x="58936" y="42862"/>
                    </a:cubicBezTo>
                    <a:cubicBezTo>
                      <a:pt x="67813" y="42862"/>
                      <a:pt x="75009" y="50059"/>
                      <a:pt x="75009" y="58936"/>
                    </a:cubicBezTo>
                    <a:cubicBezTo>
                      <a:pt x="75009" y="67813"/>
                      <a:pt x="67813" y="75009"/>
                      <a:pt x="58936" y="75009"/>
                    </a:cubicBezTo>
                    <a:cubicBezTo>
                      <a:pt x="50059" y="75009"/>
                      <a:pt x="42862" y="67813"/>
                      <a:pt x="42862" y="58936"/>
                    </a:cubicBezTo>
                    <a:close/>
                  </a:path>
                </a:pathLst>
              </a:custGeom>
              <a:solidFill>
                <a:srgbClr val="48CAE4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2873692" y="2114074"/>
              <a:ext cx="2847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0E0E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总部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596515" y="23583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深圳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4238625" y="1905000"/>
              <a:ext cx="1428750" cy="762000"/>
            </a:xfrm>
            <a:custGeom>
              <a:avLst/>
              <a:gdLst/>
              <a:ahLst/>
              <a:cxnLst/>
              <a:rect l="l" t="t" r="r" b="b"/>
              <a:pathLst>
                <a:path w="1428750" h="762000">
                  <a:moveTo>
                    <a:pt x="95250" y="0"/>
                  </a:moveTo>
                  <a:lnTo>
                    <a:pt x="1333500" y="0"/>
                  </a:lnTo>
                  <a:cubicBezTo>
                    <a:pt x="1386105" y="0"/>
                    <a:pt x="1428750" y="42645"/>
                    <a:pt x="1428750" y="95250"/>
                  </a:cubicBezTo>
                  <a:lnTo>
                    <a:pt x="1428750" y="666750"/>
                  </a:lnTo>
                  <a:cubicBezTo>
                    <a:pt x="1428750" y="719355"/>
                    <a:pt x="1386105" y="762000"/>
                    <a:pt x="133350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000000"/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4416623" y="2092523"/>
              <a:ext cx="139303" cy="139303"/>
              <a:chOff x="4416623" y="2092523"/>
              <a:chExt cx="139303" cy="13930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4421981" y="2097881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128588" y="64294"/>
                    </a:moveTo>
                    <a:cubicBezTo>
                      <a:pt x="128588" y="99802"/>
                      <a:pt x="99802" y="128588"/>
                      <a:pt x="64294" y="128588"/>
                    </a:cubicBezTo>
                    <a:cubicBezTo>
                      <a:pt x="28785" y="128588"/>
                      <a:pt x="0" y="99802"/>
                      <a:pt x="0" y="64294"/>
                    </a:cubicBezTo>
                    <a:cubicBezTo>
                      <a:pt x="0" y="28785"/>
                      <a:pt x="28785" y="0"/>
                      <a:pt x="64294" y="0"/>
                    </a:cubicBezTo>
                    <a:cubicBezTo>
                      <a:pt x="99802" y="0"/>
                      <a:pt x="128588" y="28785"/>
                      <a:pt x="128588" y="64294"/>
                    </a:cubicBezTo>
                    <a:close/>
                  </a:path>
                </a:pathLst>
              </a:custGeom>
              <a:solidFill>
                <a:srgbClr val="48CAE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4416623" y="2092523"/>
                <a:ext cx="139303" cy="139303"/>
              </a:xfrm>
              <a:custGeom>
                <a:avLst/>
                <a:gdLst/>
                <a:ahLst/>
                <a:cxnLst/>
                <a:rect l="l" t="t" r="r" b="b"/>
                <a:pathLst>
                  <a:path w="139303" h="139303">
                    <a:moveTo>
                      <a:pt x="69652" y="0"/>
                    </a:moveTo>
                    <a:cubicBezTo>
                      <a:pt x="31184" y="0"/>
                      <a:pt x="0" y="31184"/>
                      <a:pt x="0" y="69652"/>
                    </a:cubicBezTo>
                    <a:cubicBezTo>
                      <a:pt x="0" y="108119"/>
                      <a:pt x="31184" y="139303"/>
                      <a:pt x="69652" y="139303"/>
                    </a:cubicBezTo>
                    <a:cubicBezTo>
                      <a:pt x="108119" y="139303"/>
                      <a:pt x="139303" y="108119"/>
                      <a:pt x="139303" y="69652"/>
                    </a:cubicBezTo>
                    <a:cubicBezTo>
                      <a:pt x="139263" y="31201"/>
                      <a:pt x="108102" y="41"/>
                      <a:pt x="69652" y="0"/>
                    </a:cubicBezTo>
                    <a:close/>
                    <a:moveTo>
                      <a:pt x="128340" y="64294"/>
                    </a:moveTo>
                    <a:lnTo>
                      <a:pt x="101664" y="64294"/>
                    </a:lnTo>
                    <a:cubicBezTo>
                      <a:pt x="100720" y="45233"/>
                      <a:pt x="94786" y="27144"/>
                      <a:pt x="84841" y="12725"/>
                    </a:cubicBezTo>
                    <a:cubicBezTo>
                      <a:pt x="108696" y="19129"/>
                      <a:pt x="126048" y="39700"/>
                      <a:pt x="128340" y="64294"/>
                    </a:cubicBezTo>
                    <a:close/>
                    <a:moveTo>
                      <a:pt x="48374" y="75009"/>
                    </a:moveTo>
                    <a:lnTo>
                      <a:pt x="90929" y="75009"/>
                    </a:lnTo>
                    <a:cubicBezTo>
                      <a:pt x="89804" y="95684"/>
                      <a:pt x="82222" y="114938"/>
                      <a:pt x="69652" y="128514"/>
                    </a:cubicBezTo>
                    <a:cubicBezTo>
                      <a:pt x="57108" y="114938"/>
                      <a:pt x="49499" y="95684"/>
                      <a:pt x="48374" y="75009"/>
                    </a:cubicBezTo>
                    <a:close/>
                    <a:moveTo>
                      <a:pt x="48374" y="64294"/>
                    </a:moveTo>
                    <a:cubicBezTo>
                      <a:pt x="49499" y="43619"/>
                      <a:pt x="57081" y="24365"/>
                      <a:pt x="69652" y="10789"/>
                    </a:cubicBezTo>
                    <a:cubicBezTo>
                      <a:pt x="82196" y="24365"/>
                      <a:pt x="89804" y="43606"/>
                      <a:pt x="90929" y="64294"/>
                    </a:cubicBezTo>
                    <a:close/>
                    <a:moveTo>
                      <a:pt x="54462" y="12725"/>
                    </a:moveTo>
                    <a:cubicBezTo>
                      <a:pt x="44517" y="27144"/>
                      <a:pt x="38583" y="45233"/>
                      <a:pt x="37639" y="64294"/>
                    </a:cubicBezTo>
                    <a:lnTo>
                      <a:pt x="10963" y="64294"/>
                    </a:lnTo>
                    <a:cubicBezTo>
                      <a:pt x="13255" y="39700"/>
                      <a:pt x="30607" y="19129"/>
                      <a:pt x="54462" y="12725"/>
                    </a:cubicBezTo>
                    <a:close/>
                    <a:moveTo>
                      <a:pt x="10963" y="75009"/>
                    </a:moveTo>
                    <a:lnTo>
                      <a:pt x="37639" y="75009"/>
                    </a:lnTo>
                    <a:cubicBezTo>
                      <a:pt x="38583" y="94070"/>
                      <a:pt x="44517" y="112159"/>
                      <a:pt x="54462" y="126578"/>
                    </a:cubicBezTo>
                    <a:cubicBezTo>
                      <a:pt x="30607" y="120174"/>
                      <a:pt x="13255" y="99603"/>
                      <a:pt x="10963" y="75009"/>
                    </a:cubicBezTo>
                    <a:close/>
                    <a:moveTo>
                      <a:pt x="84841" y="126578"/>
                    </a:moveTo>
                    <a:cubicBezTo>
                      <a:pt x="94786" y="112139"/>
                      <a:pt x="100720" y="94050"/>
                      <a:pt x="101664" y="75009"/>
                    </a:cubicBezTo>
                    <a:lnTo>
                      <a:pt x="128340" y="75009"/>
                    </a:lnTo>
                    <a:cubicBezTo>
                      <a:pt x="126048" y="99603"/>
                      <a:pt x="108696" y="120174"/>
                      <a:pt x="84841" y="126578"/>
                    </a:cubicBezTo>
                    <a:close/>
                  </a:path>
                </a:pathLst>
              </a:custGeom>
              <a:solidFill>
                <a:srgbClr val="48CAE4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4654868" y="2114074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0E0E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全球覆盖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377690" y="2358390"/>
              <a:ext cx="53718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100+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389120" y="2607945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8CAE4"/>
                  </a:solidFill>
                  <a:latin typeface="Arial"/>
                  <a:ea typeface="Microsoft YaHei"/>
                  <a:cs typeface="Arial"/>
                </a:rPr>
                <a:t>国家和地区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603885" y="30137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90E0EF"/>
                </a:solidFill>
                <a:latin typeface="Arial"/>
                <a:ea typeface="Microsoft YaHei"/>
                <a:cs typeface="Arial"/>
              </a:rPr>
              <a:t>主营业务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04838" y="3307556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B8D8E8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商用车视频监控和人工智能解决方案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03885" y="372808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90E0EF"/>
                </a:solidFill>
                <a:latin typeface="Arial"/>
                <a:ea typeface="Microsoft YaHei"/>
                <a:cs typeface="Arial"/>
              </a:rPr>
              <a:t>业务覆盖</a:t>
            </a:r>
          </a:p>
        </p:txBody>
      </p:sp>
      <p:sp>
        <p:nvSpPr>
          <p:cNvPr id="50" name="Freeform 50"/>
          <p:cNvSpPr/>
          <p:nvPr/>
        </p:nvSpPr>
        <p:spPr>
          <a:xfrm>
            <a:off x="619125" y="4048125"/>
            <a:ext cx="1190625" cy="495300"/>
          </a:xfrm>
          <a:custGeom>
            <a:avLst/>
            <a:gdLst/>
            <a:ahLst/>
            <a:cxnLst/>
            <a:rect l="l" t="t" r="r" b="b"/>
            <a:pathLst>
              <a:path w="1190625" h="495300">
                <a:moveTo>
                  <a:pt x="76200" y="0"/>
                </a:moveTo>
                <a:lnTo>
                  <a:pt x="1114425" y="0"/>
                </a:lnTo>
                <a:cubicBezTo>
                  <a:pt x="1156509" y="0"/>
                  <a:pt x="1190625" y="34116"/>
                  <a:pt x="1190625" y="76200"/>
                </a:cubicBezTo>
                <a:lnTo>
                  <a:pt x="1190625" y="419100"/>
                </a:lnTo>
                <a:cubicBezTo>
                  <a:pt x="1190625" y="461184"/>
                  <a:pt x="1156509" y="495300"/>
                  <a:pt x="1114425" y="495300"/>
                </a:cubicBezTo>
                <a:lnTo>
                  <a:pt x="76200" y="495300"/>
                </a:lnTo>
                <a:cubicBezTo>
                  <a:pt x="34116" y="495300"/>
                  <a:pt x="0" y="461184"/>
                  <a:pt x="0" y="4191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>
            <a:noFill/>
          </a:ln>
        </p:spPr>
      </p:sp>
      <p:grpSp>
        <p:nvGrpSpPr>
          <p:cNvPr id="53" name="Group 53"/>
          <p:cNvGrpSpPr/>
          <p:nvPr/>
        </p:nvGrpSpPr>
        <p:grpSpPr>
          <a:xfrm>
            <a:off x="767358" y="4212431"/>
            <a:ext cx="160734" cy="128588"/>
            <a:chOff x="767358" y="4212431"/>
            <a:chExt cx="160734" cy="128588"/>
          </a:xfrm>
        </p:grpSpPr>
        <p:sp>
          <p:nvSpPr>
            <p:cNvPr id="51" name="Freeform 51"/>
            <p:cNvSpPr/>
            <p:nvPr/>
          </p:nvSpPr>
          <p:spPr>
            <a:xfrm>
              <a:off x="794147" y="4239220"/>
              <a:ext cx="107156" cy="96441"/>
            </a:xfrm>
            <a:custGeom>
              <a:avLst/>
              <a:gdLst/>
              <a:ahLst/>
              <a:cxnLst/>
              <a:rect l="l" t="t" r="r" b="b"/>
              <a:pathLst>
                <a:path w="107156" h="96441">
                  <a:moveTo>
                    <a:pt x="0" y="75009"/>
                  </a:moveTo>
                  <a:lnTo>
                    <a:pt x="26789" y="75009"/>
                  </a:lnTo>
                  <a:lnTo>
                    <a:pt x="26789" y="91083"/>
                  </a:lnTo>
                  <a:cubicBezTo>
                    <a:pt x="26789" y="94042"/>
                    <a:pt x="24390" y="96441"/>
                    <a:pt x="21431" y="96441"/>
                  </a:cubicBezTo>
                  <a:lnTo>
                    <a:pt x="5358" y="96441"/>
                  </a:lnTo>
                  <a:cubicBezTo>
                    <a:pt x="2399" y="96441"/>
                    <a:pt x="0" y="94042"/>
                    <a:pt x="0" y="91083"/>
                  </a:cubicBezTo>
                  <a:close/>
                  <a:moveTo>
                    <a:pt x="80367" y="91083"/>
                  </a:moveTo>
                  <a:cubicBezTo>
                    <a:pt x="80367" y="94042"/>
                    <a:pt x="82766" y="96441"/>
                    <a:pt x="85725" y="96441"/>
                  </a:cubicBezTo>
                  <a:lnTo>
                    <a:pt x="101798" y="96441"/>
                  </a:lnTo>
                  <a:cubicBezTo>
                    <a:pt x="104757" y="96441"/>
                    <a:pt x="107156" y="94042"/>
                    <a:pt x="107156" y="91083"/>
                  </a:cubicBezTo>
                  <a:lnTo>
                    <a:pt x="107156" y="75009"/>
                  </a:lnTo>
                  <a:lnTo>
                    <a:pt x="80367" y="75009"/>
                  </a:lnTo>
                  <a:close/>
                  <a:moveTo>
                    <a:pt x="0" y="0"/>
                  </a:moveTo>
                  <a:lnTo>
                    <a:pt x="0" y="26789"/>
                  </a:lnTo>
                  <a:lnTo>
                    <a:pt x="107156" y="26789"/>
                  </a:lnTo>
                  <a:lnTo>
                    <a:pt x="107156" y="0"/>
                  </a:lnTo>
                  <a:close/>
                </a:path>
              </a:pathLst>
            </a:cu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767358" y="4212431"/>
              <a:ext cx="160734" cy="128588"/>
            </a:xfrm>
            <a:custGeom>
              <a:avLst/>
              <a:gdLst/>
              <a:ahLst/>
              <a:cxnLst/>
              <a:rect l="l" t="t" r="r" b="b"/>
              <a:pathLst>
                <a:path w="160734" h="128588">
                  <a:moveTo>
                    <a:pt x="117872" y="0"/>
                  </a:moveTo>
                  <a:lnTo>
                    <a:pt x="42862" y="0"/>
                  </a:lnTo>
                  <a:cubicBezTo>
                    <a:pt x="31026" y="0"/>
                    <a:pt x="21431" y="9595"/>
                    <a:pt x="21431" y="21431"/>
                  </a:cubicBezTo>
                  <a:lnTo>
                    <a:pt x="21431" y="117872"/>
                  </a:lnTo>
                  <a:cubicBezTo>
                    <a:pt x="21431" y="123790"/>
                    <a:pt x="26229" y="128588"/>
                    <a:pt x="32147" y="128588"/>
                  </a:cubicBezTo>
                  <a:lnTo>
                    <a:pt x="48220" y="128588"/>
                  </a:lnTo>
                  <a:cubicBezTo>
                    <a:pt x="54138" y="128588"/>
                    <a:pt x="58936" y="123790"/>
                    <a:pt x="58936" y="117872"/>
                  </a:cubicBezTo>
                  <a:lnTo>
                    <a:pt x="58936" y="107156"/>
                  </a:lnTo>
                  <a:lnTo>
                    <a:pt x="101798" y="107156"/>
                  </a:lnTo>
                  <a:lnTo>
                    <a:pt x="101798" y="117872"/>
                  </a:lnTo>
                  <a:cubicBezTo>
                    <a:pt x="101798" y="123790"/>
                    <a:pt x="106596" y="128588"/>
                    <a:pt x="112514" y="128588"/>
                  </a:cubicBezTo>
                  <a:lnTo>
                    <a:pt x="128588" y="128588"/>
                  </a:lnTo>
                  <a:cubicBezTo>
                    <a:pt x="134506" y="128588"/>
                    <a:pt x="139303" y="123790"/>
                    <a:pt x="139303" y="117872"/>
                  </a:cubicBezTo>
                  <a:lnTo>
                    <a:pt x="139303" y="21431"/>
                  </a:lnTo>
                  <a:cubicBezTo>
                    <a:pt x="139303" y="9595"/>
                    <a:pt x="129708" y="0"/>
                    <a:pt x="117872" y="0"/>
                  </a:cubicBezTo>
                  <a:close/>
                  <a:moveTo>
                    <a:pt x="32147" y="96441"/>
                  </a:moveTo>
                  <a:lnTo>
                    <a:pt x="32147" y="58936"/>
                  </a:lnTo>
                  <a:lnTo>
                    <a:pt x="128588" y="58936"/>
                  </a:lnTo>
                  <a:lnTo>
                    <a:pt x="128588" y="96441"/>
                  </a:lnTo>
                  <a:close/>
                  <a:moveTo>
                    <a:pt x="32147" y="32147"/>
                  </a:moveTo>
                  <a:lnTo>
                    <a:pt x="128588" y="32147"/>
                  </a:lnTo>
                  <a:lnTo>
                    <a:pt x="128588" y="48220"/>
                  </a:lnTo>
                  <a:lnTo>
                    <a:pt x="32147" y="48220"/>
                  </a:lnTo>
                  <a:close/>
                  <a:moveTo>
                    <a:pt x="42862" y="10716"/>
                  </a:moveTo>
                  <a:lnTo>
                    <a:pt x="117872" y="10716"/>
                  </a:lnTo>
                  <a:cubicBezTo>
                    <a:pt x="123790" y="10716"/>
                    <a:pt x="128588" y="15513"/>
                    <a:pt x="128588" y="21431"/>
                  </a:cubicBezTo>
                  <a:lnTo>
                    <a:pt x="32147" y="21431"/>
                  </a:lnTo>
                  <a:cubicBezTo>
                    <a:pt x="32147" y="15513"/>
                    <a:pt x="36944" y="10716"/>
                    <a:pt x="42862" y="10716"/>
                  </a:cubicBezTo>
                  <a:close/>
                  <a:moveTo>
                    <a:pt x="48220" y="117872"/>
                  </a:moveTo>
                  <a:lnTo>
                    <a:pt x="32147" y="117872"/>
                  </a:lnTo>
                  <a:lnTo>
                    <a:pt x="32147" y="107156"/>
                  </a:lnTo>
                  <a:lnTo>
                    <a:pt x="48220" y="107156"/>
                  </a:lnTo>
                  <a:close/>
                  <a:moveTo>
                    <a:pt x="112514" y="117872"/>
                  </a:moveTo>
                  <a:lnTo>
                    <a:pt x="112514" y="107156"/>
                  </a:lnTo>
                  <a:lnTo>
                    <a:pt x="128588" y="107156"/>
                  </a:lnTo>
                  <a:lnTo>
                    <a:pt x="128588" y="117872"/>
                  </a:lnTo>
                  <a:close/>
                  <a:moveTo>
                    <a:pt x="64294" y="77688"/>
                  </a:moveTo>
                  <a:cubicBezTo>
                    <a:pt x="64294" y="82127"/>
                    <a:pt x="60696" y="85725"/>
                    <a:pt x="56257" y="85725"/>
                  </a:cubicBezTo>
                  <a:cubicBezTo>
                    <a:pt x="51818" y="85725"/>
                    <a:pt x="48220" y="82127"/>
                    <a:pt x="48220" y="77688"/>
                  </a:cubicBezTo>
                  <a:cubicBezTo>
                    <a:pt x="48220" y="73250"/>
                    <a:pt x="51818" y="69652"/>
                    <a:pt x="56257" y="69652"/>
                  </a:cubicBezTo>
                  <a:cubicBezTo>
                    <a:pt x="60696" y="69652"/>
                    <a:pt x="64294" y="73250"/>
                    <a:pt x="64294" y="77688"/>
                  </a:cubicBezTo>
                  <a:close/>
                  <a:moveTo>
                    <a:pt x="112514" y="77688"/>
                  </a:moveTo>
                  <a:cubicBezTo>
                    <a:pt x="112514" y="82127"/>
                    <a:pt x="108916" y="85725"/>
                    <a:pt x="104477" y="85725"/>
                  </a:cubicBezTo>
                  <a:cubicBezTo>
                    <a:pt x="100039" y="85725"/>
                    <a:pt x="96441" y="82127"/>
                    <a:pt x="96441" y="77688"/>
                  </a:cubicBezTo>
                  <a:cubicBezTo>
                    <a:pt x="96441" y="73250"/>
                    <a:pt x="100039" y="69652"/>
                    <a:pt x="104477" y="69652"/>
                  </a:cubicBezTo>
                  <a:cubicBezTo>
                    <a:pt x="108916" y="69652"/>
                    <a:pt x="112514" y="73250"/>
                    <a:pt x="112514" y="77688"/>
                  </a:cubicBezTo>
                  <a:close/>
                  <a:moveTo>
                    <a:pt x="160734" y="32147"/>
                  </a:moveTo>
                  <a:lnTo>
                    <a:pt x="160734" y="48220"/>
                  </a:lnTo>
                  <a:cubicBezTo>
                    <a:pt x="160734" y="51179"/>
                    <a:pt x="158336" y="53578"/>
                    <a:pt x="155377" y="53578"/>
                  </a:cubicBezTo>
                  <a:cubicBezTo>
                    <a:pt x="152418" y="53578"/>
                    <a:pt x="150019" y="51179"/>
                    <a:pt x="150019" y="48220"/>
                  </a:cubicBezTo>
                  <a:lnTo>
                    <a:pt x="150019" y="32147"/>
                  </a:lnTo>
                  <a:cubicBezTo>
                    <a:pt x="150019" y="29188"/>
                    <a:pt x="152418" y="26789"/>
                    <a:pt x="155377" y="26789"/>
                  </a:cubicBezTo>
                  <a:cubicBezTo>
                    <a:pt x="158336" y="26789"/>
                    <a:pt x="160734" y="29188"/>
                    <a:pt x="160734" y="32147"/>
                  </a:cubicBezTo>
                  <a:close/>
                  <a:moveTo>
                    <a:pt x="10716" y="32147"/>
                  </a:moveTo>
                  <a:lnTo>
                    <a:pt x="10716" y="48220"/>
                  </a:lnTo>
                  <a:cubicBezTo>
                    <a:pt x="10716" y="51179"/>
                    <a:pt x="8317" y="53578"/>
                    <a:pt x="5358" y="53578"/>
                  </a:cubicBezTo>
                  <a:cubicBezTo>
                    <a:pt x="2399" y="53578"/>
                    <a:pt x="0" y="51179"/>
                    <a:pt x="0" y="48220"/>
                  </a:cubicBezTo>
                  <a:lnTo>
                    <a:pt x="0" y="32147"/>
                  </a:lnTo>
                  <a:cubicBezTo>
                    <a:pt x="0" y="29188"/>
                    <a:pt x="2399" y="26789"/>
                    <a:pt x="5358" y="26789"/>
                  </a:cubicBezTo>
                  <a:cubicBezTo>
                    <a:pt x="8317" y="26789"/>
                    <a:pt x="10716" y="29188"/>
                    <a:pt x="10716" y="32147"/>
                  </a:cubicBezTo>
                  <a:close/>
                </a:path>
              </a:pathLst>
            </a:custGeom>
            <a:solidFill>
              <a:srgbClr val="48CAE4"/>
            </a:solidFill>
            <a:ln>
              <a:noFill/>
            </a:ln>
          </p:spPr>
        </p:sp>
      </p:grpSp>
      <p:sp>
        <p:nvSpPr>
          <p:cNvPr id="54" name="TextBox 54"/>
          <p:cNvSpPr txBox="1"/>
          <p:nvPr/>
        </p:nvSpPr>
        <p:spPr>
          <a:xfrm>
            <a:off x="1014412" y="4212431"/>
            <a:ext cx="3286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0F4FF"/>
                </a:solidFill>
                <a:latin typeface="Arial"/>
                <a:ea typeface="Microsoft YaHei"/>
                <a:cs typeface="Arial"/>
              </a:rPr>
              <a:t>公交</a:t>
            </a:r>
          </a:p>
        </p:txBody>
      </p:sp>
      <p:sp>
        <p:nvSpPr>
          <p:cNvPr id="55" name="Freeform 55"/>
          <p:cNvSpPr/>
          <p:nvPr/>
        </p:nvSpPr>
        <p:spPr>
          <a:xfrm>
            <a:off x="1952625" y="4048125"/>
            <a:ext cx="1190625" cy="495300"/>
          </a:xfrm>
          <a:custGeom>
            <a:avLst/>
            <a:gdLst/>
            <a:ahLst/>
            <a:cxnLst/>
            <a:rect l="l" t="t" r="r" b="b"/>
            <a:pathLst>
              <a:path w="1190625" h="495300">
                <a:moveTo>
                  <a:pt x="76200" y="0"/>
                </a:moveTo>
                <a:lnTo>
                  <a:pt x="1114425" y="0"/>
                </a:lnTo>
                <a:cubicBezTo>
                  <a:pt x="1156509" y="0"/>
                  <a:pt x="1190625" y="34116"/>
                  <a:pt x="1190625" y="76200"/>
                </a:cubicBezTo>
                <a:lnTo>
                  <a:pt x="1190625" y="419100"/>
                </a:lnTo>
                <a:cubicBezTo>
                  <a:pt x="1190625" y="461184"/>
                  <a:pt x="1156509" y="495300"/>
                  <a:pt x="1114425" y="495300"/>
                </a:cubicBezTo>
                <a:lnTo>
                  <a:pt x="76200" y="495300"/>
                </a:lnTo>
                <a:cubicBezTo>
                  <a:pt x="34116" y="495300"/>
                  <a:pt x="0" y="461184"/>
                  <a:pt x="0" y="4191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Freeform 56"/>
          <p:cNvSpPr/>
          <p:nvPr/>
        </p:nvSpPr>
        <p:spPr>
          <a:xfrm>
            <a:off x="2095500" y="4201716"/>
            <a:ext cx="171450" cy="150019"/>
          </a:xfrm>
          <a:custGeom>
            <a:avLst/>
            <a:gdLst/>
            <a:ahLst/>
            <a:cxnLst/>
            <a:rect l="l" t="t" r="r" b="b"/>
            <a:pathLst>
              <a:path w="171450" h="150019">
                <a:moveTo>
                  <a:pt x="32147" y="0"/>
                </a:moveTo>
                <a:lnTo>
                  <a:pt x="17859" y="42862"/>
                </a:lnTo>
                <a:lnTo>
                  <a:pt x="0" y="42862"/>
                </a:lnTo>
                <a:lnTo>
                  <a:pt x="0" y="75009"/>
                </a:lnTo>
                <a:lnTo>
                  <a:pt x="10716" y="75009"/>
                </a:lnTo>
                <a:lnTo>
                  <a:pt x="10716" y="150019"/>
                </a:lnTo>
                <a:lnTo>
                  <a:pt x="32147" y="150019"/>
                </a:lnTo>
                <a:lnTo>
                  <a:pt x="32147" y="128588"/>
                </a:lnTo>
                <a:lnTo>
                  <a:pt x="139303" y="128588"/>
                </a:lnTo>
                <a:lnTo>
                  <a:pt x="139303" y="150019"/>
                </a:lnTo>
                <a:lnTo>
                  <a:pt x="160734" y="150019"/>
                </a:lnTo>
                <a:lnTo>
                  <a:pt x="160734" y="75009"/>
                </a:lnTo>
                <a:lnTo>
                  <a:pt x="171450" y="75009"/>
                </a:lnTo>
                <a:lnTo>
                  <a:pt x="171450" y="42862"/>
                </a:lnTo>
                <a:lnTo>
                  <a:pt x="153590" y="42862"/>
                </a:lnTo>
                <a:lnTo>
                  <a:pt x="139303" y="0"/>
                </a:lnTo>
                <a:lnTo>
                  <a:pt x="32147" y="0"/>
                </a:lnTo>
                <a:close/>
                <a:moveTo>
                  <a:pt x="42862" y="85725"/>
                </a:moveTo>
                <a:cubicBezTo>
                  <a:pt x="36944" y="85725"/>
                  <a:pt x="32147" y="90523"/>
                  <a:pt x="32147" y="96441"/>
                </a:cubicBezTo>
                <a:cubicBezTo>
                  <a:pt x="32147" y="102359"/>
                  <a:pt x="36944" y="107156"/>
                  <a:pt x="42862" y="107156"/>
                </a:cubicBezTo>
                <a:cubicBezTo>
                  <a:pt x="48781" y="107156"/>
                  <a:pt x="53578" y="102359"/>
                  <a:pt x="53578" y="96441"/>
                </a:cubicBezTo>
                <a:cubicBezTo>
                  <a:pt x="53578" y="90523"/>
                  <a:pt x="48781" y="85725"/>
                  <a:pt x="42862" y="85725"/>
                </a:cubicBezTo>
                <a:close/>
                <a:moveTo>
                  <a:pt x="123857" y="21431"/>
                </a:moveTo>
                <a:lnTo>
                  <a:pt x="47594" y="21431"/>
                </a:lnTo>
                <a:lnTo>
                  <a:pt x="33306" y="64294"/>
                </a:lnTo>
                <a:lnTo>
                  <a:pt x="138144" y="64294"/>
                </a:lnTo>
                <a:lnTo>
                  <a:pt x="123857" y="21431"/>
                </a:lnTo>
                <a:close/>
                <a:moveTo>
                  <a:pt x="128588" y="85725"/>
                </a:moveTo>
                <a:cubicBezTo>
                  <a:pt x="122669" y="85725"/>
                  <a:pt x="117872" y="90523"/>
                  <a:pt x="117872" y="96441"/>
                </a:cubicBezTo>
                <a:cubicBezTo>
                  <a:pt x="117872" y="102359"/>
                  <a:pt x="122669" y="107156"/>
                  <a:pt x="128588" y="107156"/>
                </a:cubicBezTo>
                <a:cubicBezTo>
                  <a:pt x="134506" y="107156"/>
                  <a:pt x="139303" y="102359"/>
                  <a:pt x="139303" y="96441"/>
                </a:cubicBezTo>
                <a:cubicBezTo>
                  <a:pt x="139303" y="90523"/>
                  <a:pt x="134506" y="85725"/>
                  <a:pt x="128588" y="85725"/>
                </a:cubicBezTo>
                <a:close/>
              </a:path>
            </a:pathLst>
          </a:custGeom>
          <a:solidFill>
            <a:srgbClr val="48CAE4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2347912" y="4212431"/>
            <a:ext cx="3286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0F4FF"/>
                </a:solidFill>
                <a:latin typeface="Arial"/>
                <a:ea typeface="Microsoft YaHei"/>
                <a:cs typeface="Arial"/>
              </a:rPr>
              <a:t>出租</a:t>
            </a:r>
          </a:p>
        </p:txBody>
      </p:sp>
      <p:sp>
        <p:nvSpPr>
          <p:cNvPr id="58" name="Freeform 58"/>
          <p:cNvSpPr/>
          <p:nvPr/>
        </p:nvSpPr>
        <p:spPr>
          <a:xfrm>
            <a:off x="3286125" y="4048125"/>
            <a:ext cx="1190625" cy="495300"/>
          </a:xfrm>
          <a:custGeom>
            <a:avLst/>
            <a:gdLst/>
            <a:ahLst/>
            <a:cxnLst/>
            <a:rect l="l" t="t" r="r" b="b"/>
            <a:pathLst>
              <a:path w="1190625" h="495300">
                <a:moveTo>
                  <a:pt x="76200" y="0"/>
                </a:moveTo>
                <a:lnTo>
                  <a:pt x="1114425" y="0"/>
                </a:lnTo>
                <a:cubicBezTo>
                  <a:pt x="1156509" y="0"/>
                  <a:pt x="1190625" y="34116"/>
                  <a:pt x="1190625" y="76200"/>
                </a:cubicBezTo>
                <a:lnTo>
                  <a:pt x="1190625" y="419100"/>
                </a:lnTo>
                <a:cubicBezTo>
                  <a:pt x="1190625" y="461184"/>
                  <a:pt x="1156509" y="495300"/>
                  <a:pt x="1114425" y="495300"/>
                </a:cubicBezTo>
                <a:lnTo>
                  <a:pt x="76200" y="495300"/>
                </a:lnTo>
                <a:cubicBezTo>
                  <a:pt x="34116" y="495300"/>
                  <a:pt x="0" y="461184"/>
                  <a:pt x="0" y="4191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>
            <a:noFill/>
          </a:ln>
        </p:spPr>
      </p:sp>
      <p:grpSp>
        <p:nvGrpSpPr>
          <p:cNvPr id="61" name="Group 61"/>
          <p:cNvGrpSpPr/>
          <p:nvPr/>
        </p:nvGrpSpPr>
        <p:grpSpPr>
          <a:xfrm>
            <a:off x="3434358" y="4228505"/>
            <a:ext cx="160736" cy="112556"/>
            <a:chOff x="3434358" y="4228505"/>
            <a:chExt cx="160736" cy="112556"/>
          </a:xfrm>
        </p:grpSpPr>
        <p:sp>
          <p:nvSpPr>
            <p:cNvPr id="59" name="Freeform 59"/>
            <p:cNvSpPr/>
            <p:nvPr/>
          </p:nvSpPr>
          <p:spPr>
            <a:xfrm>
              <a:off x="3439716" y="4271367"/>
              <a:ext cx="150019" cy="48220"/>
            </a:xfrm>
            <a:custGeom>
              <a:avLst/>
              <a:gdLst/>
              <a:ahLst/>
              <a:cxnLst/>
              <a:rect l="l" t="t" r="r" b="b"/>
              <a:pathLst>
                <a:path w="150019" h="48220">
                  <a:moveTo>
                    <a:pt x="150019" y="0"/>
                  </a:moveTo>
                  <a:lnTo>
                    <a:pt x="150019" y="42862"/>
                  </a:lnTo>
                  <a:cubicBezTo>
                    <a:pt x="150019" y="45822"/>
                    <a:pt x="147620" y="48220"/>
                    <a:pt x="144661" y="48220"/>
                  </a:cubicBezTo>
                  <a:lnTo>
                    <a:pt x="128588" y="48220"/>
                  </a:lnTo>
                  <a:cubicBezTo>
                    <a:pt x="128588" y="43002"/>
                    <a:pt x="126055" y="38108"/>
                    <a:pt x="121795" y="35095"/>
                  </a:cubicBezTo>
                  <a:cubicBezTo>
                    <a:pt x="117534" y="32082"/>
                    <a:pt x="112076" y="31325"/>
                    <a:pt x="107156" y="33064"/>
                  </a:cubicBezTo>
                  <a:lnTo>
                    <a:pt x="107156" y="33064"/>
                  </a:lnTo>
                  <a:cubicBezTo>
                    <a:pt x="100734" y="35335"/>
                    <a:pt x="96440" y="41408"/>
                    <a:pt x="96441" y="48220"/>
                  </a:cubicBezTo>
                  <a:lnTo>
                    <a:pt x="53578" y="48220"/>
                  </a:lnTo>
                  <a:cubicBezTo>
                    <a:pt x="53578" y="39343"/>
                    <a:pt x="46382" y="32147"/>
                    <a:pt x="37505" y="32147"/>
                  </a:cubicBezTo>
                  <a:cubicBezTo>
                    <a:pt x="28628" y="32147"/>
                    <a:pt x="21431" y="39343"/>
                    <a:pt x="21431" y="48220"/>
                  </a:cubicBezTo>
                  <a:lnTo>
                    <a:pt x="5358" y="48220"/>
                  </a:lnTo>
                  <a:cubicBezTo>
                    <a:pt x="2399" y="48220"/>
                    <a:pt x="0" y="45822"/>
                    <a:pt x="0" y="42862"/>
                  </a:cubicBezTo>
                  <a:lnTo>
                    <a:pt x="0" y="16073"/>
                  </a:lnTo>
                  <a:lnTo>
                    <a:pt x="107156" y="16073"/>
                  </a:lnTo>
                  <a:lnTo>
                    <a:pt x="107156" y="0"/>
                  </a:lnTo>
                  <a:close/>
                </a:path>
              </a:pathLst>
            </a:cu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3434358" y="4228505"/>
              <a:ext cx="160736" cy="112556"/>
            </a:xfrm>
            <a:custGeom>
              <a:avLst/>
              <a:gdLst/>
              <a:ahLst/>
              <a:cxnLst/>
              <a:rect l="l" t="t" r="r" b="b"/>
              <a:pathLst>
                <a:path w="160736" h="112556">
                  <a:moveTo>
                    <a:pt x="160346" y="40853"/>
                  </a:moveTo>
                  <a:lnTo>
                    <a:pt x="150970" y="17413"/>
                  </a:lnTo>
                  <a:cubicBezTo>
                    <a:pt x="149342" y="13355"/>
                    <a:pt x="145403" y="10701"/>
                    <a:pt x="141031" y="10716"/>
                  </a:cubicBezTo>
                  <a:lnTo>
                    <a:pt x="117872" y="10716"/>
                  </a:lnTo>
                  <a:lnTo>
                    <a:pt x="117872" y="5358"/>
                  </a:lnTo>
                  <a:cubicBezTo>
                    <a:pt x="117872" y="2399"/>
                    <a:pt x="115473" y="0"/>
                    <a:pt x="112514" y="0"/>
                  </a:cubicBezTo>
                  <a:lnTo>
                    <a:pt x="10716" y="0"/>
                  </a:lnTo>
                  <a:cubicBezTo>
                    <a:pt x="4798" y="0"/>
                    <a:pt x="0" y="4798"/>
                    <a:pt x="0" y="10716"/>
                  </a:cubicBezTo>
                  <a:lnTo>
                    <a:pt x="0" y="85725"/>
                  </a:lnTo>
                  <a:cubicBezTo>
                    <a:pt x="0" y="91643"/>
                    <a:pt x="4798" y="96441"/>
                    <a:pt x="10716" y="96441"/>
                  </a:cubicBezTo>
                  <a:lnTo>
                    <a:pt x="22101" y="96441"/>
                  </a:lnTo>
                  <a:cubicBezTo>
                    <a:pt x="24529" y="105923"/>
                    <a:pt x="33074" y="112556"/>
                    <a:pt x="42862" y="112556"/>
                  </a:cubicBezTo>
                  <a:cubicBezTo>
                    <a:pt x="52651" y="112556"/>
                    <a:pt x="61196" y="105923"/>
                    <a:pt x="63624" y="96441"/>
                  </a:cubicBezTo>
                  <a:lnTo>
                    <a:pt x="97110" y="96441"/>
                  </a:lnTo>
                  <a:cubicBezTo>
                    <a:pt x="99538" y="105923"/>
                    <a:pt x="108083" y="112556"/>
                    <a:pt x="117872" y="112556"/>
                  </a:cubicBezTo>
                  <a:cubicBezTo>
                    <a:pt x="127661" y="112556"/>
                    <a:pt x="136205" y="105923"/>
                    <a:pt x="138633" y="96441"/>
                  </a:cubicBezTo>
                  <a:lnTo>
                    <a:pt x="150019" y="96441"/>
                  </a:lnTo>
                  <a:cubicBezTo>
                    <a:pt x="155937" y="96441"/>
                    <a:pt x="160734" y="91643"/>
                    <a:pt x="160734" y="85725"/>
                  </a:cubicBezTo>
                  <a:lnTo>
                    <a:pt x="160734" y="42862"/>
                  </a:lnTo>
                  <a:cubicBezTo>
                    <a:pt x="160736" y="42174"/>
                    <a:pt x="160604" y="41492"/>
                    <a:pt x="160346" y="40853"/>
                  </a:cubicBezTo>
                  <a:close/>
                  <a:moveTo>
                    <a:pt x="117872" y="21431"/>
                  </a:moveTo>
                  <a:lnTo>
                    <a:pt x="141031" y="21431"/>
                  </a:lnTo>
                  <a:lnTo>
                    <a:pt x="147460" y="37505"/>
                  </a:lnTo>
                  <a:lnTo>
                    <a:pt x="117872" y="37505"/>
                  </a:lnTo>
                  <a:close/>
                  <a:moveTo>
                    <a:pt x="10716" y="10716"/>
                  </a:moveTo>
                  <a:lnTo>
                    <a:pt x="107156" y="10716"/>
                  </a:lnTo>
                  <a:lnTo>
                    <a:pt x="107156" y="53578"/>
                  </a:lnTo>
                  <a:lnTo>
                    <a:pt x="10716" y="53578"/>
                  </a:lnTo>
                  <a:close/>
                  <a:moveTo>
                    <a:pt x="42862" y="101798"/>
                  </a:moveTo>
                  <a:cubicBezTo>
                    <a:pt x="36944" y="101798"/>
                    <a:pt x="32147" y="97001"/>
                    <a:pt x="32147" y="91083"/>
                  </a:cubicBezTo>
                  <a:cubicBezTo>
                    <a:pt x="32147" y="85165"/>
                    <a:pt x="36944" y="80367"/>
                    <a:pt x="42862" y="80367"/>
                  </a:cubicBezTo>
                  <a:cubicBezTo>
                    <a:pt x="48781" y="80367"/>
                    <a:pt x="53578" y="85165"/>
                    <a:pt x="53578" y="91083"/>
                  </a:cubicBezTo>
                  <a:cubicBezTo>
                    <a:pt x="53578" y="97001"/>
                    <a:pt x="48781" y="101798"/>
                    <a:pt x="42862" y="101798"/>
                  </a:cubicBezTo>
                  <a:close/>
                  <a:moveTo>
                    <a:pt x="97110" y="85725"/>
                  </a:moveTo>
                  <a:lnTo>
                    <a:pt x="63624" y="85725"/>
                  </a:lnTo>
                  <a:cubicBezTo>
                    <a:pt x="61196" y="76242"/>
                    <a:pt x="52651" y="69610"/>
                    <a:pt x="42862" y="69610"/>
                  </a:cubicBezTo>
                  <a:cubicBezTo>
                    <a:pt x="33074" y="69610"/>
                    <a:pt x="24529" y="76242"/>
                    <a:pt x="22101" y="85725"/>
                  </a:cubicBezTo>
                  <a:lnTo>
                    <a:pt x="10716" y="85725"/>
                  </a:lnTo>
                  <a:lnTo>
                    <a:pt x="10716" y="64294"/>
                  </a:lnTo>
                  <a:lnTo>
                    <a:pt x="107156" y="64294"/>
                  </a:lnTo>
                  <a:lnTo>
                    <a:pt x="107156" y="72538"/>
                  </a:lnTo>
                  <a:cubicBezTo>
                    <a:pt x="102180" y="75415"/>
                    <a:pt x="98562" y="80163"/>
                    <a:pt x="97110" y="85725"/>
                  </a:cubicBezTo>
                  <a:close/>
                  <a:moveTo>
                    <a:pt x="117872" y="101798"/>
                  </a:moveTo>
                  <a:cubicBezTo>
                    <a:pt x="111954" y="101798"/>
                    <a:pt x="107156" y="97001"/>
                    <a:pt x="107156" y="91083"/>
                  </a:cubicBezTo>
                  <a:cubicBezTo>
                    <a:pt x="107156" y="85165"/>
                    <a:pt x="111954" y="80367"/>
                    <a:pt x="117872" y="80367"/>
                  </a:cubicBezTo>
                  <a:cubicBezTo>
                    <a:pt x="123790" y="80367"/>
                    <a:pt x="128588" y="85165"/>
                    <a:pt x="128588" y="91083"/>
                  </a:cubicBezTo>
                  <a:cubicBezTo>
                    <a:pt x="128588" y="97001"/>
                    <a:pt x="123790" y="101798"/>
                    <a:pt x="117872" y="101798"/>
                  </a:cubicBezTo>
                  <a:close/>
                  <a:moveTo>
                    <a:pt x="150019" y="85725"/>
                  </a:moveTo>
                  <a:lnTo>
                    <a:pt x="138633" y="85725"/>
                  </a:lnTo>
                  <a:cubicBezTo>
                    <a:pt x="136177" y="76267"/>
                    <a:pt x="127644" y="69661"/>
                    <a:pt x="117872" y="69652"/>
                  </a:cubicBezTo>
                  <a:lnTo>
                    <a:pt x="117872" y="48220"/>
                  </a:lnTo>
                  <a:lnTo>
                    <a:pt x="150019" y="48220"/>
                  </a:lnTo>
                  <a:close/>
                </a:path>
              </a:pathLst>
            </a:custGeom>
            <a:solidFill>
              <a:srgbClr val="48CAE4"/>
            </a:solidFill>
            <a:ln>
              <a:noFill/>
            </a:ln>
          </p:spPr>
        </p:sp>
      </p:grpSp>
      <p:sp>
        <p:nvSpPr>
          <p:cNvPr id="62" name="TextBox 62"/>
          <p:cNvSpPr txBox="1"/>
          <p:nvPr/>
        </p:nvSpPr>
        <p:spPr>
          <a:xfrm>
            <a:off x="3681412" y="4212431"/>
            <a:ext cx="3286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0F4FF"/>
                </a:solidFill>
                <a:latin typeface="Arial"/>
                <a:ea typeface="Microsoft YaHei"/>
                <a:cs typeface="Arial"/>
              </a:rPr>
              <a:t>货运</a:t>
            </a:r>
          </a:p>
        </p:txBody>
      </p:sp>
      <p:sp>
        <p:nvSpPr>
          <p:cNvPr id="63" name="Freeform 63"/>
          <p:cNvSpPr/>
          <p:nvPr/>
        </p:nvSpPr>
        <p:spPr>
          <a:xfrm>
            <a:off x="4619625" y="4048125"/>
            <a:ext cx="1047750" cy="495300"/>
          </a:xfrm>
          <a:custGeom>
            <a:avLst/>
            <a:gdLst/>
            <a:ahLst/>
            <a:cxnLst/>
            <a:rect l="l" t="t" r="r" b="b"/>
            <a:pathLst>
              <a:path w="1047750" h="495300">
                <a:moveTo>
                  <a:pt x="76200" y="0"/>
                </a:moveTo>
                <a:lnTo>
                  <a:pt x="971550" y="0"/>
                </a:lnTo>
                <a:cubicBezTo>
                  <a:pt x="1013634" y="0"/>
                  <a:pt x="1047750" y="34116"/>
                  <a:pt x="1047750" y="76200"/>
                </a:cubicBezTo>
                <a:lnTo>
                  <a:pt x="1047750" y="419100"/>
                </a:lnTo>
                <a:cubicBezTo>
                  <a:pt x="1047750" y="461184"/>
                  <a:pt x="1013634" y="495300"/>
                  <a:pt x="971550" y="495300"/>
                </a:cubicBezTo>
                <a:lnTo>
                  <a:pt x="76200" y="495300"/>
                </a:lnTo>
                <a:cubicBezTo>
                  <a:pt x="34116" y="495300"/>
                  <a:pt x="0" y="461184"/>
                  <a:pt x="0" y="4191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Freeform 64"/>
          <p:cNvSpPr/>
          <p:nvPr/>
        </p:nvSpPr>
        <p:spPr>
          <a:xfrm>
            <a:off x="4768144" y="4219575"/>
            <a:ext cx="158663" cy="114300"/>
          </a:xfrm>
          <a:custGeom>
            <a:avLst/>
            <a:gdLst/>
            <a:ahLst/>
            <a:cxnLst/>
            <a:rect l="l" t="t" r="r" b="b"/>
            <a:pathLst>
              <a:path w="158663" h="114300">
                <a:moveTo>
                  <a:pt x="130088" y="67373"/>
                </a:moveTo>
                <a:lnTo>
                  <a:pt x="130088" y="85725"/>
                </a:lnTo>
                <a:cubicBezTo>
                  <a:pt x="130088" y="102856"/>
                  <a:pt x="107192" y="114300"/>
                  <a:pt x="80081" y="114300"/>
                </a:cubicBezTo>
                <a:cubicBezTo>
                  <a:pt x="52971" y="114300"/>
                  <a:pt x="30075" y="102856"/>
                  <a:pt x="30075" y="85725"/>
                </a:cubicBezTo>
                <a:lnTo>
                  <a:pt x="30075" y="67373"/>
                </a:lnTo>
                <a:lnTo>
                  <a:pt x="72123" y="84189"/>
                </a:lnTo>
                <a:cubicBezTo>
                  <a:pt x="76705" y="86023"/>
                  <a:pt x="81779" y="86220"/>
                  <a:pt x="86489" y="84746"/>
                </a:cubicBezTo>
                <a:lnTo>
                  <a:pt x="88040" y="84189"/>
                </a:lnTo>
                <a:close/>
                <a:moveTo>
                  <a:pt x="144375" y="46263"/>
                </a:moveTo>
                <a:lnTo>
                  <a:pt x="82732" y="70923"/>
                </a:lnTo>
                <a:cubicBezTo>
                  <a:pt x="81030" y="71603"/>
                  <a:pt x="79133" y="71603"/>
                  <a:pt x="77431" y="70923"/>
                </a:cubicBezTo>
                <a:lnTo>
                  <a:pt x="5994" y="42348"/>
                </a:lnTo>
                <a:cubicBezTo>
                  <a:pt x="0" y="39955"/>
                  <a:pt x="0" y="31483"/>
                  <a:pt x="5994" y="29089"/>
                </a:cubicBezTo>
                <a:lnTo>
                  <a:pt x="77431" y="514"/>
                </a:lnTo>
                <a:cubicBezTo>
                  <a:pt x="77993" y="288"/>
                  <a:pt x="78581" y="135"/>
                  <a:pt x="79181" y="57"/>
                </a:cubicBezTo>
                <a:lnTo>
                  <a:pt x="80081" y="0"/>
                </a:lnTo>
                <a:lnTo>
                  <a:pt x="80982" y="57"/>
                </a:lnTo>
                <a:cubicBezTo>
                  <a:pt x="81582" y="135"/>
                  <a:pt x="82170" y="288"/>
                  <a:pt x="82732" y="514"/>
                </a:cubicBezTo>
                <a:lnTo>
                  <a:pt x="154398" y="29182"/>
                </a:lnTo>
                <a:lnTo>
                  <a:pt x="155169" y="29575"/>
                </a:lnTo>
                <a:lnTo>
                  <a:pt x="155877" y="30061"/>
                </a:lnTo>
                <a:lnTo>
                  <a:pt x="156505" y="30604"/>
                </a:lnTo>
                <a:lnTo>
                  <a:pt x="157041" y="31190"/>
                </a:lnTo>
                <a:lnTo>
                  <a:pt x="157291" y="31504"/>
                </a:lnTo>
                <a:lnTo>
                  <a:pt x="157813" y="32325"/>
                </a:lnTo>
                <a:lnTo>
                  <a:pt x="158184" y="33147"/>
                </a:lnTo>
                <a:lnTo>
                  <a:pt x="158427" y="33876"/>
                </a:lnTo>
                <a:lnTo>
                  <a:pt x="158606" y="34840"/>
                </a:lnTo>
                <a:lnTo>
                  <a:pt x="158648" y="35254"/>
                </a:lnTo>
                <a:lnTo>
                  <a:pt x="158663" y="78581"/>
                </a:lnTo>
                <a:cubicBezTo>
                  <a:pt x="158663" y="82527"/>
                  <a:pt x="155464" y="85725"/>
                  <a:pt x="151519" y="85725"/>
                </a:cubicBezTo>
                <a:cubicBezTo>
                  <a:pt x="147574" y="85725"/>
                  <a:pt x="144375" y="82527"/>
                  <a:pt x="144375" y="78581"/>
                </a:cubicBezTo>
                <a:close/>
              </a:path>
            </a:pathLst>
          </a:custGeom>
          <a:solidFill>
            <a:srgbClr val="48CAE4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5014912" y="4212431"/>
            <a:ext cx="3286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E0F4FF"/>
                </a:solidFill>
                <a:latin typeface="Arial"/>
                <a:ea typeface="Microsoft YaHei"/>
                <a:cs typeface="Arial"/>
              </a:rPr>
              <a:t>校车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03885" y="47282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90E0EF"/>
                </a:solidFill>
                <a:latin typeface="Arial"/>
                <a:ea typeface="Microsoft YaHei"/>
                <a:cs typeface="Arial"/>
              </a:rPr>
              <a:t>全球布局</a:t>
            </a:r>
          </a:p>
        </p:txBody>
      </p:sp>
      <p:sp>
        <p:nvSpPr>
          <p:cNvPr id="67" name="Freeform 67"/>
          <p:cNvSpPr/>
          <p:nvPr/>
        </p:nvSpPr>
        <p:spPr>
          <a:xfrm>
            <a:off x="619125" y="5048250"/>
            <a:ext cx="5048250" cy="1143000"/>
          </a:xfrm>
          <a:custGeom>
            <a:avLst/>
            <a:gdLst/>
            <a:ahLst/>
            <a:cxnLst/>
            <a:rect l="l" t="t" r="r" b="b"/>
            <a:pathLst>
              <a:path w="5048250" h="1143000">
                <a:moveTo>
                  <a:pt x="114300" y="0"/>
                </a:moveTo>
                <a:lnTo>
                  <a:pt x="4933950" y="0"/>
                </a:lnTo>
                <a:cubicBezTo>
                  <a:pt x="4997076" y="0"/>
                  <a:pt x="5048250" y="51174"/>
                  <a:pt x="5048250" y="114300"/>
                </a:cubicBezTo>
                <a:lnTo>
                  <a:pt x="5048250" y="1028700"/>
                </a:lnTo>
                <a:cubicBezTo>
                  <a:pt x="5048250" y="1091826"/>
                  <a:pt x="4997076" y="1143000"/>
                  <a:pt x="493395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>
            <a:noFill/>
          </a:ln>
        </p:spPr>
      </p:sp>
      <p:grpSp>
        <p:nvGrpSpPr>
          <p:cNvPr id="89" name="Group 89"/>
          <p:cNvGrpSpPr/>
          <p:nvPr/>
        </p:nvGrpSpPr>
        <p:grpSpPr>
          <a:xfrm>
            <a:off x="1162050" y="5334000"/>
            <a:ext cx="4038600" cy="581025"/>
            <a:chOff x="1162050" y="5334000"/>
            <a:chExt cx="4038600" cy="581025"/>
          </a:xfrm>
        </p:grpSpPr>
        <p:sp>
          <p:nvSpPr>
            <p:cNvPr id="68" name="Ellipse 68"/>
            <p:cNvSpPr/>
            <p:nvPr/>
          </p:nvSpPr>
          <p:spPr>
            <a:xfrm>
              <a:off x="1162050" y="5400675"/>
              <a:ext cx="152400" cy="152400"/>
            </a:xfrm>
            <a:prstGeom prst="ellipse">
              <a:avLst/>
            </a:prstGeom>
            <a:solidFill>
              <a:srgbClr val="48CAE4">
                <a:alpha val="30000"/>
              </a:srgbClr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1466850" y="5372100"/>
              <a:ext cx="114300" cy="114300"/>
            </a:xfrm>
            <a:prstGeom prst="ellipse">
              <a:avLst/>
            </a:prstGeom>
            <a:solidFill>
              <a:srgbClr val="48CAE4">
                <a:alpha val="30000"/>
              </a:srgbClr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1695450" y="5457825"/>
              <a:ext cx="133350" cy="133350"/>
            </a:xfrm>
            <a:prstGeom prst="ellipse">
              <a:avLst/>
            </a:prstGeom>
            <a:solidFill>
              <a:srgbClr val="48CAE4">
                <a:alpha val="30000"/>
              </a:srgbClr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1952625" y="5362575"/>
              <a:ext cx="95250" cy="95250"/>
            </a:xfrm>
            <a:prstGeom prst="ellipse">
              <a:avLst/>
            </a:prstGeom>
            <a:solidFill>
              <a:srgbClr val="48CAE4">
                <a:alpha val="30000"/>
              </a:srgbClr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2228850" y="5448300"/>
              <a:ext cx="114300" cy="114300"/>
            </a:xfrm>
            <a:prstGeom prst="ellipse">
              <a:avLst/>
            </a:prstGeom>
            <a:solidFill>
              <a:srgbClr val="48CAE4">
                <a:alpha val="30000"/>
              </a:srgbClr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2495550" y="5372100"/>
              <a:ext cx="152400" cy="152400"/>
            </a:xfrm>
            <a:prstGeom prst="ellipse">
              <a:avLst/>
            </a:prstGeom>
            <a:solidFill>
              <a:srgbClr val="48CAE4">
                <a:alpha val="30000"/>
              </a:srgbClr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2809875" y="5476875"/>
              <a:ext cx="95250" cy="95250"/>
            </a:xfrm>
            <a:prstGeom prst="ellipse">
              <a:avLst/>
            </a:prstGeom>
            <a:solidFill>
              <a:srgbClr val="48CAE4">
                <a:alpha val="30000"/>
              </a:srgbClr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3076575" y="5362575"/>
              <a:ext cx="133350" cy="133350"/>
            </a:xfrm>
            <a:prstGeom prst="ellipse">
              <a:avLst/>
            </a:prstGeom>
            <a:solidFill>
              <a:srgbClr val="48CAE4">
                <a:alpha val="30000"/>
              </a:srgbClr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3371850" y="5429250"/>
              <a:ext cx="114300" cy="114300"/>
            </a:xfrm>
            <a:prstGeom prst="ellipse">
              <a:avLst/>
            </a:prstGeom>
            <a:solidFill>
              <a:srgbClr val="48CAE4">
                <a:alpha val="30000"/>
              </a:srgbClr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3667125" y="5495925"/>
              <a:ext cx="95250" cy="95250"/>
            </a:xfrm>
            <a:prstGeom prst="ellipse">
              <a:avLst/>
            </a:prstGeom>
            <a:solidFill>
              <a:srgbClr val="48CAE4">
                <a:alpha val="30000"/>
              </a:srgbClr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3924300" y="5334000"/>
              <a:ext cx="152400" cy="152400"/>
            </a:xfrm>
            <a:prstGeom prst="ellipse">
              <a:avLst/>
            </a:prstGeom>
            <a:solidFill>
              <a:srgbClr val="48CAE4">
                <a:alpha val="30000"/>
              </a:srgbClr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4229100" y="5419725"/>
              <a:ext cx="114300" cy="114300"/>
            </a:xfrm>
            <a:prstGeom prst="ellipse">
              <a:avLst/>
            </a:prstGeom>
            <a:solidFill>
              <a:srgbClr val="48CAE4">
                <a:alpha val="30000"/>
              </a:srgbClr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4524375" y="5476875"/>
              <a:ext cx="95250" cy="95250"/>
            </a:xfrm>
            <a:prstGeom prst="ellipse">
              <a:avLst/>
            </a:prstGeom>
            <a:solidFill>
              <a:srgbClr val="48CAE4">
                <a:alpha val="30000"/>
              </a:srgbClr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4791075" y="5381625"/>
              <a:ext cx="133350" cy="133350"/>
            </a:xfrm>
            <a:prstGeom prst="ellipse">
              <a:avLst/>
            </a:prstGeom>
            <a:solidFill>
              <a:srgbClr val="48CAE4">
                <a:alpha val="30000"/>
              </a:srgbClr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5086350" y="5448300"/>
              <a:ext cx="114300" cy="114300"/>
            </a:xfrm>
            <a:prstGeom prst="ellipse">
              <a:avLst/>
            </a:prstGeom>
            <a:solidFill>
              <a:srgbClr val="48CAE4">
                <a:alpha val="30000"/>
              </a:srgbClr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1381125" y="5762625"/>
              <a:ext cx="95250" cy="95250"/>
            </a:xfrm>
            <a:prstGeom prst="ellipse">
              <a:avLst/>
            </a:prstGeom>
            <a:solidFill>
              <a:srgbClr val="48CAE4">
                <a:alpha val="30000"/>
              </a:srgbClr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1847850" y="5800725"/>
              <a:ext cx="114300" cy="114300"/>
            </a:xfrm>
            <a:prstGeom prst="ellipse">
              <a:avLst/>
            </a:prstGeom>
            <a:solidFill>
              <a:srgbClr val="48CAE4">
                <a:alpha val="30000"/>
              </a:srgbClr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2619375" y="5743575"/>
              <a:ext cx="95250" cy="95250"/>
            </a:xfrm>
            <a:prstGeom prst="ellipse">
              <a:avLst/>
            </a:prstGeom>
            <a:solidFill>
              <a:srgbClr val="48CAE4">
                <a:alpha val="30000"/>
              </a:srgbClr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3276600" y="5772150"/>
              <a:ext cx="114300" cy="114300"/>
            </a:xfrm>
            <a:prstGeom prst="ellipse">
              <a:avLst/>
            </a:prstGeom>
            <a:solidFill>
              <a:srgbClr val="48CAE4">
                <a:alpha val="30000"/>
              </a:srgbClr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4238625" y="5762625"/>
              <a:ext cx="95250" cy="95250"/>
            </a:xfrm>
            <a:prstGeom prst="ellipse">
              <a:avLst/>
            </a:prstGeom>
            <a:solidFill>
              <a:srgbClr val="48CAE4">
                <a:alpha val="30000"/>
              </a:srgbClr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4895850" y="5800725"/>
              <a:ext cx="114300" cy="114300"/>
            </a:xfrm>
            <a:prstGeom prst="ellipse">
              <a:avLst/>
            </a:prstGeom>
            <a:solidFill>
              <a:srgbClr val="48CAE4">
                <a:alpha val="30000"/>
              </a:srgbClr>
            </a:solidFill>
            <a:ln>
              <a:noFill/>
            </a:ln>
          </p:spPr>
        </p:sp>
      </p:grpSp>
      <p:grpSp>
        <p:nvGrpSpPr>
          <p:cNvPr id="97" name="Group 97"/>
          <p:cNvGrpSpPr/>
          <p:nvPr/>
        </p:nvGrpSpPr>
        <p:grpSpPr>
          <a:xfrm>
            <a:off x="1238250" y="5410200"/>
            <a:ext cx="3905250" cy="447675"/>
            <a:chOff x="1238250" y="5410200"/>
            <a:chExt cx="3905250" cy="447675"/>
          </a:xfrm>
        </p:grpSpPr>
        <p:sp>
          <p:nvSpPr>
            <p:cNvPr id="90" name="Line 90"/>
            <p:cNvSpPr/>
            <p:nvPr/>
          </p:nvSpPr>
          <p:spPr>
            <a:xfrm>
              <a:off x="1238250" y="5448300"/>
              <a:ext cx="1333500" cy="28575"/>
            </a:xfrm>
            <a:custGeom>
              <a:avLst/>
              <a:gdLst/>
              <a:ahLst/>
              <a:cxnLst/>
              <a:rect l="l" t="t" r="r" b="b"/>
              <a:pathLst>
                <a:path w="1333500" h="28575">
                  <a:moveTo>
                    <a:pt x="0" y="28575"/>
                  </a:moveTo>
                  <a:lnTo>
                    <a:pt x="1333500" y="0"/>
                  </a:lnTo>
                </a:path>
              </a:pathLst>
            </a:custGeom>
            <a:noFill/>
            <a:ln w="7620">
              <a:solidFill>
                <a:srgbClr val="48CAE4">
                  <a:alpha val="8000"/>
                </a:srgbClr>
              </a:solidFill>
            </a:ln>
          </p:spPr>
        </p:sp>
        <p:sp>
          <p:nvSpPr>
            <p:cNvPr id="91" name="Line 91"/>
            <p:cNvSpPr/>
            <p:nvPr/>
          </p:nvSpPr>
          <p:spPr>
            <a:xfrm>
              <a:off x="2286000" y="5410200"/>
              <a:ext cx="1714500" cy="95250"/>
            </a:xfrm>
            <a:custGeom>
              <a:avLst/>
              <a:gdLst/>
              <a:ahLst/>
              <a:cxnLst/>
              <a:rect l="l" t="t" r="r" b="b"/>
              <a:pathLst>
                <a:path w="1714500" h="95250">
                  <a:moveTo>
                    <a:pt x="0" y="95250"/>
                  </a:moveTo>
                  <a:lnTo>
                    <a:pt x="1714500" y="0"/>
                  </a:lnTo>
                </a:path>
              </a:pathLst>
            </a:custGeom>
            <a:noFill/>
            <a:ln w="7620">
              <a:solidFill>
                <a:srgbClr val="48CAE4">
                  <a:alpha val="8000"/>
                </a:srgbClr>
              </a:solidFill>
            </a:ln>
          </p:spPr>
        </p:sp>
        <p:sp>
          <p:nvSpPr>
            <p:cNvPr id="92" name="Line 92"/>
            <p:cNvSpPr/>
            <p:nvPr/>
          </p:nvSpPr>
          <p:spPr>
            <a:xfrm>
              <a:off x="3143250" y="5429250"/>
              <a:ext cx="1714500" cy="19050"/>
            </a:xfrm>
            <a:custGeom>
              <a:avLst/>
              <a:gdLst/>
              <a:ahLst/>
              <a:cxnLst/>
              <a:rect l="l" t="t" r="r" b="b"/>
              <a:pathLst>
                <a:path w="1714500" h="19050">
                  <a:moveTo>
                    <a:pt x="0" y="0"/>
                  </a:moveTo>
                  <a:lnTo>
                    <a:pt x="1714500" y="19050"/>
                  </a:lnTo>
                </a:path>
              </a:pathLst>
            </a:custGeom>
            <a:noFill/>
            <a:ln w="7620">
              <a:solidFill>
                <a:srgbClr val="48CAE4">
                  <a:alpha val="8000"/>
                </a:srgbClr>
              </a:solidFill>
            </a:ln>
          </p:spPr>
        </p:sp>
        <p:sp>
          <p:nvSpPr>
            <p:cNvPr id="93" name="Line 93"/>
            <p:cNvSpPr/>
            <p:nvPr/>
          </p:nvSpPr>
          <p:spPr>
            <a:xfrm>
              <a:off x="1428750" y="5810250"/>
              <a:ext cx="1905000" cy="19050"/>
            </a:xfrm>
            <a:custGeom>
              <a:avLst/>
              <a:gdLst/>
              <a:ahLst/>
              <a:cxnLst/>
              <a:rect l="l" t="t" r="r" b="b"/>
              <a:pathLst>
                <a:path w="1905000" h="19050">
                  <a:moveTo>
                    <a:pt x="0" y="0"/>
                  </a:moveTo>
                  <a:lnTo>
                    <a:pt x="1905000" y="19050"/>
                  </a:lnTo>
                </a:path>
              </a:pathLst>
            </a:custGeom>
            <a:noFill/>
            <a:ln w="7620">
              <a:solidFill>
                <a:srgbClr val="48CAE4">
                  <a:alpha val="8000"/>
                </a:srgbClr>
              </a:solidFill>
            </a:ln>
          </p:spPr>
        </p:sp>
        <p:sp>
          <p:nvSpPr>
            <p:cNvPr id="94" name="Line 94"/>
            <p:cNvSpPr/>
            <p:nvPr/>
          </p:nvSpPr>
          <p:spPr>
            <a:xfrm>
              <a:off x="2667000" y="5791200"/>
              <a:ext cx="2286000" cy="66675"/>
            </a:xfrm>
            <a:custGeom>
              <a:avLst/>
              <a:gdLst/>
              <a:ahLst/>
              <a:cxnLst/>
              <a:rect l="l" t="t" r="r" b="b"/>
              <a:pathLst>
                <a:path w="2286000" h="66675">
                  <a:moveTo>
                    <a:pt x="0" y="0"/>
                  </a:moveTo>
                  <a:lnTo>
                    <a:pt x="2286000" y="66675"/>
                  </a:lnTo>
                </a:path>
              </a:pathLst>
            </a:custGeom>
            <a:noFill/>
            <a:ln w="7620">
              <a:solidFill>
                <a:srgbClr val="48CAE4">
                  <a:alpha val="8000"/>
                </a:srgbClr>
              </a:solidFill>
            </a:ln>
          </p:spPr>
        </p:sp>
        <p:sp>
          <p:nvSpPr>
            <p:cNvPr id="95" name="Line 95"/>
            <p:cNvSpPr/>
            <p:nvPr/>
          </p:nvSpPr>
          <p:spPr>
            <a:xfrm>
              <a:off x="1762125" y="5524500"/>
              <a:ext cx="1095375" cy="9525"/>
            </a:xfrm>
            <a:custGeom>
              <a:avLst/>
              <a:gdLst/>
              <a:ahLst/>
              <a:cxnLst/>
              <a:rect l="l" t="t" r="r" b="b"/>
              <a:pathLst>
                <a:path w="1095375" h="9525">
                  <a:moveTo>
                    <a:pt x="0" y="0"/>
                  </a:moveTo>
                  <a:lnTo>
                    <a:pt x="1095375" y="0"/>
                  </a:lnTo>
                </a:path>
              </a:pathLst>
            </a:custGeom>
            <a:noFill/>
            <a:ln w="7620">
              <a:solidFill>
                <a:srgbClr val="48CAE4">
                  <a:alpha val="8000"/>
                </a:srgbClr>
              </a:solidFill>
            </a:ln>
          </p:spPr>
        </p:sp>
        <p:sp>
          <p:nvSpPr>
            <p:cNvPr id="96" name="Line 96"/>
            <p:cNvSpPr/>
            <p:nvPr/>
          </p:nvSpPr>
          <p:spPr>
            <a:xfrm>
              <a:off x="3714750" y="5505450"/>
              <a:ext cx="1428750" cy="38100"/>
            </a:xfrm>
            <a:custGeom>
              <a:avLst/>
              <a:gdLst/>
              <a:ahLst/>
              <a:cxnLst/>
              <a:rect l="l" t="t" r="r" b="b"/>
              <a:pathLst>
                <a:path w="1428750" h="38100">
                  <a:moveTo>
                    <a:pt x="0" y="38100"/>
                  </a:moveTo>
                  <a:lnTo>
                    <a:pt x="1428750" y="0"/>
                  </a:lnTo>
                </a:path>
              </a:pathLst>
            </a:custGeom>
            <a:noFill/>
            <a:ln w="7620">
              <a:solidFill>
                <a:srgbClr val="48CAE4">
                  <a:alpha val="8000"/>
                </a:srgbClr>
              </a:solidFill>
            </a:ln>
          </p:spPr>
        </p:sp>
      </p:grpSp>
      <p:sp>
        <p:nvSpPr>
          <p:cNvPr id="98" name="TextBox 98"/>
          <p:cNvSpPr txBox="1"/>
          <p:nvPr/>
        </p:nvSpPr>
        <p:spPr>
          <a:xfrm>
            <a:off x="2280249" y="5990749"/>
            <a:ext cx="19165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8CAE4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业务覆盖全球 100+ 个国家和地区</a:t>
            </a:r>
          </a:p>
        </p:txBody>
      </p:sp>
      <p:sp>
        <p:nvSpPr>
          <p:cNvPr id="99" name="Freeform 99"/>
          <p:cNvSpPr/>
          <p:nvPr/>
        </p:nvSpPr>
        <p:spPr>
          <a:xfrm>
            <a:off x="6191250" y="381000"/>
            <a:ext cx="5619750" cy="6096000"/>
          </a:xfrm>
          <a:custGeom>
            <a:avLst/>
            <a:gdLst/>
            <a:ahLst/>
            <a:cxnLst/>
            <a:rect l="l" t="t" r="r" b="b"/>
            <a:pathLst>
              <a:path w="5619750" h="6096000">
                <a:moveTo>
                  <a:pt x="152400" y="0"/>
                </a:moveTo>
                <a:lnTo>
                  <a:pt x="5467350" y="0"/>
                </a:lnTo>
                <a:cubicBezTo>
                  <a:pt x="5551518" y="0"/>
                  <a:pt x="5619750" y="68232"/>
                  <a:pt x="5619750" y="152400"/>
                </a:cubicBezTo>
                <a:lnTo>
                  <a:pt x="5619750" y="5943600"/>
                </a:lnTo>
                <a:cubicBezTo>
                  <a:pt x="5619750" y="6027768"/>
                  <a:pt x="5551518" y="6096000"/>
                  <a:pt x="5467350" y="6096000"/>
                </a:cubicBezTo>
                <a:lnTo>
                  <a:pt x="152400" y="6096000"/>
                </a:lnTo>
                <a:cubicBezTo>
                  <a:pt x="68232" y="6096000"/>
                  <a:pt x="0" y="6027768"/>
                  <a:pt x="0" y="5943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gradFill>
            <a:gsLst>
              <a:gs pos="0">
                <a:srgbClr val="000000"/>
              </a:gs>
              <a:gs pos="100000">
                <a:srgbClr val="000000"/>
              </a:gs>
            </a:gsLst>
            <a:lin ang="5400000" scaled="1"/>
          </a:gradFill>
          <a:ln>
            <a:noFill/>
          </a:ln>
        </p:spPr>
      </p:sp>
      <p:sp>
        <p:nvSpPr>
          <p:cNvPr id="100" name="Freeform 100"/>
          <p:cNvSpPr/>
          <p:nvPr/>
        </p:nvSpPr>
        <p:spPr>
          <a:xfrm>
            <a:off x="6191250" y="381000"/>
            <a:ext cx="5619750" cy="609600"/>
          </a:xfrm>
          <a:custGeom>
            <a:avLst/>
            <a:gdLst/>
            <a:ahLst/>
            <a:cxnLst/>
            <a:rect l="l" t="t" r="r" b="b"/>
            <a:pathLst>
              <a:path w="5619750" h="609600">
                <a:moveTo>
                  <a:pt x="152400" y="0"/>
                </a:moveTo>
                <a:lnTo>
                  <a:pt x="5467350" y="0"/>
                </a:lnTo>
                <a:cubicBezTo>
                  <a:pt x="5551518" y="0"/>
                  <a:pt x="5619750" y="68232"/>
                  <a:pt x="5619750" y="152400"/>
                </a:cubicBezTo>
                <a:lnTo>
                  <a:pt x="5619750" y="457200"/>
                </a:lnTo>
                <a:cubicBezTo>
                  <a:pt x="5619750" y="541368"/>
                  <a:pt x="5551518" y="609600"/>
                  <a:pt x="5467350" y="609600"/>
                </a:cubicBezTo>
                <a:lnTo>
                  <a:pt x="152400" y="609600"/>
                </a:lnTo>
                <a:cubicBezTo>
                  <a:pt x="68232" y="609600"/>
                  <a:pt x="0" y="541368"/>
                  <a:pt x="0" y="4572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gradFill>
            <a:gsLst>
              <a:gs pos="0">
                <a:srgbClr val="48CAE4">
                  <a:alpha val="15000"/>
                </a:srgbClr>
              </a:gs>
              <a:gs pos="100000">
                <a:srgbClr val="00B4D8">
                  <a:alpha val="15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101" name="Rectangle 101"/>
          <p:cNvSpPr/>
          <p:nvPr/>
        </p:nvSpPr>
        <p:spPr>
          <a:xfrm>
            <a:off x="6191250" y="762000"/>
            <a:ext cx="5619750" cy="228600"/>
          </a:xfrm>
          <a:prstGeom prst="rect">
            <a:avLst/>
          </a:prstGeom>
          <a:gradFill>
            <a:gsLst>
              <a:gs pos="0">
                <a:srgbClr val="48CAE4">
                  <a:alpha val="8000"/>
                </a:srgbClr>
              </a:gs>
              <a:gs pos="100000">
                <a:srgbClr val="00B4D8">
                  <a:alpha val="800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04" name="Group 104"/>
          <p:cNvGrpSpPr/>
          <p:nvPr/>
        </p:nvGrpSpPr>
        <p:grpSpPr>
          <a:xfrm>
            <a:off x="6449020" y="623292"/>
            <a:ext cx="170259" cy="144066"/>
            <a:chOff x="6449020" y="623292"/>
            <a:chExt cx="170259" cy="144066"/>
          </a:xfrm>
        </p:grpSpPr>
        <p:sp>
          <p:nvSpPr>
            <p:cNvPr id="102" name="Freeform 102"/>
            <p:cNvSpPr/>
            <p:nvPr/>
          </p:nvSpPr>
          <p:spPr>
            <a:xfrm>
              <a:off x="6455569" y="629841"/>
              <a:ext cx="157162" cy="130969"/>
            </a:xfrm>
            <a:custGeom>
              <a:avLst/>
              <a:gdLst/>
              <a:ahLst/>
              <a:cxnLst/>
              <a:rect l="l" t="t" r="r" b="b"/>
              <a:pathLst>
                <a:path w="157162" h="130969">
                  <a:moveTo>
                    <a:pt x="157162" y="6548"/>
                  </a:moveTo>
                  <a:lnTo>
                    <a:pt x="157162" y="130969"/>
                  </a:lnTo>
                  <a:lnTo>
                    <a:pt x="0" y="130969"/>
                  </a:lnTo>
                  <a:lnTo>
                    <a:pt x="0" y="0"/>
                  </a:lnTo>
                  <a:lnTo>
                    <a:pt x="150614" y="0"/>
                  </a:lnTo>
                  <a:cubicBezTo>
                    <a:pt x="154231" y="0"/>
                    <a:pt x="157162" y="2932"/>
                    <a:pt x="157162" y="6548"/>
                  </a:cubicBezTo>
                  <a:close/>
                </a:path>
              </a:pathLst>
            </a:cu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103" name="Freeform 103"/>
            <p:cNvSpPr/>
            <p:nvPr/>
          </p:nvSpPr>
          <p:spPr>
            <a:xfrm>
              <a:off x="6449020" y="623292"/>
              <a:ext cx="170259" cy="144066"/>
            </a:xfrm>
            <a:custGeom>
              <a:avLst/>
              <a:gdLst/>
              <a:ahLst/>
              <a:cxnLst/>
              <a:rect l="l" t="t" r="r" b="b"/>
              <a:pathLst>
                <a:path w="170259" h="144066">
                  <a:moveTo>
                    <a:pt x="170259" y="137517"/>
                  </a:moveTo>
                  <a:cubicBezTo>
                    <a:pt x="170259" y="141134"/>
                    <a:pt x="167328" y="144066"/>
                    <a:pt x="163711" y="144066"/>
                  </a:cubicBezTo>
                  <a:lnTo>
                    <a:pt x="6548" y="144066"/>
                  </a:lnTo>
                  <a:cubicBezTo>
                    <a:pt x="2932" y="144066"/>
                    <a:pt x="0" y="141134"/>
                    <a:pt x="0" y="137517"/>
                  </a:cubicBezTo>
                  <a:lnTo>
                    <a:pt x="0" y="6548"/>
                  </a:lnTo>
                  <a:cubicBezTo>
                    <a:pt x="0" y="2932"/>
                    <a:pt x="2932" y="0"/>
                    <a:pt x="6548" y="0"/>
                  </a:cubicBezTo>
                  <a:cubicBezTo>
                    <a:pt x="10165" y="0"/>
                    <a:pt x="13097" y="2932"/>
                    <a:pt x="13097" y="6548"/>
                  </a:cubicBezTo>
                  <a:lnTo>
                    <a:pt x="13097" y="130969"/>
                  </a:lnTo>
                  <a:lnTo>
                    <a:pt x="163711" y="130969"/>
                  </a:lnTo>
                  <a:cubicBezTo>
                    <a:pt x="167328" y="130969"/>
                    <a:pt x="170259" y="133901"/>
                    <a:pt x="170259" y="137517"/>
                  </a:cubicBezTo>
                  <a:close/>
                  <a:moveTo>
                    <a:pt x="88404" y="98227"/>
                  </a:moveTo>
                  <a:cubicBezTo>
                    <a:pt x="93829" y="98227"/>
                    <a:pt x="98227" y="93829"/>
                    <a:pt x="98227" y="88404"/>
                  </a:cubicBezTo>
                  <a:cubicBezTo>
                    <a:pt x="98227" y="82979"/>
                    <a:pt x="93829" y="78581"/>
                    <a:pt x="88404" y="78581"/>
                  </a:cubicBezTo>
                  <a:cubicBezTo>
                    <a:pt x="82979" y="78581"/>
                    <a:pt x="78581" y="82979"/>
                    <a:pt x="78581" y="88404"/>
                  </a:cubicBezTo>
                  <a:cubicBezTo>
                    <a:pt x="78581" y="93829"/>
                    <a:pt x="82979" y="98227"/>
                    <a:pt x="88404" y="98227"/>
                  </a:cubicBezTo>
                  <a:close/>
                  <a:moveTo>
                    <a:pt x="68759" y="52388"/>
                  </a:moveTo>
                  <a:cubicBezTo>
                    <a:pt x="74183" y="52388"/>
                    <a:pt x="78581" y="47990"/>
                    <a:pt x="78581" y="42565"/>
                  </a:cubicBezTo>
                  <a:cubicBezTo>
                    <a:pt x="78581" y="37140"/>
                    <a:pt x="74183" y="32742"/>
                    <a:pt x="68759" y="32742"/>
                  </a:cubicBezTo>
                  <a:cubicBezTo>
                    <a:pt x="63334" y="32742"/>
                    <a:pt x="58936" y="37140"/>
                    <a:pt x="58936" y="42565"/>
                  </a:cubicBezTo>
                  <a:cubicBezTo>
                    <a:pt x="58936" y="47990"/>
                    <a:pt x="63334" y="52388"/>
                    <a:pt x="68759" y="52388"/>
                  </a:cubicBezTo>
                  <a:close/>
                  <a:moveTo>
                    <a:pt x="42565" y="111323"/>
                  </a:moveTo>
                  <a:cubicBezTo>
                    <a:pt x="47990" y="111323"/>
                    <a:pt x="52388" y="106926"/>
                    <a:pt x="52388" y="101501"/>
                  </a:cubicBezTo>
                  <a:cubicBezTo>
                    <a:pt x="52388" y="96076"/>
                    <a:pt x="47990" y="91678"/>
                    <a:pt x="42565" y="91678"/>
                  </a:cubicBezTo>
                  <a:cubicBezTo>
                    <a:pt x="37140" y="91678"/>
                    <a:pt x="32742" y="96076"/>
                    <a:pt x="32742" y="101501"/>
                  </a:cubicBezTo>
                  <a:cubicBezTo>
                    <a:pt x="32742" y="106926"/>
                    <a:pt x="37140" y="111323"/>
                    <a:pt x="42565" y="111323"/>
                  </a:cubicBezTo>
                  <a:close/>
                  <a:moveTo>
                    <a:pt x="121146" y="72033"/>
                  </a:moveTo>
                  <a:cubicBezTo>
                    <a:pt x="126571" y="72033"/>
                    <a:pt x="130969" y="67635"/>
                    <a:pt x="130969" y="62210"/>
                  </a:cubicBezTo>
                  <a:cubicBezTo>
                    <a:pt x="130969" y="56785"/>
                    <a:pt x="126571" y="52388"/>
                    <a:pt x="121146" y="52388"/>
                  </a:cubicBezTo>
                  <a:cubicBezTo>
                    <a:pt x="115721" y="52388"/>
                    <a:pt x="111323" y="56785"/>
                    <a:pt x="111323" y="62210"/>
                  </a:cubicBezTo>
                  <a:cubicBezTo>
                    <a:pt x="111323" y="67635"/>
                    <a:pt x="115721" y="72033"/>
                    <a:pt x="121146" y="72033"/>
                  </a:cubicBezTo>
                  <a:close/>
                  <a:moveTo>
                    <a:pt x="140791" y="39291"/>
                  </a:moveTo>
                  <a:cubicBezTo>
                    <a:pt x="146216" y="39291"/>
                    <a:pt x="150614" y="34893"/>
                    <a:pt x="150614" y="29468"/>
                  </a:cubicBezTo>
                  <a:cubicBezTo>
                    <a:pt x="150614" y="24043"/>
                    <a:pt x="146216" y="19645"/>
                    <a:pt x="140791" y="19645"/>
                  </a:cubicBezTo>
                  <a:cubicBezTo>
                    <a:pt x="135367" y="19645"/>
                    <a:pt x="130969" y="24043"/>
                    <a:pt x="130969" y="29468"/>
                  </a:cubicBezTo>
                  <a:cubicBezTo>
                    <a:pt x="130969" y="34893"/>
                    <a:pt x="135367" y="39291"/>
                    <a:pt x="140791" y="39291"/>
                  </a:cubicBezTo>
                  <a:close/>
                  <a:moveTo>
                    <a:pt x="124420" y="101501"/>
                  </a:moveTo>
                  <a:cubicBezTo>
                    <a:pt x="124420" y="106926"/>
                    <a:pt x="128818" y="111323"/>
                    <a:pt x="134243" y="111323"/>
                  </a:cubicBezTo>
                  <a:cubicBezTo>
                    <a:pt x="139668" y="111323"/>
                    <a:pt x="144066" y="106926"/>
                    <a:pt x="144066" y="101501"/>
                  </a:cubicBezTo>
                  <a:cubicBezTo>
                    <a:pt x="144066" y="96076"/>
                    <a:pt x="139668" y="91678"/>
                    <a:pt x="134243" y="91678"/>
                  </a:cubicBezTo>
                  <a:cubicBezTo>
                    <a:pt x="128818" y="91678"/>
                    <a:pt x="124420" y="96076"/>
                    <a:pt x="124420" y="101501"/>
                  </a:cubicBezTo>
                  <a:close/>
                </a:path>
              </a:pathLst>
            </a:custGeom>
            <a:solidFill>
              <a:srgbClr val="48CAE4"/>
            </a:solidFill>
            <a:ln>
              <a:noFill/>
            </a:ln>
          </p:spPr>
        </p:sp>
      </p:grpSp>
      <p:sp>
        <p:nvSpPr>
          <p:cNvPr id="105" name="TextBox 105"/>
          <p:cNvSpPr txBox="1"/>
          <p:nvPr/>
        </p:nvSpPr>
        <p:spPr>
          <a:xfrm>
            <a:off x="6711315" y="558165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分析框架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6416040" y="1077278"/>
            <a:ext cx="31070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E0E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本报告将从以下四个维度对锐明技术进行系统分析</a:t>
            </a:r>
          </a:p>
        </p:txBody>
      </p:sp>
      <p:sp>
        <p:nvSpPr>
          <p:cNvPr id="107" name="Freeform 107"/>
          <p:cNvSpPr/>
          <p:nvPr/>
        </p:nvSpPr>
        <p:spPr>
          <a:xfrm>
            <a:off x="6429375" y="1428750"/>
            <a:ext cx="2428875" cy="1333500"/>
          </a:xfrm>
          <a:custGeom>
            <a:avLst/>
            <a:gdLst/>
            <a:ahLst/>
            <a:cxnLst/>
            <a:rect l="l" t="t" r="r" b="b"/>
            <a:pathLst>
              <a:path w="2428875" h="1333500">
                <a:moveTo>
                  <a:pt x="114300" y="0"/>
                </a:moveTo>
                <a:lnTo>
                  <a:pt x="2314575" y="0"/>
                </a:lnTo>
                <a:cubicBezTo>
                  <a:pt x="2377701" y="0"/>
                  <a:pt x="2428875" y="51174"/>
                  <a:pt x="2428875" y="114300"/>
                </a:cubicBezTo>
                <a:lnTo>
                  <a:pt x="2428875" y="1219200"/>
                </a:lnTo>
                <a:cubicBezTo>
                  <a:pt x="2428875" y="1282326"/>
                  <a:pt x="2377701" y="1333500"/>
                  <a:pt x="2314575" y="1333500"/>
                </a:cubicBezTo>
                <a:lnTo>
                  <a:pt x="114300" y="1333500"/>
                </a:lnTo>
                <a:cubicBezTo>
                  <a:pt x="51174" y="1333500"/>
                  <a:pt x="0" y="1282326"/>
                  <a:pt x="0" y="1219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>
            <a:noFill/>
          </a:ln>
          <a:effectLst>
            <a:outerShdw blurRad="114300" dist="19050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108" name="Freeform 108"/>
          <p:cNvSpPr/>
          <p:nvPr/>
        </p:nvSpPr>
        <p:spPr>
          <a:xfrm>
            <a:off x="6429375" y="1428750"/>
            <a:ext cx="2428875" cy="38100"/>
          </a:xfrm>
          <a:custGeom>
            <a:avLst/>
            <a:gdLst/>
            <a:ahLst/>
            <a:cxnLst/>
            <a:rect l="l" t="t" r="r" b="b"/>
            <a:pathLst>
              <a:path w="2428875" h="38100">
                <a:moveTo>
                  <a:pt x="19050" y="0"/>
                </a:moveTo>
                <a:lnTo>
                  <a:pt x="2409825" y="0"/>
                </a:lnTo>
                <a:cubicBezTo>
                  <a:pt x="2420346" y="0"/>
                  <a:pt x="2428875" y="8529"/>
                  <a:pt x="2428875" y="19050"/>
                </a:cubicBezTo>
                <a:lnTo>
                  <a:pt x="2428875" y="19050"/>
                </a:lnTo>
                <a:cubicBezTo>
                  <a:pt x="2428875" y="29571"/>
                  <a:pt x="2420346" y="38100"/>
                  <a:pt x="240982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8CAE4"/>
          </a:solidFill>
          <a:ln>
            <a:noFill/>
          </a:ln>
        </p:spPr>
      </p:sp>
      <p:sp>
        <p:nvSpPr>
          <p:cNvPr id="109" name="Ellipse 109"/>
          <p:cNvSpPr/>
          <p:nvPr/>
        </p:nvSpPr>
        <p:spPr>
          <a:xfrm>
            <a:off x="6534150" y="1581150"/>
            <a:ext cx="266700" cy="266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0" name="TextBox 110"/>
          <p:cNvSpPr txBox="1"/>
          <p:nvPr/>
        </p:nvSpPr>
        <p:spPr>
          <a:xfrm>
            <a:off x="6591682" y="1648778"/>
            <a:ext cx="1516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6888480" y="16163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行业分析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6655118" y="1942624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8D8E8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商用车视频监控行业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6655118" y="2152174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8D8E8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市场规模与增长趋势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6655118" y="2361724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8D8E8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竞争格局分析</a:t>
            </a:r>
          </a:p>
        </p:txBody>
      </p:sp>
      <p:sp>
        <p:nvSpPr>
          <p:cNvPr id="115" name="Freeform 115"/>
          <p:cNvSpPr/>
          <p:nvPr/>
        </p:nvSpPr>
        <p:spPr>
          <a:xfrm>
            <a:off x="9048750" y="1428750"/>
            <a:ext cx="2524125" cy="1333500"/>
          </a:xfrm>
          <a:custGeom>
            <a:avLst/>
            <a:gdLst/>
            <a:ahLst/>
            <a:cxnLst/>
            <a:rect l="l" t="t" r="r" b="b"/>
            <a:pathLst>
              <a:path w="2524125" h="1333500">
                <a:moveTo>
                  <a:pt x="114300" y="0"/>
                </a:moveTo>
                <a:lnTo>
                  <a:pt x="2409825" y="0"/>
                </a:lnTo>
                <a:cubicBezTo>
                  <a:pt x="2472951" y="0"/>
                  <a:pt x="2524125" y="51174"/>
                  <a:pt x="2524125" y="114300"/>
                </a:cubicBezTo>
                <a:lnTo>
                  <a:pt x="2524125" y="1219200"/>
                </a:lnTo>
                <a:cubicBezTo>
                  <a:pt x="2524125" y="1282326"/>
                  <a:pt x="2472951" y="1333500"/>
                  <a:pt x="2409825" y="1333500"/>
                </a:cubicBezTo>
                <a:lnTo>
                  <a:pt x="114300" y="1333500"/>
                </a:lnTo>
                <a:cubicBezTo>
                  <a:pt x="51174" y="1333500"/>
                  <a:pt x="0" y="1282326"/>
                  <a:pt x="0" y="1219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>
            <a:noFill/>
          </a:ln>
          <a:effectLst>
            <a:outerShdw blurRad="114300" dist="19050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116" name="Freeform 116"/>
          <p:cNvSpPr/>
          <p:nvPr/>
        </p:nvSpPr>
        <p:spPr>
          <a:xfrm>
            <a:off x="9048750" y="1428750"/>
            <a:ext cx="2524125" cy="38100"/>
          </a:xfrm>
          <a:custGeom>
            <a:avLst/>
            <a:gdLst/>
            <a:ahLst/>
            <a:cxnLst/>
            <a:rect l="l" t="t" r="r" b="b"/>
            <a:pathLst>
              <a:path w="2524125" h="38100">
                <a:moveTo>
                  <a:pt x="19050" y="0"/>
                </a:moveTo>
                <a:lnTo>
                  <a:pt x="2505075" y="0"/>
                </a:lnTo>
                <a:cubicBezTo>
                  <a:pt x="2515596" y="0"/>
                  <a:pt x="2524125" y="8529"/>
                  <a:pt x="2524125" y="19050"/>
                </a:cubicBezTo>
                <a:lnTo>
                  <a:pt x="2524125" y="19050"/>
                </a:lnTo>
                <a:cubicBezTo>
                  <a:pt x="2524125" y="29571"/>
                  <a:pt x="2515596" y="38100"/>
                  <a:pt x="250507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00B4D8"/>
          </a:solidFill>
          <a:ln>
            <a:noFill/>
          </a:ln>
        </p:spPr>
      </p:sp>
      <p:sp>
        <p:nvSpPr>
          <p:cNvPr id="117" name="Ellipse 117"/>
          <p:cNvSpPr/>
          <p:nvPr/>
        </p:nvSpPr>
        <p:spPr>
          <a:xfrm>
            <a:off x="9153525" y="1581150"/>
            <a:ext cx="266700" cy="266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8" name="TextBox 118"/>
          <p:cNvSpPr txBox="1"/>
          <p:nvPr/>
        </p:nvSpPr>
        <p:spPr>
          <a:xfrm>
            <a:off x="9192680" y="1648778"/>
            <a:ext cx="1883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9507855" y="16163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财务分析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9274492" y="1942624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8D8E8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营收结构与增长分析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9274492" y="2152174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8D8E8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盈利能力指标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9274492" y="2361724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8D8E8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现金流与财务健康度</a:t>
            </a:r>
          </a:p>
        </p:txBody>
      </p:sp>
      <p:sp>
        <p:nvSpPr>
          <p:cNvPr id="123" name="Freeform 123"/>
          <p:cNvSpPr/>
          <p:nvPr/>
        </p:nvSpPr>
        <p:spPr>
          <a:xfrm>
            <a:off x="6429375" y="2952750"/>
            <a:ext cx="2428875" cy="1333500"/>
          </a:xfrm>
          <a:custGeom>
            <a:avLst/>
            <a:gdLst/>
            <a:ahLst/>
            <a:cxnLst/>
            <a:rect l="l" t="t" r="r" b="b"/>
            <a:pathLst>
              <a:path w="2428875" h="1333500">
                <a:moveTo>
                  <a:pt x="114300" y="0"/>
                </a:moveTo>
                <a:lnTo>
                  <a:pt x="2314575" y="0"/>
                </a:lnTo>
                <a:cubicBezTo>
                  <a:pt x="2377701" y="0"/>
                  <a:pt x="2428875" y="51174"/>
                  <a:pt x="2428875" y="114300"/>
                </a:cubicBezTo>
                <a:lnTo>
                  <a:pt x="2428875" y="1219200"/>
                </a:lnTo>
                <a:cubicBezTo>
                  <a:pt x="2428875" y="1282326"/>
                  <a:pt x="2377701" y="1333500"/>
                  <a:pt x="2314575" y="1333500"/>
                </a:cubicBezTo>
                <a:lnTo>
                  <a:pt x="114300" y="1333500"/>
                </a:lnTo>
                <a:cubicBezTo>
                  <a:pt x="51174" y="1333500"/>
                  <a:pt x="0" y="1282326"/>
                  <a:pt x="0" y="1219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>
            <a:noFill/>
          </a:ln>
          <a:effectLst>
            <a:outerShdw blurRad="114300" dist="19050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124" name="Freeform 124"/>
          <p:cNvSpPr/>
          <p:nvPr/>
        </p:nvSpPr>
        <p:spPr>
          <a:xfrm>
            <a:off x="6429375" y="2952750"/>
            <a:ext cx="2428875" cy="38100"/>
          </a:xfrm>
          <a:custGeom>
            <a:avLst/>
            <a:gdLst/>
            <a:ahLst/>
            <a:cxnLst/>
            <a:rect l="l" t="t" r="r" b="b"/>
            <a:pathLst>
              <a:path w="2428875" h="38100">
                <a:moveTo>
                  <a:pt x="19050" y="0"/>
                </a:moveTo>
                <a:lnTo>
                  <a:pt x="2409825" y="0"/>
                </a:lnTo>
                <a:cubicBezTo>
                  <a:pt x="2420346" y="0"/>
                  <a:pt x="2428875" y="8529"/>
                  <a:pt x="2428875" y="19050"/>
                </a:cubicBezTo>
                <a:lnTo>
                  <a:pt x="2428875" y="19050"/>
                </a:lnTo>
                <a:cubicBezTo>
                  <a:pt x="2428875" y="29571"/>
                  <a:pt x="2420346" y="38100"/>
                  <a:pt x="240982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125" name="Ellipse 125"/>
          <p:cNvSpPr/>
          <p:nvPr/>
        </p:nvSpPr>
        <p:spPr>
          <a:xfrm>
            <a:off x="6534150" y="3105150"/>
            <a:ext cx="266700" cy="266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" name="TextBox 126"/>
          <p:cNvSpPr txBox="1"/>
          <p:nvPr/>
        </p:nvSpPr>
        <p:spPr>
          <a:xfrm>
            <a:off x="6573305" y="3172778"/>
            <a:ext cx="1883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6888480" y="3140392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产品与技术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6655118" y="3466624"/>
            <a:ext cx="13054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8D8E8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AI算法与视频分析技术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6655118" y="3676174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8D8E8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产品矩阵与解决方案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6655118" y="3885724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8D8E8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研发投入与创新能力</a:t>
            </a:r>
          </a:p>
        </p:txBody>
      </p:sp>
      <p:sp>
        <p:nvSpPr>
          <p:cNvPr id="131" name="Freeform 131"/>
          <p:cNvSpPr/>
          <p:nvPr/>
        </p:nvSpPr>
        <p:spPr>
          <a:xfrm>
            <a:off x="9048750" y="2952750"/>
            <a:ext cx="2524125" cy="1333500"/>
          </a:xfrm>
          <a:custGeom>
            <a:avLst/>
            <a:gdLst/>
            <a:ahLst/>
            <a:cxnLst/>
            <a:rect l="l" t="t" r="r" b="b"/>
            <a:pathLst>
              <a:path w="2524125" h="1333500">
                <a:moveTo>
                  <a:pt x="114300" y="0"/>
                </a:moveTo>
                <a:lnTo>
                  <a:pt x="2409825" y="0"/>
                </a:lnTo>
                <a:cubicBezTo>
                  <a:pt x="2472951" y="0"/>
                  <a:pt x="2524125" y="51174"/>
                  <a:pt x="2524125" y="114300"/>
                </a:cubicBezTo>
                <a:lnTo>
                  <a:pt x="2524125" y="1219200"/>
                </a:lnTo>
                <a:cubicBezTo>
                  <a:pt x="2524125" y="1282326"/>
                  <a:pt x="2472951" y="1333500"/>
                  <a:pt x="2409825" y="1333500"/>
                </a:cubicBezTo>
                <a:lnTo>
                  <a:pt x="114300" y="1333500"/>
                </a:lnTo>
                <a:cubicBezTo>
                  <a:pt x="51174" y="1333500"/>
                  <a:pt x="0" y="1282326"/>
                  <a:pt x="0" y="1219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>
            <a:noFill/>
          </a:ln>
          <a:effectLst>
            <a:outerShdw blurRad="114300" dist="19050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132" name="Freeform 132"/>
          <p:cNvSpPr/>
          <p:nvPr/>
        </p:nvSpPr>
        <p:spPr>
          <a:xfrm>
            <a:off x="9048750" y="2952750"/>
            <a:ext cx="2524125" cy="38100"/>
          </a:xfrm>
          <a:custGeom>
            <a:avLst/>
            <a:gdLst/>
            <a:ahLst/>
            <a:cxnLst/>
            <a:rect l="l" t="t" r="r" b="b"/>
            <a:pathLst>
              <a:path w="2524125" h="38100">
                <a:moveTo>
                  <a:pt x="19050" y="0"/>
                </a:moveTo>
                <a:lnTo>
                  <a:pt x="2505075" y="0"/>
                </a:lnTo>
                <a:cubicBezTo>
                  <a:pt x="2515596" y="0"/>
                  <a:pt x="2524125" y="8529"/>
                  <a:pt x="2524125" y="19050"/>
                </a:cubicBezTo>
                <a:lnTo>
                  <a:pt x="2524125" y="19050"/>
                </a:lnTo>
                <a:cubicBezTo>
                  <a:pt x="2524125" y="29571"/>
                  <a:pt x="2515596" y="38100"/>
                  <a:pt x="2505075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90E0EF"/>
          </a:solidFill>
          <a:ln>
            <a:noFill/>
          </a:ln>
        </p:spPr>
      </p:sp>
      <p:sp>
        <p:nvSpPr>
          <p:cNvPr id="133" name="Ellipse 133"/>
          <p:cNvSpPr/>
          <p:nvPr/>
        </p:nvSpPr>
        <p:spPr>
          <a:xfrm>
            <a:off x="9153525" y="3105150"/>
            <a:ext cx="266700" cy="266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4" name="TextBox 134"/>
          <p:cNvSpPr txBox="1"/>
          <p:nvPr/>
        </p:nvSpPr>
        <p:spPr>
          <a:xfrm>
            <a:off x="9192680" y="3172778"/>
            <a:ext cx="1883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9507855" y="31403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投资价值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9274492" y="3466624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8D8E8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估值分析与对标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9274492" y="3676174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8D8E8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核心增长驱动因素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9274492" y="3885724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B8D8E8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风险提示与总结</a:t>
            </a:r>
          </a:p>
        </p:txBody>
      </p:sp>
      <p:sp>
        <p:nvSpPr>
          <p:cNvPr id="139" name="Freeform 139"/>
          <p:cNvSpPr/>
          <p:nvPr/>
        </p:nvSpPr>
        <p:spPr>
          <a:xfrm>
            <a:off x="6429375" y="4524375"/>
            <a:ext cx="5143500" cy="476250"/>
          </a:xfrm>
          <a:custGeom>
            <a:avLst/>
            <a:gdLst/>
            <a:ahLst/>
            <a:cxnLst/>
            <a:rect l="l" t="t" r="r" b="b"/>
            <a:pathLst>
              <a:path w="5143500" h="476250">
                <a:moveTo>
                  <a:pt x="95250" y="0"/>
                </a:moveTo>
                <a:lnTo>
                  <a:pt x="5048250" y="0"/>
                </a:lnTo>
                <a:cubicBezTo>
                  <a:pt x="5100855" y="0"/>
                  <a:pt x="5143500" y="42645"/>
                  <a:pt x="5143500" y="95250"/>
                </a:cubicBezTo>
                <a:lnTo>
                  <a:pt x="5143500" y="381000"/>
                </a:lnTo>
                <a:cubicBezTo>
                  <a:pt x="5143500" y="433605"/>
                  <a:pt x="5100855" y="476250"/>
                  <a:pt x="50482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noFill/>
          <a:ln>
            <a:noFill/>
          </a:ln>
        </p:spPr>
      </p:sp>
      <p:grpSp>
        <p:nvGrpSpPr>
          <p:cNvPr id="142" name="Group 142"/>
          <p:cNvGrpSpPr/>
          <p:nvPr/>
        </p:nvGrpSpPr>
        <p:grpSpPr>
          <a:xfrm>
            <a:off x="6643533" y="4695485"/>
            <a:ext cx="104971" cy="133690"/>
            <a:chOff x="6643533" y="4695485"/>
            <a:chExt cx="104971" cy="133690"/>
          </a:xfrm>
        </p:grpSpPr>
        <p:sp>
          <p:nvSpPr>
            <p:cNvPr id="140" name="Freeform 140"/>
            <p:cNvSpPr/>
            <p:nvPr/>
          </p:nvSpPr>
          <p:spPr>
            <a:xfrm>
              <a:off x="6648307" y="4700278"/>
              <a:ext cx="95406" cy="105085"/>
            </a:xfrm>
            <a:custGeom>
              <a:avLst/>
              <a:gdLst/>
              <a:ahLst/>
              <a:cxnLst/>
              <a:rect l="l" t="t" r="r" b="b"/>
              <a:pathLst>
                <a:path w="95406" h="105085">
                  <a:moveTo>
                    <a:pt x="95393" y="47935"/>
                  </a:moveTo>
                  <a:cubicBezTo>
                    <a:pt x="95406" y="62556"/>
                    <a:pt x="88690" y="76371"/>
                    <a:pt x="77182" y="85392"/>
                  </a:cubicBezTo>
                  <a:cubicBezTo>
                    <a:pt x="73668" y="88115"/>
                    <a:pt x="71602" y="92304"/>
                    <a:pt x="71580" y="96750"/>
                  </a:cubicBezTo>
                  <a:lnTo>
                    <a:pt x="71580" y="100322"/>
                  </a:lnTo>
                  <a:cubicBezTo>
                    <a:pt x="71580" y="102952"/>
                    <a:pt x="69448" y="105085"/>
                    <a:pt x="66818" y="105085"/>
                  </a:cubicBezTo>
                  <a:lnTo>
                    <a:pt x="28718" y="105085"/>
                  </a:lnTo>
                  <a:cubicBezTo>
                    <a:pt x="26088" y="105085"/>
                    <a:pt x="23955" y="102952"/>
                    <a:pt x="23955" y="100322"/>
                  </a:cubicBezTo>
                  <a:lnTo>
                    <a:pt x="23955" y="96750"/>
                  </a:lnTo>
                  <a:cubicBezTo>
                    <a:pt x="23951" y="92328"/>
                    <a:pt x="21908" y="88155"/>
                    <a:pt x="18419" y="85439"/>
                  </a:cubicBezTo>
                  <a:cubicBezTo>
                    <a:pt x="6949" y="76479"/>
                    <a:pt x="214" y="62758"/>
                    <a:pt x="143" y="48202"/>
                  </a:cubicBezTo>
                  <a:cubicBezTo>
                    <a:pt x="0" y="22390"/>
                    <a:pt x="20812" y="905"/>
                    <a:pt x="46619" y="310"/>
                  </a:cubicBezTo>
                  <a:cubicBezTo>
                    <a:pt x="59448" y="0"/>
                    <a:pt x="71859" y="4881"/>
                    <a:pt x="81040" y="13846"/>
                  </a:cubicBezTo>
                  <a:cubicBezTo>
                    <a:pt x="90222" y="22811"/>
                    <a:pt x="95397" y="35102"/>
                    <a:pt x="95393" y="47935"/>
                  </a:cubicBezTo>
                  <a:close/>
                </a:path>
              </a:pathLst>
            </a:cu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141" name="Freeform 141"/>
            <p:cNvSpPr/>
            <p:nvPr/>
          </p:nvSpPr>
          <p:spPr>
            <a:xfrm>
              <a:off x="6643533" y="4695485"/>
              <a:ext cx="104971" cy="133690"/>
            </a:xfrm>
            <a:custGeom>
              <a:avLst/>
              <a:gdLst/>
              <a:ahLst/>
              <a:cxnLst/>
              <a:rect l="l" t="t" r="r" b="b"/>
              <a:pathLst>
                <a:path w="104971" h="133690">
                  <a:moveTo>
                    <a:pt x="81117" y="128928"/>
                  </a:moveTo>
                  <a:cubicBezTo>
                    <a:pt x="81117" y="131558"/>
                    <a:pt x="78985" y="133690"/>
                    <a:pt x="76355" y="133690"/>
                  </a:cubicBezTo>
                  <a:lnTo>
                    <a:pt x="28730" y="133690"/>
                  </a:lnTo>
                  <a:cubicBezTo>
                    <a:pt x="26100" y="133690"/>
                    <a:pt x="23967" y="131558"/>
                    <a:pt x="23967" y="128928"/>
                  </a:cubicBezTo>
                  <a:cubicBezTo>
                    <a:pt x="23967" y="126297"/>
                    <a:pt x="26100" y="124165"/>
                    <a:pt x="28730" y="124165"/>
                  </a:cubicBezTo>
                  <a:lnTo>
                    <a:pt x="76355" y="124165"/>
                  </a:lnTo>
                  <a:cubicBezTo>
                    <a:pt x="78985" y="124165"/>
                    <a:pt x="81117" y="126297"/>
                    <a:pt x="81117" y="128928"/>
                  </a:cubicBezTo>
                  <a:close/>
                  <a:moveTo>
                    <a:pt x="104930" y="52728"/>
                  </a:moveTo>
                  <a:cubicBezTo>
                    <a:pt x="104971" y="68816"/>
                    <a:pt x="97580" y="84022"/>
                    <a:pt x="84903" y="93929"/>
                  </a:cubicBezTo>
                  <a:cubicBezTo>
                    <a:pt x="82533" y="95746"/>
                    <a:pt x="81136" y="98557"/>
                    <a:pt x="81117" y="101543"/>
                  </a:cubicBezTo>
                  <a:lnTo>
                    <a:pt x="81117" y="105115"/>
                  </a:lnTo>
                  <a:cubicBezTo>
                    <a:pt x="81117" y="110376"/>
                    <a:pt x="76853" y="114640"/>
                    <a:pt x="71592" y="114640"/>
                  </a:cubicBezTo>
                  <a:lnTo>
                    <a:pt x="33492" y="114640"/>
                  </a:lnTo>
                  <a:cubicBezTo>
                    <a:pt x="28232" y="114640"/>
                    <a:pt x="23967" y="110376"/>
                    <a:pt x="23967" y="105115"/>
                  </a:cubicBezTo>
                  <a:lnTo>
                    <a:pt x="23967" y="101543"/>
                  </a:lnTo>
                  <a:cubicBezTo>
                    <a:pt x="23965" y="98592"/>
                    <a:pt x="22596" y="95809"/>
                    <a:pt x="20258" y="94007"/>
                  </a:cubicBezTo>
                  <a:cubicBezTo>
                    <a:pt x="7615" y="84159"/>
                    <a:pt x="201" y="69045"/>
                    <a:pt x="155" y="53019"/>
                  </a:cubicBezTo>
                  <a:cubicBezTo>
                    <a:pt x="0" y="24647"/>
                    <a:pt x="22931" y="1019"/>
                    <a:pt x="51280" y="340"/>
                  </a:cubicBezTo>
                  <a:cubicBezTo>
                    <a:pt x="65392" y="0"/>
                    <a:pt x="79043" y="5369"/>
                    <a:pt x="89142" y="15231"/>
                  </a:cubicBezTo>
                  <a:cubicBezTo>
                    <a:pt x="99242" y="25092"/>
                    <a:pt x="104934" y="38612"/>
                    <a:pt x="104930" y="52728"/>
                  </a:cubicBezTo>
                  <a:close/>
                  <a:moveTo>
                    <a:pt x="95405" y="52728"/>
                  </a:moveTo>
                  <a:cubicBezTo>
                    <a:pt x="95408" y="41178"/>
                    <a:pt x="90750" y="30116"/>
                    <a:pt x="82487" y="22047"/>
                  </a:cubicBezTo>
                  <a:cubicBezTo>
                    <a:pt x="74223" y="13978"/>
                    <a:pt x="63053" y="9586"/>
                    <a:pt x="51506" y="9865"/>
                  </a:cubicBezTo>
                  <a:cubicBezTo>
                    <a:pt x="28289" y="10413"/>
                    <a:pt x="9555" y="29743"/>
                    <a:pt x="9680" y="52960"/>
                  </a:cubicBezTo>
                  <a:cubicBezTo>
                    <a:pt x="9724" y="66066"/>
                    <a:pt x="15791" y="78425"/>
                    <a:pt x="26134" y="86476"/>
                  </a:cubicBezTo>
                  <a:cubicBezTo>
                    <a:pt x="30784" y="90091"/>
                    <a:pt x="33501" y="95653"/>
                    <a:pt x="33492" y="101543"/>
                  </a:cubicBezTo>
                  <a:lnTo>
                    <a:pt x="33492" y="105115"/>
                  </a:lnTo>
                  <a:lnTo>
                    <a:pt x="71592" y="105115"/>
                  </a:lnTo>
                  <a:lnTo>
                    <a:pt x="71592" y="101543"/>
                  </a:lnTo>
                  <a:cubicBezTo>
                    <a:pt x="71606" y="95637"/>
                    <a:pt x="74345" y="90067"/>
                    <a:pt x="79016" y="86452"/>
                  </a:cubicBezTo>
                  <a:cubicBezTo>
                    <a:pt x="89392" y="78343"/>
                    <a:pt x="95441" y="65896"/>
                    <a:pt x="95405" y="52728"/>
                  </a:cubicBezTo>
                  <a:close/>
                  <a:moveTo>
                    <a:pt x="85814" y="47167"/>
                  </a:moveTo>
                  <a:cubicBezTo>
                    <a:pt x="83285" y="33040"/>
                    <a:pt x="72225" y="21982"/>
                    <a:pt x="58097" y="19456"/>
                  </a:cubicBezTo>
                  <a:cubicBezTo>
                    <a:pt x="55502" y="19018"/>
                    <a:pt x="53045" y="20767"/>
                    <a:pt x="52608" y="23361"/>
                  </a:cubicBezTo>
                  <a:cubicBezTo>
                    <a:pt x="52170" y="25955"/>
                    <a:pt x="53919" y="28412"/>
                    <a:pt x="56513" y="28850"/>
                  </a:cubicBezTo>
                  <a:cubicBezTo>
                    <a:pt x="66377" y="30510"/>
                    <a:pt x="74747" y="38881"/>
                    <a:pt x="76420" y="48763"/>
                  </a:cubicBezTo>
                  <a:cubicBezTo>
                    <a:pt x="76809" y="51053"/>
                    <a:pt x="78794" y="52728"/>
                    <a:pt x="81117" y="52728"/>
                  </a:cubicBezTo>
                  <a:cubicBezTo>
                    <a:pt x="81386" y="52726"/>
                    <a:pt x="81655" y="52704"/>
                    <a:pt x="81921" y="52662"/>
                  </a:cubicBezTo>
                  <a:cubicBezTo>
                    <a:pt x="84513" y="52220"/>
                    <a:pt x="86256" y="49760"/>
                    <a:pt x="85814" y="47167"/>
                  </a:cubicBezTo>
                  <a:close/>
                </a:path>
              </a:pathLst>
            </a:custGeom>
            <a:solidFill>
              <a:srgbClr val="48CAE4"/>
            </a:solidFill>
            <a:ln>
              <a:noFill/>
            </a:ln>
          </p:spPr>
        </p:sp>
      </p:grpSp>
      <p:sp>
        <p:nvSpPr>
          <p:cNvPr id="143" name="TextBox 143"/>
          <p:cNvSpPr txBox="1"/>
          <p:nvPr/>
        </p:nvSpPr>
        <p:spPr>
          <a:xfrm>
            <a:off x="6844665" y="4696778"/>
            <a:ext cx="42972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E0E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分析工具：PEST 分析 · Porter 五力模型 · 杜邦分析 · DCF 估值模型</a:t>
            </a:r>
          </a:p>
        </p:txBody>
      </p:sp>
      <p:sp>
        <p:nvSpPr>
          <p:cNvPr id="144" name="Freeform 144"/>
          <p:cNvSpPr/>
          <p:nvPr/>
        </p:nvSpPr>
        <p:spPr>
          <a:xfrm>
            <a:off x="6429375" y="5143500"/>
            <a:ext cx="5143500" cy="476250"/>
          </a:xfrm>
          <a:custGeom>
            <a:avLst/>
            <a:gdLst/>
            <a:ahLst/>
            <a:cxnLst/>
            <a:rect l="l" t="t" r="r" b="b"/>
            <a:pathLst>
              <a:path w="5143500" h="476250">
                <a:moveTo>
                  <a:pt x="95250" y="0"/>
                </a:moveTo>
                <a:lnTo>
                  <a:pt x="5048250" y="0"/>
                </a:lnTo>
                <a:cubicBezTo>
                  <a:pt x="5100855" y="0"/>
                  <a:pt x="5143500" y="42645"/>
                  <a:pt x="5143500" y="95250"/>
                </a:cubicBezTo>
                <a:lnTo>
                  <a:pt x="5143500" y="381000"/>
                </a:lnTo>
                <a:cubicBezTo>
                  <a:pt x="5143500" y="433605"/>
                  <a:pt x="5100855" y="476250"/>
                  <a:pt x="50482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noFill/>
          <a:ln>
            <a:noFill/>
          </a:ln>
        </p:spPr>
      </p:sp>
      <p:grpSp>
        <p:nvGrpSpPr>
          <p:cNvPr id="147" name="Group 147"/>
          <p:cNvGrpSpPr/>
          <p:nvPr/>
        </p:nvGrpSpPr>
        <p:grpSpPr>
          <a:xfrm>
            <a:off x="6638925" y="5319712"/>
            <a:ext cx="114300" cy="123825"/>
            <a:chOff x="6638925" y="5319712"/>
            <a:chExt cx="114300" cy="123825"/>
          </a:xfrm>
        </p:grpSpPr>
        <p:sp>
          <p:nvSpPr>
            <p:cNvPr id="145" name="Freeform 145"/>
            <p:cNvSpPr/>
            <p:nvPr/>
          </p:nvSpPr>
          <p:spPr>
            <a:xfrm>
              <a:off x="6643688" y="5324475"/>
              <a:ext cx="104775" cy="57150"/>
            </a:xfrm>
            <a:custGeom>
              <a:avLst/>
              <a:gdLst/>
              <a:ahLst/>
              <a:cxnLst/>
              <a:rect l="l" t="t" r="r" b="b"/>
              <a:pathLst>
                <a:path w="104775" h="57150">
                  <a:moveTo>
                    <a:pt x="104775" y="28575"/>
                  </a:moveTo>
                  <a:cubicBezTo>
                    <a:pt x="104775" y="44357"/>
                    <a:pt x="81320" y="57150"/>
                    <a:pt x="52388" y="57150"/>
                  </a:cubicBezTo>
                  <a:cubicBezTo>
                    <a:pt x="23455" y="57150"/>
                    <a:pt x="0" y="44357"/>
                    <a:pt x="0" y="28575"/>
                  </a:cubicBezTo>
                  <a:cubicBezTo>
                    <a:pt x="0" y="12793"/>
                    <a:pt x="23455" y="0"/>
                    <a:pt x="52388" y="0"/>
                  </a:cubicBezTo>
                  <a:cubicBezTo>
                    <a:pt x="81320" y="0"/>
                    <a:pt x="104775" y="12793"/>
                    <a:pt x="104775" y="28575"/>
                  </a:cubicBezTo>
                  <a:close/>
                </a:path>
              </a:pathLst>
            </a:custGeom>
            <a:solidFill>
              <a:srgbClr val="48CAE4">
                <a:alpha val="20000"/>
              </a:srgbClr>
            </a:solidFill>
            <a:ln>
              <a:noFill/>
            </a:ln>
          </p:spPr>
        </p:sp>
        <p:sp>
          <p:nvSpPr>
            <p:cNvPr id="146" name="Freeform 146"/>
            <p:cNvSpPr/>
            <p:nvPr/>
          </p:nvSpPr>
          <p:spPr>
            <a:xfrm>
              <a:off x="6638925" y="5319712"/>
              <a:ext cx="114300" cy="123825"/>
            </a:xfrm>
            <a:custGeom>
              <a:avLst/>
              <a:gdLst/>
              <a:ahLst/>
              <a:cxnLst/>
              <a:rect l="l" t="t" r="r" b="b"/>
              <a:pathLst>
                <a:path w="114300" h="123825">
                  <a:moveTo>
                    <a:pt x="57150" y="0"/>
                  </a:moveTo>
                  <a:cubicBezTo>
                    <a:pt x="25104" y="0"/>
                    <a:pt x="0" y="14645"/>
                    <a:pt x="0" y="33338"/>
                  </a:cubicBezTo>
                  <a:lnTo>
                    <a:pt x="0" y="90488"/>
                  </a:lnTo>
                  <a:cubicBezTo>
                    <a:pt x="0" y="109180"/>
                    <a:pt x="25104" y="123825"/>
                    <a:pt x="57150" y="123825"/>
                  </a:cubicBezTo>
                  <a:cubicBezTo>
                    <a:pt x="89196" y="123825"/>
                    <a:pt x="114300" y="109180"/>
                    <a:pt x="114300" y="90488"/>
                  </a:cubicBezTo>
                  <a:lnTo>
                    <a:pt x="114300" y="33338"/>
                  </a:lnTo>
                  <a:cubicBezTo>
                    <a:pt x="114300" y="14645"/>
                    <a:pt x="89196" y="0"/>
                    <a:pt x="57150" y="0"/>
                  </a:cubicBezTo>
                  <a:close/>
                  <a:moveTo>
                    <a:pt x="104775" y="61912"/>
                  </a:moveTo>
                  <a:cubicBezTo>
                    <a:pt x="104775" y="67639"/>
                    <a:pt x="100084" y="73479"/>
                    <a:pt x="91910" y="77938"/>
                  </a:cubicBezTo>
                  <a:cubicBezTo>
                    <a:pt x="82707" y="82957"/>
                    <a:pt x="70360" y="85725"/>
                    <a:pt x="57150" y="85725"/>
                  </a:cubicBezTo>
                  <a:cubicBezTo>
                    <a:pt x="43940" y="85725"/>
                    <a:pt x="31593" y="82957"/>
                    <a:pt x="22390" y="77938"/>
                  </a:cubicBezTo>
                  <a:cubicBezTo>
                    <a:pt x="14216" y="73479"/>
                    <a:pt x="9525" y="67639"/>
                    <a:pt x="9525" y="61912"/>
                  </a:cubicBezTo>
                  <a:lnTo>
                    <a:pt x="9525" y="52007"/>
                  </a:lnTo>
                  <a:cubicBezTo>
                    <a:pt x="19681" y="60936"/>
                    <a:pt x="37046" y="66675"/>
                    <a:pt x="57150" y="66675"/>
                  </a:cubicBezTo>
                  <a:cubicBezTo>
                    <a:pt x="77254" y="66675"/>
                    <a:pt x="94619" y="60912"/>
                    <a:pt x="104775" y="52007"/>
                  </a:cubicBezTo>
                  <a:close/>
                  <a:moveTo>
                    <a:pt x="22390" y="17312"/>
                  </a:moveTo>
                  <a:cubicBezTo>
                    <a:pt x="31593" y="12293"/>
                    <a:pt x="43940" y="9525"/>
                    <a:pt x="57150" y="9525"/>
                  </a:cubicBezTo>
                  <a:cubicBezTo>
                    <a:pt x="70360" y="9525"/>
                    <a:pt x="82707" y="12293"/>
                    <a:pt x="91910" y="17312"/>
                  </a:cubicBezTo>
                  <a:cubicBezTo>
                    <a:pt x="100084" y="21771"/>
                    <a:pt x="104775" y="27611"/>
                    <a:pt x="104775" y="33338"/>
                  </a:cubicBezTo>
                  <a:cubicBezTo>
                    <a:pt x="104775" y="39064"/>
                    <a:pt x="100084" y="44904"/>
                    <a:pt x="91910" y="49363"/>
                  </a:cubicBezTo>
                  <a:cubicBezTo>
                    <a:pt x="82707" y="54382"/>
                    <a:pt x="70360" y="57150"/>
                    <a:pt x="57150" y="57150"/>
                  </a:cubicBezTo>
                  <a:cubicBezTo>
                    <a:pt x="43940" y="57150"/>
                    <a:pt x="31593" y="54382"/>
                    <a:pt x="22390" y="49363"/>
                  </a:cubicBezTo>
                  <a:cubicBezTo>
                    <a:pt x="14216" y="44904"/>
                    <a:pt x="9525" y="39064"/>
                    <a:pt x="9525" y="33338"/>
                  </a:cubicBezTo>
                  <a:cubicBezTo>
                    <a:pt x="9525" y="27611"/>
                    <a:pt x="14216" y="21771"/>
                    <a:pt x="22390" y="17312"/>
                  </a:cubicBezTo>
                  <a:close/>
                  <a:moveTo>
                    <a:pt x="91910" y="106513"/>
                  </a:moveTo>
                  <a:cubicBezTo>
                    <a:pt x="82707" y="111532"/>
                    <a:pt x="70360" y="114300"/>
                    <a:pt x="57150" y="114300"/>
                  </a:cubicBezTo>
                  <a:cubicBezTo>
                    <a:pt x="43940" y="114300"/>
                    <a:pt x="31593" y="111532"/>
                    <a:pt x="22390" y="106513"/>
                  </a:cubicBezTo>
                  <a:cubicBezTo>
                    <a:pt x="14216" y="102054"/>
                    <a:pt x="9525" y="96214"/>
                    <a:pt x="9525" y="90488"/>
                  </a:cubicBezTo>
                  <a:lnTo>
                    <a:pt x="9525" y="80582"/>
                  </a:lnTo>
                  <a:cubicBezTo>
                    <a:pt x="19681" y="89511"/>
                    <a:pt x="37046" y="95250"/>
                    <a:pt x="57150" y="95250"/>
                  </a:cubicBezTo>
                  <a:cubicBezTo>
                    <a:pt x="77254" y="95250"/>
                    <a:pt x="94619" y="89487"/>
                    <a:pt x="104775" y="80582"/>
                  </a:cubicBezTo>
                  <a:lnTo>
                    <a:pt x="104775" y="90488"/>
                  </a:lnTo>
                  <a:cubicBezTo>
                    <a:pt x="104775" y="96214"/>
                    <a:pt x="100084" y="102054"/>
                    <a:pt x="91910" y="106513"/>
                  </a:cubicBezTo>
                  <a:close/>
                </a:path>
              </a:pathLst>
            </a:custGeom>
            <a:solidFill>
              <a:srgbClr val="48CAE4"/>
            </a:solidFill>
            <a:ln>
              <a:noFill/>
            </a:ln>
          </p:spPr>
        </p:sp>
      </p:grpSp>
      <p:sp>
        <p:nvSpPr>
          <p:cNvPr id="148" name="TextBox 148"/>
          <p:cNvSpPr txBox="1"/>
          <p:nvPr/>
        </p:nvSpPr>
        <p:spPr>
          <a:xfrm>
            <a:off x="6844665" y="5315902"/>
            <a:ext cx="42131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E0E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数据来源：公司年报 · Wind 金融终端 · 行业白皮书 · 公开披露信息</a:t>
            </a:r>
          </a:p>
        </p:txBody>
      </p:sp>
      <p:grpSp>
        <p:nvGrpSpPr>
          <p:cNvPr id="151" name="Group 151"/>
          <p:cNvGrpSpPr/>
          <p:nvPr/>
        </p:nvGrpSpPr>
        <p:grpSpPr>
          <a:xfrm>
            <a:off x="5905500" y="3381375"/>
            <a:ext cx="381000" cy="95250"/>
            <a:chOff x="5905500" y="3381375"/>
            <a:chExt cx="381000" cy="95250"/>
          </a:xfrm>
        </p:grpSpPr>
        <p:sp>
          <p:nvSpPr>
            <p:cNvPr id="149" name="Freeform 149"/>
            <p:cNvSpPr/>
            <p:nvPr/>
          </p:nvSpPr>
          <p:spPr>
            <a:xfrm>
              <a:off x="5905500" y="34290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48CAE4">
                  <a:alpha val="12000"/>
                </a:srgbClr>
              </a:solidFill>
            </a:ln>
          </p:spPr>
        </p:sp>
        <p:sp>
          <p:nvSpPr>
            <p:cNvPr id="150" name="Polygon 150"/>
            <p:cNvSpPr/>
            <p:nvPr/>
          </p:nvSpPr>
          <p:spPr>
            <a:xfrm>
              <a:off x="6191250" y="3381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48CAE4">
                <a:alpha val="12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0FAFF"/>
              </a:gs>
              <a:gs pos="100000">
                <a:srgbClr val="E3F5FD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0077B6"/>
              </a:gs>
              <a:gs pos="100000">
                <a:srgbClr val="48CAE4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152400"/>
            <a:ext cx="1219200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152400"/>
            <a:ext cx="12192000" cy="6858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381000" y="3619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68" y="0"/>
                  <a:pt x="304800" y="68232"/>
                  <a:pt x="304800" y="152400"/>
                </a:cubicBezTo>
                <a:lnTo>
                  <a:pt x="304800" y="152400"/>
                </a:lnTo>
                <a:cubicBezTo>
                  <a:pt x="304800" y="236568"/>
                  <a:pt x="236568" y="304800"/>
                  <a:pt x="152400" y="304800"/>
                </a:cubicBez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1954" y="432435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7245" y="412432"/>
            <a:ext cx="16591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77B6"/>
                </a:solidFill>
                <a:latin typeface="Arial"/>
                <a:ea typeface="Microsoft YaHei"/>
                <a:cs typeface="Arial"/>
              </a:rPr>
              <a:t>四维度财务分析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75560" y="461010"/>
            <a:ext cx="808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8CAE4"/>
                </a:solidFill>
                <a:latin typeface="Arial"/>
                <a:ea typeface="Microsoft YaHei"/>
                <a:cs typeface="Arial"/>
              </a:rPr>
              <a:t>|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08910" y="461010"/>
            <a:ext cx="14946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现金保障性 · 持续性</a:t>
            </a:r>
          </a:p>
        </p:txBody>
      </p:sp>
      <p:sp>
        <p:nvSpPr>
          <p:cNvPr id="11" name="Ellipse 11"/>
          <p:cNvSpPr/>
          <p:nvPr/>
        </p:nvSpPr>
        <p:spPr>
          <a:xfrm>
            <a:off x="11296650" y="247650"/>
            <a:ext cx="457200" cy="457200"/>
          </a:xfrm>
          <a:prstGeom prst="ellipse">
            <a:avLst/>
          </a:prstGeom>
          <a:solidFill>
            <a:srgbClr val="90E0EF">
              <a:alpha val="30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1563350" y="381000"/>
            <a:ext cx="304800" cy="304800"/>
          </a:xfrm>
          <a:prstGeom prst="ellipse">
            <a:avLst/>
          </a:prstGeom>
          <a:solidFill>
            <a:srgbClr val="48CAE4">
              <a:alpha val="20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1763375" y="323850"/>
            <a:ext cx="190500" cy="190500"/>
          </a:xfrm>
          <a:prstGeom prst="ellipse">
            <a:avLst/>
          </a:prstGeom>
          <a:solidFill>
            <a:srgbClr val="0077B6">
              <a:alpha val="15000"/>
            </a:srgbClr>
          </a:solidFill>
          <a:ln>
            <a:noFill/>
          </a:ln>
        </p:spPr>
      </p:sp>
      <p:sp>
        <p:nvSpPr>
          <p:cNvPr id="14" name="Line 14"/>
          <p:cNvSpPr/>
          <p:nvPr/>
        </p:nvSpPr>
        <p:spPr>
          <a:xfrm>
            <a:off x="381000" y="952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B8D8E8"/>
            </a:solidFill>
            <a:custDash>
              <a:ds d="400000" sp="300000"/>
            </a:custDash>
          </a:ln>
        </p:spPr>
      </p:sp>
      <p:sp>
        <p:nvSpPr>
          <p:cNvPr id="15" name="Freeform 15"/>
          <p:cNvSpPr/>
          <p:nvPr/>
        </p:nvSpPr>
        <p:spPr>
          <a:xfrm>
            <a:off x="381000" y="1143000"/>
            <a:ext cx="5524500" cy="5429250"/>
          </a:xfrm>
          <a:custGeom>
            <a:avLst/>
            <a:gdLst/>
            <a:ahLst/>
            <a:cxnLst/>
            <a:rect l="l" t="t" r="r" b="b"/>
            <a:pathLst>
              <a:path w="5524500" h="5429250">
                <a:moveTo>
                  <a:pt x="133350" y="0"/>
                </a:moveTo>
                <a:lnTo>
                  <a:pt x="5391150" y="0"/>
                </a:lnTo>
                <a:cubicBezTo>
                  <a:pt x="5464797" y="0"/>
                  <a:pt x="5524500" y="59703"/>
                  <a:pt x="5524500" y="133350"/>
                </a:cubicBezTo>
                <a:lnTo>
                  <a:pt x="5524500" y="5295900"/>
                </a:lnTo>
                <a:cubicBezTo>
                  <a:pt x="5524500" y="5369547"/>
                  <a:pt x="5464797" y="5429250"/>
                  <a:pt x="5391150" y="5429250"/>
                </a:cubicBezTo>
                <a:lnTo>
                  <a:pt x="133350" y="5429250"/>
                </a:lnTo>
                <a:cubicBezTo>
                  <a:pt x="59703" y="5429250"/>
                  <a:pt x="0" y="5369547"/>
                  <a:pt x="0" y="5295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77B6">
                <a:alpha val="9000"/>
              </a:srgbClr>
            </a:outerShdw>
          </a:effectLst>
        </p:spPr>
      </p:sp>
      <p:sp>
        <p:nvSpPr>
          <p:cNvPr id="16" name="Freeform 16"/>
          <p:cNvSpPr/>
          <p:nvPr/>
        </p:nvSpPr>
        <p:spPr>
          <a:xfrm>
            <a:off x="381000" y="1143000"/>
            <a:ext cx="5524500" cy="571500"/>
          </a:xfrm>
          <a:custGeom>
            <a:avLst/>
            <a:gdLst/>
            <a:ahLst/>
            <a:cxnLst/>
            <a:rect l="l" t="t" r="r" b="b"/>
            <a:pathLst>
              <a:path w="5524500" h="571500">
                <a:moveTo>
                  <a:pt x="133350" y="0"/>
                </a:moveTo>
                <a:lnTo>
                  <a:pt x="5391150" y="0"/>
                </a:lnTo>
                <a:cubicBezTo>
                  <a:pt x="5464797" y="0"/>
                  <a:pt x="5524500" y="59703"/>
                  <a:pt x="5524500" y="133350"/>
                </a:cubicBezTo>
                <a:lnTo>
                  <a:pt x="5524500" y="438150"/>
                </a:lnTo>
                <a:cubicBezTo>
                  <a:pt x="5524500" y="511797"/>
                  <a:pt x="5464797" y="571500"/>
                  <a:pt x="5391150" y="571500"/>
                </a:cubicBezTo>
                <a:lnTo>
                  <a:pt x="133350" y="571500"/>
                </a:lnTo>
                <a:cubicBezTo>
                  <a:pt x="59703" y="571500"/>
                  <a:pt x="0" y="511797"/>
                  <a:pt x="0" y="438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gradFill>
            <a:gsLst>
              <a:gs pos="0">
                <a:srgbClr val="0077B6"/>
              </a:gs>
              <a:gs pos="100000">
                <a:srgbClr val="00B4D8"/>
              </a:gs>
            </a:gsLst>
            <a:lin ang="5400000" scaled="1"/>
          </a:gra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381000" y="1581150"/>
            <a:ext cx="5524500" cy="133350"/>
          </a:xfrm>
          <a:prstGeom prst="rect">
            <a:avLst/>
          </a:prstGeom>
          <a:gradFill>
            <a:gsLst>
              <a:gs pos="0">
                <a:srgbClr val="0077B6"/>
              </a:gs>
              <a:gs pos="100000">
                <a:srgbClr val="00B4D8"/>
              </a:gs>
            </a:gsLst>
            <a:lin ang="5400000" scaled="1"/>
          </a:gra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661988" y="1362075"/>
            <a:ext cx="211137" cy="177800"/>
            <a:chOff x="661988" y="1362075"/>
            <a:chExt cx="211137" cy="177800"/>
          </a:xfrm>
        </p:grpSpPr>
        <p:sp>
          <p:nvSpPr>
            <p:cNvPr id="18" name="Freeform 18"/>
            <p:cNvSpPr/>
            <p:nvPr/>
          </p:nvSpPr>
          <p:spPr>
            <a:xfrm>
              <a:off x="728662" y="1395412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33338"/>
                  </a:moveTo>
                  <a:cubicBezTo>
                    <a:pt x="0" y="51749"/>
                    <a:pt x="14926" y="66675"/>
                    <a:pt x="33338" y="66675"/>
                  </a:cubicBezTo>
                  <a:cubicBezTo>
                    <a:pt x="51749" y="66675"/>
                    <a:pt x="66675" y="51749"/>
                    <a:pt x="66675" y="33338"/>
                  </a:cubicBezTo>
                  <a:cubicBezTo>
                    <a:pt x="66675" y="14926"/>
                    <a:pt x="51749" y="0"/>
                    <a:pt x="33338" y="0"/>
                  </a:cubicBezTo>
                  <a:cubicBezTo>
                    <a:pt x="14926" y="0"/>
                    <a:pt x="0" y="14926"/>
                    <a:pt x="0" y="3333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61988" y="1362075"/>
              <a:ext cx="200025" cy="133350"/>
            </a:xfrm>
            <a:custGeom>
              <a:avLst/>
              <a:gdLst/>
              <a:ahLst/>
              <a:cxnLst/>
              <a:rect l="l" t="t" r="r" b="b"/>
              <a:pathLst>
                <a:path w="200025" h="133350">
                  <a:moveTo>
                    <a:pt x="102791" y="133350"/>
                  </a:moveTo>
                  <a:lnTo>
                    <a:pt x="22225" y="133350"/>
                  </a:lnTo>
                  <a:cubicBezTo>
                    <a:pt x="9950" y="133350"/>
                    <a:pt x="0" y="123400"/>
                    <a:pt x="0" y="111125"/>
                  </a:cubicBezTo>
                  <a:lnTo>
                    <a:pt x="0" y="22225"/>
                  </a:lnTo>
                  <a:cubicBezTo>
                    <a:pt x="0" y="9950"/>
                    <a:pt x="9950" y="0"/>
                    <a:pt x="22225" y="0"/>
                  </a:cubicBezTo>
                  <a:lnTo>
                    <a:pt x="177800" y="0"/>
                  </a:lnTo>
                  <a:cubicBezTo>
                    <a:pt x="190075" y="0"/>
                    <a:pt x="200025" y="9950"/>
                    <a:pt x="200025" y="22225"/>
                  </a:cubicBezTo>
                  <a:lnTo>
                    <a:pt x="200025" y="72231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28675" y="14287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111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695325" y="14287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111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06450" y="1506538"/>
              <a:ext cx="66675" cy="9525"/>
            </a:xfrm>
            <a:custGeom>
              <a:avLst/>
              <a:gdLst/>
              <a:ahLst/>
              <a:cxnLst/>
              <a:rect l="l" t="t" r="r" b="b"/>
              <a:pathLst>
                <a:path w="66675" h="9525">
                  <a:moveTo>
                    <a:pt x="0" y="0"/>
                  </a:moveTo>
                  <a:lnTo>
                    <a:pt x="66675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839788" y="1473200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007745" y="1317308"/>
            <a:ext cx="21211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维度一：现金保障性</a:t>
            </a:r>
          </a:p>
        </p:txBody>
      </p:sp>
      <p:sp>
        <p:nvSpPr>
          <p:cNvPr id="26" name="Freeform 26"/>
          <p:cNvSpPr/>
          <p:nvPr/>
        </p:nvSpPr>
        <p:spPr>
          <a:xfrm>
            <a:off x="590550" y="1885950"/>
            <a:ext cx="5105400" cy="838200"/>
          </a:xfrm>
          <a:custGeom>
            <a:avLst/>
            <a:gdLst/>
            <a:ahLst/>
            <a:cxnLst/>
            <a:rect l="l" t="t" r="r" b="b"/>
            <a:pathLst>
              <a:path w="5105400" h="838200">
                <a:moveTo>
                  <a:pt x="95250" y="0"/>
                </a:moveTo>
                <a:lnTo>
                  <a:pt x="5010150" y="0"/>
                </a:lnTo>
                <a:cubicBezTo>
                  <a:pt x="5062755" y="0"/>
                  <a:pt x="5105400" y="42645"/>
                  <a:pt x="5105400" y="95250"/>
                </a:cubicBezTo>
                <a:lnTo>
                  <a:pt x="5105400" y="742950"/>
                </a:lnTo>
                <a:cubicBezTo>
                  <a:pt x="5105400" y="795555"/>
                  <a:pt x="5062755" y="838200"/>
                  <a:pt x="5010150" y="838200"/>
                </a:cubicBezTo>
                <a:lnTo>
                  <a:pt x="95250" y="838200"/>
                </a:lnTo>
                <a:cubicBezTo>
                  <a:pt x="42645" y="838200"/>
                  <a:pt x="0" y="795555"/>
                  <a:pt x="0" y="7429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0FAFF"/>
          </a:solidFill>
          <a:ln w="9525">
            <a:solidFill>
              <a:srgbClr val="90E0E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747712" y="199310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7B6"/>
                </a:solidFill>
                <a:latin typeface="Arial"/>
                <a:ea typeface="Microsoft YaHei"/>
                <a:cs typeface="Arial"/>
              </a:rPr>
              <a:t>核心问题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8665" y="2248852"/>
            <a:ext cx="35271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经营活动现金流净额持续为负，净利润为正但现金流为负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8665" y="2477452"/>
            <a:ext cx="2119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6B6B"/>
                </a:solidFill>
                <a:latin typeface="Arial"/>
                <a:ea typeface="Microsoft YaHei"/>
                <a:cs typeface="Arial"/>
              </a:rPr>
              <a:t>→ 利润"含金量"低，盈利质量存疑</a:t>
            </a:r>
          </a:p>
        </p:txBody>
      </p:sp>
      <p:sp>
        <p:nvSpPr>
          <p:cNvPr id="30" name="Freeform 30"/>
          <p:cNvSpPr/>
          <p:nvPr/>
        </p:nvSpPr>
        <p:spPr>
          <a:xfrm>
            <a:off x="590550" y="2876550"/>
            <a:ext cx="2438400" cy="1333500"/>
          </a:xfrm>
          <a:custGeom>
            <a:avLst/>
            <a:gdLst/>
            <a:ahLst/>
            <a:cxnLst/>
            <a:rect l="l" t="t" r="r" b="b"/>
            <a:pathLst>
              <a:path w="2438400" h="1333500">
                <a:moveTo>
                  <a:pt x="95250" y="0"/>
                </a:moveTo>
                <a:lnTo>
                  <a:pt x="2343150" y="0"/>
                </a:lnTo>
                <a:cubicBezTo>
                  <a:pt x="2395755" y="0"/>
                  <a:pt x="2438400" y="42645"/>
                  <a:pt x="2438400" y="95250"/>
                </a:cubicBezTo>
                <a:lnTo>
                  <a:pt x="2438400" y="1238250"/>
                </a:lnTo>
                <a:cubicBezTo>
                  <a:pt x="2438400" y="1290855"/>
                  <a:pt x="2395755" y="1333500"/>
                  <a:pt x="2343150" y="1333500"/>
                </a:cubicBezTo>
                <a:lnTo>
                  <a:pt x="95250" y="1333500"/>
                </a:lnTo>
                <a:cubicBezTo>
                  <a:pt x="42645" y="1333500"/>
                  <a:pt x="0" y="1290855"/>
                  <a:pt x="0" y="1238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8F0"/>
            </a:solidFill>
          </a:ln>
          <a:effectLst>
            <a:outerShdw blurRad="114300" dist="19050" dir="5400000" algn="ctr" rotWithShape="0">
              <a:srgbClr val="0077B6">
                <a:alpha val="6000"/>
              </a:srgbClr>
            </a:outerShdw>
          </a:effectLst>
        </p:spPr>
      </p:sp>
      <p:sp>
        <p:nvSpPr>
          <p:cNvPr id="31" name="Freeform 31"/>
          <p:cNvSpPr/>
          <p:nvPr/>
        </p:nvSpPr>
        <p:spPr>
          <a:xfrm>
            <a:off x="590550" y="2876550"/>
            <a:ext cx="2438400" cy="342900"/>
          </a:xfrm>
          <a:custGeom>
            <a:avLst/>
            <a:gdLst/>
            <a:ahLst/>
            <a:cxnLst/>
            <a:rect l="l" t="t" r="r" b="b"/>
            <a:pathLst>
              <a:path w="2438400" h="342900">
                <a:moveTo>
                  <a:pt x="95250" y="0"/>
                </a:moveTo>
                <a:lnTo>
                  <a:pt x="2343150" y="0"/>
                </a:lnTo>
                <a:cubicBezTo>
                  <a:pt x="2395755" y="0"/>
                  <a:pt x="2438400" y="42645"/>
                  <a:pt x="2438400" y="95250"/>
                </a:cubicBezTo>
                <a:lnTo>
                  <a:pt x="2438400" y="247650"/>
                </a:lnTo>
                <a:cubicBezTo>
                  <a:pt x="2438400" y="300255"/>
                  <a:pt x="2395755" y="342900"/>
                  <a:pt x="2343150" y="342900"/>
                </a:cubicBezTo>
                <a:lnTo>
                  <a:pt x="95250" y="342900"/>
                </a:lnTo>
                <a:cubicBezTo>
                  <a:pt x="42645" y="342900"/>
                  <a:pt x="0" y="300255"/>
                  <a:pt x="0" y="2476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90E0EF">
              <a:alpha val="40000"/>
            </a:srgbClr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590550" y="3124200"/>
            <a:ext cx="2438400" cy="95250"/>
          </a:xfrm>
          <a:prstGeom prst="rect">
            <a:avLst/>
          </a:prstGeom>
          <a:solidFill>
            <a:srgbClr val="90E0EF">
              <a:alpha val="40000"/>
            </a:srgbClr>
          </a:solidFill>
          <a:ln>
            <a:noFill/>
          </a:ln>
        </p:spPr>
      </p:sp>
      <p:grpSp>
        <p:nvGrpSpPr>
          <p:cNvPr id="35" name="Group 35"/>
          <p:cNvGrpSpPr/>
          <p:nvPr/>
        </p:nvGrpSpPr>
        <p:grpSpPr>
          <a:xfrm>
            <a:off x="766762" y="3008312"/>
            <a:ext cx="142875" cy="79376"/>
            <a:chOff x="766762" y="3008312"/>
            <a:chExt cx="142875" cy="79376"/>
          </a:xfrm>
        </p:grpSpPr>
        <p:sp>
          <p:nvSpPr>
            <p:cNvPr id="33" name="Freeform 33"/>
            <p:cNvSpPr/>
            <p:nvPr/>
          </p:nvSpPr>
          <p:spPr>
            <a:xfrm>
              <a:off x="766762" y="3008312"/>
              <a:ext cx="142875" cy="79375"/>
            </a:xfrm>
            <a:custGeom>
              <a:avLst/>
              <a:gdLst/>
              <a:ahLst/>
              <a:cxnLst/>
              <a:rect l="l" t="t" r="r" b="b"/>
              <a:pathLst>
                <a:path w="142875" h="79375">
                  <a:moveTo>
                    <a:pt x="0" y="0"/>
                  </a:moveTo>
                  <a:lnTo>
                    <a:pt x="47625" y="47625"/>
                  </a:lnTo>
                  <a:lnTo>
                    <a:pt x="79375" y="15875"/>
                  </a:lnTo>
                  <a:lnTo>
                    <a:pt x="142875" y="79375"/>
                  </a:lnTo>
                </a:path>
              </a:pathLst>
            </a:custGeom>
            <a:noFill/>
            <a:ln w="19050">
              <a:solidFill>
                <a:srgbClr val="FF6B6B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54075" y="3032125"/>
              <a:ext cx="55562" cy="55563"/>
            </a:xfrm>
            <a:custGeom>
              <a:avLst/>
              <a:gdLst/>
              <a:ahLst/>
              <a:cxnLst/>
              <a:rect l="l" t="t" r="r" b="b"/>
              <a:pathLst>
                <a:path w="55562" h="55563">
                  <a:moveTo>
                    <a:pt x="55562" y="0"/>
                  </a:moveTo>
                  <a:lnTo>
                    <a:pt x="55562" y="55563"/>
                  </a:lnTo>
                  <a:lnTo>
                    <a:pt x="0" y="55563"/>
                  </a:lnTo>
                </a:path>
              </a:pathLst>
            </a:custGeom>
            <a:noFill/>
            <a:ln w="19050">
              <a:solidFill>
                <a:srgbClr val="FF6B6B"/>
              </a:solidFill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1014412" y="2983706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7B6"/>
                </a:solidFill>
                <a:latin typeface="Arial"/>
                <a:ea typeface="Microsoft YaHei"/>
                <a:cs typeface="Arial"/>
              </a:rPr>
              <a:t>收现比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0570" y="33508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指标含义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49618" y="3533299"/>
            <a:ext cx="25145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销售商品、提供劳务收到的现金 / 营业收入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48665" y="3791902"/>
            <a:ext cx="3574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6B6B"/>
                </a:solidFill>
                <a:latin typeface="Arial"/>
                <a:ea typeface="Microsoft YaHei"/>
                <a:cs typeface="Arial"/>
              </a:rPr>
              <a:t>&lt; 1.0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26820" y="3808095"/>
            <a:ext cx="14450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→ 收入未形成实际现金流入</a:t>
            </a:r>
          </a:p>
        </p:txBody>
      </p:sp>
      <p:sp>
        <p:nvSpPr>
          <p:cNvPr id="41" name="Freeform 41"/>
          <p:cNvSpPr/>
          <p:nvPr/>
        </p:nvSpPr>
        <p:spPr>
          <a:xfrm>
            <a:off x="3219450" y="2876550"/>
            <a:ext cx="2476500" cy="1333500"/>
          </a:xfrm>
          <a:custGeom>
            <a:avLst/>
            <a:gdLst/>
            <a:ahLst/>
            <a:cxnLst/>
            <a:rect l="l" t="t" r="r" b="b"/>
            <a:pathLst>
              <a:path w="2476500" h="1333500">
                <a:moveTo>
                  <a:pt x="95250" y="0"/>
                </a:moveTo>
                <a:lnTo>
                  <a:pt x="2381250" y="0"/>
                </a:lnTo>
                <a:cubicBezTo>
                  <a:pt x="2433855" y="0"/>
                  <a:pt x="2476500" y="42645"/>
                  <a:pt x="2476500" y="95250"/>
                </a:cubicBezTo>
                <a:lnTo>
                  <a:pt x="2476500" y="1238250"/>
                </a:lnTo>
                <a:cubicBezTo>
                  <a:pt x="2476500" y="1290855"/>
                  <a:pt x="2433855" y="1333500"/>
                  <a:pt x="2381250" y="1333500"/>
                </a:cubicBezTo>
                <a:lnTo>
                  <a:pt x="95250" y="1333500"/>
                </a:lnTo>
                <a:cubicBezTo>
                  <a:pt x="42645" y="1333500"/>
                  <a:pt x="0" y="1290855"/>
                  <a:pt x="0" y="1238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8F0"/>
            </a:solidFill>
          </a:ln>
          <a:effectLst>
            <a:outerShdw blurRad="114300" dist="19050" dir="5400000" algn="ctr" rotWithShape="0">
              <a:srgbClr val="0077B6">
                <a:alpha val="6000"/>
              </a:srgbClr>
            </a:outerShdw>
          </a:effectLst>
        </p:spPr>
      </p:sp>
      <p:sp>
        <p:nvSpPr>
          <p:cNvPr id="42" name="Freeform 42"/>
          <p:cNvSpPr/>
          <p:nvPr/>
        </p:nvSpPr>
        <p:spPr>
          <a:xfrm>
            <a:off x="3219450" y="2876550"/>
            <a:ext cx="2476500" cy="342900"/>
          </a:xfrm>
          <a:custGeom>
            <a:avLst/>
            <a:gdLst/>
            <a:ahLst/>
            <a:cxnLst/>
            <a:rect l="l" t="t" r="r" b="b"/>
            <a:pathLst>
              <a:path w="2476500" h="342900">
                <a:moveTo>
                  <a:pt x="95250" y="0"/>
                </a:moveTo>
                <a:lnTo>
                  <a:pt x="2381250" y="0"/>
                </a:lnTo>
                <a:cubicBezTo>
                  <a:pt x="2433855" y="0"/>
                  <a:pt x="2476500" y="42645"/>
                  <a:pt x="2476500" y="95250"/>
                </a:cubicBezTo>
                <a:lnTo>
                  <a:pt x="2476500" y="247650"/>
                </a:lnTo>
                <a:cubicBezTo>
                  <a:pt x="2476500" y="300255"/>
                  <a:pt x="2433855" y="342900"/>
                  <a:pt x="2381250" y="342900"/>
                </a:cubicBezTo>
                <a:lnTo>
                  <a:pt x="95250" y="342900"/>
                </a:lnTo>
                <a:cubicBezTo>
                  <a:pt x="42645" y="342900"/>
                  <a:pt x="0" y="300255"/>
                  <a:pt x="0" y="2476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90E0EF">
              <a:alpha val="40000"/>
            </a:srgbClr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3219450" y="3124200"/>
            <a:ext cx="2476500" cy="95250"/>
          </a:xfrm>
          <a:prstGeom prst="rect">
            <a:avLst/>
          </a:prstGeom>
          <a:solidFill>
            <a:srgbClr val="90E0EF">
              <a:alpha val="40000"/>
            </a:srgbClr>
          </a:solidFill>
          <a:ln>
            <a:noFill/>
          </a:ln>
        </p:spPr>
      </p:sp>
      <p:grpSp>
        <p:nvGrpSpPr>
          <p:cNvPr id="47" name="Group 47"/>
          <p:cNvGrpSpPr/>
          <p:nvPr/>
        </p:nvGrpSpPr>
        <p:grpSpPr>
          <a:xfrm>
            <a:off x="3387049" y="2973926"/>
            <a:ext cx="160095" cy="137543"/>
            <a:chOff x="3387049" y="2973926"/>
            <a:chExt cx="160095" cy="137543"/>
          </a:xfrm>
        </p:grpSpPr>
        <p:sp>
          <p:nvSpPr>
            <p:cNvPr id="44" name="Freeform 44"/>
            <p:cNvSpPr/>
            <p:nvPr/>
          </p:nvSpPr>
          <p:spPr>
            <a:xfrm>
              <a:off x="3467100" y="3024188"/>
              <a:ext cx="9525" cy="31750"/>
            </a:xfrm>
            <a:custGeom>
              <a:avLst/>
              <a:gdLst/>
              <a:ahLst/>
              <a:cxnLst/>
              <a:rect l="l" t="t" r="r" b="b"/>
              <a:pathLst>
                <a:path w="9525" h="31750">
                  <a:moveTo>
                    <a:pt x="0" y="0"/>
                  </a:moveTo>
                  <a:lnTo>
                    <a:pt x="0" y="31750"/>
                  </a:lnTo>
                </a:path>
              </a:pathLst>
            </a:custGeom>
            <a:noFill/>
            <a:ln w="19050">
              <a:solidFill>
                <a:srgbClr val="FF6B6B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3387049" y="2973926"/>
              <a:ext cx="160095" cy="137543"/>
            </a:xfrm>
            <a:custGeom>
              <a:avLst/>
              <a:gdLst/>
              <a:ahLst/>
              <a:cxnLst/>
              <a:rect l="l" t="t" r="r" b="b"/>
              <a:pathLst>
                <a:path w="160095" h="137543">
                  <a:moveTo>
                    <a:pt x="67057" y="7328"/>
                  </a:moveTo>
                  <a:lnTo>
                    <a:pt x="2716" y="114754"/>
                  </a:lnTo>
                  <a:cubicBezTo>
                    <a:pt x="16" y="119428"/>
                    <a:pt x="0" y="125184"/>
                    <a:pt x="2672" y="129873"/>
                  </a:cubicBezTo>
                  <a:cubicBezTo>
                    <a:pt x="5344" y="134563"/>
                    <a:pt x="10304" y="137482"/>
                    <a:pt x="15701" y="137543"/>
                  </a:cubicBezTo>
                  <a:lnTo>
                    <a:pt x="144400" y="137543"/>
                  </a:lnTo>
                  <a:cubicBezTo>
                    <a:pt x="149795" y="137481"/>
                    <a:pt x="154752" y="134562"/>
                    <a:pt x="157423" y="129875"/>
                  </a:cubicBezTo>
                  <a:cubicBezTo>
                    <a:pt x="160095" y="125188"/>
                    <a:pt x="160081" y="119436"/>
                    <a:pt x="157386" y="114762"/>
                  </a:cubicBezTo>
                  <a:lnTo>
                    <a:pt x="93044" y="7320"/>
                  </a:lnTo>
                  <a:cubicBezTo>
                    <a:pt x="90291" y="2776"/>
                    <a:pt x="85364" y="0"/>
                    <a:pt x="80051" y="0"/>
                  </a:cubicBezTo>
                  <a:cubicBezTo>
                    <a:pt x="74737" y="0"/>
                    <a:pt x="69810" y="2776"/>
                    <a:pt x="67057" y="7320"/>
                  </a:cubicBezTo>
                </a:path>
              </a:pathLst>
            </a:custGeom>
            <a:noFill/>
            <a:ln w="19050">
              <a:solidFill>
                <a:srgbClr val="FF6B6B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3467100" y="30797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79" y="0"/>
                  </a:lnTo>
                </a:path>
              </a:pathLst>
            </a:custGeom>
            <a:noFill/>
            <a:ln w="19050">
              <a:solidFill>
                <a:srgbClr val="FF6B6B"/>
              </a:solidFill>
            </a:ln>
          </p:spPr>
        </p:sp>
      </p:grpSp>
      <p:sp>
        <p:nvSpPr>
          <p:cNvPr id="48" name="TextBox 48"/>
          <p:cNvSpPr txBox="1"/>
          <p:nvPr/>
        </p:nvSpPr>
        <p:spPr>
          <a:xfrm>
            <a:off x="3643312" y="2983706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7B6"/>
                </a:solidFill>
                <a:latin typeface="Arial"/>
                <a:ea typeface="Microsoft YaHei"/>
                <a:cs typeface="Arial"/>
              </a:rPr>
              <a:t>净现比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379470" y="33508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指标含义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378518" y="3533299"/>
            <a:ext cx="17344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经营活动现金流净额 / 净利润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377565" y="379190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6B6B"/>
                </a:solidFill>
                <a:latin typeface="Arial"/>
                <a:ea typeface="Microsoft YaHei"/>
                <a:cs typeface="Arial"/>
              </a:rPr>
              <a:t>为负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989070" y="3808095"/>
            <a:ext cx="10849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→ 净利润无现金支撑</a:t>
            </a:r>
          </a:p>
        </p:txBody>
      </p:sp>
      <p:sp>
        <p:nvSpPr>
          <p:cNvPr id="53" name="Freeform 53"/>
          <p:cNvSpPr/>
          <p:nvPr/>
        </p:nvSpPr>
        <p:spPr>
          <a:xfrm>
            <a:off x="590550" y="4362450"/>
            <a:ext cx="5105400" cy="952500"/>
          </a:xfrm>
          <a:custGeom>
            <a:avLst/>
            <a:gdLst/>
            <a:ahLst/>
            <a:cxnLst/>
            <a:rect l="l" t="t" r="r" b="b"/>
            <a:pathLst>
              <a:path w="5105400" h="952500">
                <a:moveTo>
                  <a:pt x="95250" y="0"/>
                </a:moveTo>
                <a:lnTo>
                  <a:pt x="5010150" y="0"/>
                </a:lnTo>
                <a:cubicBezTo>
                  <a:pt x="5062755" y="0"/>
                  <a:pt x="5105400" y="42645"/>
                  <a:pt x="5105400" y="95250"/>
                </a:cubicBezTo>
                <a:lnTo>
                  <a:pt x="5105400" y="857250"/>
                </a:lnTo>
                <a:cubicBezTo>
                  <a:pt x="5105400" y="909855"/>
                  <a:pt x="5062755" y="952500"/>
                  <a:pt x="50101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8F0"/>
            </a:solidFill>
          </a:ln>
          <a:effectLst>
            <a:outerShdw blurRad="114300" dist="19050" dir="5400000" algn="ctr" rotWithShape="0">
              <a:srgbClr val="0077B6">
                <a:alpha val="6000"/>
              </a:srgbClr>
            </a:outerShdw>
          </a:effectLst>
        </p:spPr>
      </p:sp>
      <p:sp>
        <p:nvSpPr>
          <p:cNvPr id="54" name="TextBox 54"/>
          <p:cNvSpPr txBox="1"/>
          <p:nvPr/>
        </p:nvSpPr>
        <p:spPr>
          <a:xfrm>
            <a:off x="748665" y="4477702"/>
            <a:ext cx="20408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77B6"/>
                </a:solidFill>
                <a:latin typeface="Arial"/>
                <a:ea typeface="Microsoft YaHei"/>
                <a:cs typeface="Arial"/>
              </a:rPr>
              <a:t>净利润 vs 经营活动现金流净额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32522" y="4721066"/>
            <a:ext cx="2354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2021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275522" y="4721066"/>
            <a:ext cx="2629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2022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418522" y="4721066"/>
            <a:ext cx="2629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2023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561522" y="4721066"/>
            <a:ext cx="2629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2024</a:t>
            </a:r>
          </a:p>
        </p:txBody>
      </p:sp>
      <p:sp>
        <p:nvSpPr>
          <p:cNvPr id="59" name="Freeform 59"/>
          <p:cNvSpPr/>
          <p:nvPr/>
        </p:nvSpPr>
        <p:spPr>
          <a:xfrm>
            <a:off x="1000125" y="4876800"/>
            <a:ext cx="285750" cy="266700"/>
          </a:xfrm>
          <a:custGeom>
            <a:avLst/>
            <a:gdLst/>
            <a:ahLst/>
            <a:cxnLst/>
            <a:rect l="l" t="t" r="r" b="b"/>
            <a:pathLst>
              <a:path w="285750" h="266700">
                <a:moveTo>
                  <a:pt x="28575" y="0"/>
                </a:moveTo>
                <a:lnTo>
                  <a:pt x="257175" y="0"/>
                </a:lnTo>
                <a:cubicBezTo>
                  <a:pt x="272957" y="0"/>
                  <a:pt x="285750" y="12793"/>
                  <a:pt x="285750" y="28575"/>
                </a:cubicBezTo>
                <a:lnTo>
                  <a:pt x="285750" y="238125"/>
                </a:lnTo>
                <a:cubicBezTo>
                  <a:pt x="285750" y="253907"/>
                  <a:pt x="272957" y="266700"/>
                  <a:pt x="257175" y="266700"/>
                </a:cubicBezTo>
                <a:lnTo>
                  <a:pt x="28575" y="266700"/>
                </a:lnTo>
                <a:cubicBezTo>
                  <a:pt x="12793" y="266700"/>
                  <a:pt x="0" y="253907"/>
                  <a:pt x="0" y="2381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48CAE4">
              <a:alpha val="80000"/>
            </a:srgbClr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1083469" y="4757738"/>
            <a:ext cx="1190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0077B6"/>
                </a:solidFill>
                <a:latin typeface="Arial"/>
                <a:ea typeface="Microsoft YaHei"/>
                <a:cs typeface="Arial"/>
              </a:rPr>
              <a:t>正</a:t>
            </a:r>
          </a:p>
        </p:txBody>
      </p:sp>
      <p:sp>
        <p:nvSpPr>
          <p:cNvPr id="61" name="Freeform 61"/>
          <p:cNvSpPr/>
          <p:nvPr/>
        </p:nvSpPr>
        <p:spPr>
          <a:xfrm>
            <a:off x="2143125" y="4905375"/>
            <a:ext cx="285750" cy="238125"/>
          </a:xfrm>
          <a:custGeom>
            <a:avLst/>
            <a:gdLst/>
            <a:ahLst/>
            <a:cxnLst/>
            <a:rect l="l" t="t" r="r" b="b"/>
            <a:pathLst>
              <a:path w="285750" h="238125">
                <a:moveTo>
                  <a:pt x="28575" y="0"/>
                </a:moveTo>
                <a:lnTo>
                  <a:pt x="257175" y="0"/>
                </a:lnTo>
                <a:cubicBezTo>
                  <a:pt x="272957" y="0"/>
                  <a:pt x="285750" y="12793"/>
                  <a:pt x="285750" y="28575"/>
                </a:cubicBezTo>
                <a:lnTo>
                  <a:pt x="285750" y="209550"/>
                </a:lnTo>
                <a:cubicBezTo>
                  <a:pt x="285750" y="225332"/>
                  <a:pt x="272957" y="238125"/>
                  <a:pt x="257175" y="238125"/>
                </a:cubicBezTo>
                <a:lnTo>
                  <a:pt x="28575" y="238125"/>
                </a:lnTo>
                <a:cubicBezTo>
                  <a:pt x="12793" y="238125"/>
                  <a:pt x="0" y="225332"/>
                  <a:pt x="0" y="2095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48CAE4">
              <a:alpha val="80000"/>
            </a:srgbClr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2226469" y="4786312"/>
            <a:ext cx="1190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0077B6"/>
                </a:solidFill>
                <a:latin typeface="Arial"/>
                <a:ea typeface="Microsoft YaHei"/>
                <a:cs typeface="Arial"/>
              </a:rPr>
              <a:t>正</a:t>
            </a:r>
          </a:p>
        </p:txBody>
      </p:sp>
      <p:sp>
        <p:nvSpPr>
          <p:cNvPr id="63" name="Freeform 63"/>
          <p:cNvSpPr/>
          <p:nvPr/>
        </p:nvSpPr>
        <p:spPr>
          <a:xfrm>
            <a:off x="3286125" y="48577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575" y="0"/>
                </a:moveTo>
                <a:lnTo>
                  <a:pt x="257175" y="0"/>
                </a:lnTo>
                <a:cubicBezTo>
                  <a:pt x="272957" y="0"/>
                  <a:pt x="285750" y="12793"/>
                  <a:pt x="285750" y="28575"/>
                </a:cubicBezTo>
                <a:lnTo>
                  <a:pt x="285750" y="257175"/>
                </a:lnTo>
                <a:cubicBezTo>
                  <a:pt x="285750" y="272957"/>
                  <a:pt x="272957" y="285750"/>
                  <a:pt x="257175" y="285750"/>
                </a:cubicBezTo>
                <a:lnTo>
                  <a:pt x="28575" y="285750"/>
                </a:lnTo>
                <a:cubicBezTo>
                  <a:pt x="12793" y="285750"/>
                  <a:pt x="0" y="272957"/>
                  <a:pt x="0" y="2571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48CAE4">
              <a:alpha val="80000"/>
            </a:srgbClr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3369469" y="4738688"/>
            <a:ext cx="1190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0077B6"/>
                </a:solidFill>
                <a:latin typeface="Arial"/>
                <a:ea typeface="Microsoft YaHei"/>
                <a:cs typeface="Arial"/>
              </a:rPr>
              <a:t>正</a:t>
            </a:r>
          </a:p>
        </p:txBody>
      </p:sp>
      <p:sp>
        <p:nvSpPr>
          <p:cNvPr id="65" name="Freeform 65"/>
          <p:cNvSpPr/>
          <p:nvPr/>
        </p:nvSpPr>
        <p:spPr>
          <a:xfrm>
            <a:off x="4429125" y="4886325"/>
            <a:ext cx="285750" cy="257175"/>
          </a:xfrm>
          <a:custGeom>
            <a:avLst/>
            <a:gdLst/>
            <a:ahLst/>
            <a:cxnLst/>
            <a:rect l="l" t="t" r="r" b="b"/>
            <a:pathLst>
              <a:path w="285750" h="257175">
                <a:moveTo>
                  <a:pt x="28575" y="0"/>
                </a:moveTo>
                <a:lnTo>
                  <a:pt x="257175" y="0"/>
                </a:lnTo>
                <a:cubicBezTo>
                  <a:pt x="272957" y="0"/>
                  <a:pt x="285750" y="12793"/>
                  <a:pt x="285750" y="28575"/>
                </a:cubicBezTo>
                <a:lnTo>
                  <a:pt x="285750" y="228600"/>
                </a:lnTo>
                <a:cubicBezTo>
                  <a:pt x="285750" y="244382"/>
                  <a:pt x="272957" y="257175"/>
                  <a:pt x="257175" y="257175"/>
                </a:cubicBezTo>
                <a:lnTo>
                  <a:pt x="28575" y="257175"/>
                </a:lnTo>
                <a:cubicBezTo>
                  <a:pt x="12793" y="257175"/>
                  <a:pt x="0" y="244382"/>
                  <a:pt x="0" y="2286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48CAE4">
              <a:alpha val="80000"/>
            </a:srgbClr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4512469" y="4767262"/>
            <a:ext cx="1190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0077B6"/>
                </a:solidFill>
                <a:latin typeface="Arial"/>
                <a:ea typeface="Microsoft YaHei"/>
                <a:cs typeface="Arial"/>
              </a:rPr>
              <a:t>正</a:t>
            </a:r>
          </a:p>
        </p:txBody>
      </p:sp>
      <p:sp>
        <p:nvSpPr>
          <p:cNvPr id="67" name="Freeform 67"/>
          <p:cNvSpPr/>
          <p:nvPr/>
        </p:nvSpPr>
        <p:spPr>
          <a:xfrm>
            <a:off x="1333500" y="5000625"/>
            <a:ext cx="285750" cy="142875"/>
          </a:xfrm>
          <a:custGeom>
            <a:avLst/>
            <a:gdLst/>
            <a:ahLst/>
            <a:cxnLst/>
            <a:rect l="l" t="t" r="r" b="b"/>
            <a:pathLst>
              <a:path w="285750" h="142875">
                <a:moveTo>
                  <a:pt x="28575" y="0"/>
                </a:moveTo>
                <a:lnTo>
                  <a:pt x="257175" y="0"/>
                </a:lnTo>
                <a:cubicBezTo>
                  <a:pt x="272957" y="0"/>
                  <a:pt x="285750" y="12793"/>
                  <a:pt x="285750" y="28575"/>
                </a:cubicBezTo>
                <a:lnTo>
                  <a:pt x="285750" y="114300"/>
                </a:lnTo>
                <a:cubicBezTo>
                  <a:pt x="285750" y="130082"/>
                  <a:pt x="272957" y="142875"/>
                  <a:pt x="257175" y="142875"/>
                </a:cubicBezTo>
                <a:lnTo>
                  <a:pt x="28575" y="142875"/>
                </a:lnTo>
                <a:cubicBezTo>
                  <a:pt x="12793" y="142875"/>
                  <a:pt x="0" y="130082"/>
                  <a:pt x="0" y="1143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6B6B">
              <a:alpha val="80000"/>
            </a:srgbClr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1416844" y="4757738"/>
            <a:ext cx="1190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6B6B"/>
                </a:solidFill>
                <a:latin typeface="Arial"/>
                <a:ea typeface="Microsoft YaHei"/>
                <a:cs typeface="Arial"/>
              </a:rPr>
              <a:t>负</a:t>
            </a:r>
          </a:p>
        </p:txBody>
      </p:sp>
      <p:sp>
        <p:nvSpPr>
          <p:cNvPr id="69" name="Freeform 69"/>
          <p:cNvSpPr/>
          <p:nvPr/>
        </p:nvSpPr>
        <p:spPr>
          <a:xfrm>
            <a:off x="2476500" y="5029200"/>
            <a:ext cx="285750" cy="114300"/>
          </a:xfrm>
          <a:custGeom>
            <a:avLst/>
            <a:gdLst/>
            <a:ahLst/>
            <a:cxnLst/>
            <a:rect l="l" t="t" r="r" b="b"/>
            <a:pathLst>
              <a:path w="285750" h="114300">
                <a:moveTo>
                  <a:pt x="28575" y="0"/>
                </a:moveTo>
                <a:lnTo>
                  <a:pt x="257175" y="0"/>
                </a:lnTo>
                <a:cubicBezTo>
                  <a:pt x="272957" y="0"/>
                  <a:pt x="285750" y="12793"/>
                  <a:pt x="285750" y="28575"/>
                </a:cubicBezTo>
                <a:lnTo>
                  <a:pt x="285750" y="85725"/>
                </a:lnTo>
                <a:cubicBezTo>
                  <a:pt x="285750" y="101507"/>
                  <a:pt x="272957" y="114300"/>
                  <a:pt x="257175" y="114300"/>
                </a:cubicBezTo>
                <a:lnTo>
                  <a:pt x="28575" y="114300"/>
                </a:lnTo>
                <a:cubicBezTo>
                  <a:pt x="12793" y="114300"/>
                  <a:pt x="0" y="101507"/>
                  <a:pt x="0" y="857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6B6B">
              <a:alpha val="80000"/>
            </a:srgbClr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2559844" y="4786312"/>
            <a:ext cx="1190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6B6B"/>
                </a:solidFill>
                <a:latin typeface="Arial"/>
                <a:ea typeface="Microsoft YaHei"/>
                <a:cs typeface="Arial"/>
              </a:rPr>
              <a:t>负</a:t>
            </a:r>
          </a:p>
        </p:txBody>
      </p:sp>
      <p:sp>
        <p:nvSpPr>
          <p:cNvPr id="71" name="Freeform 71"/>
          <p:cNvSpPr/>
          <p:nvPr/>
        </p:nvSpPr>
        <p:spPr>
          <a:xfrm>
            <a:off x="3619500" y="4972050"/>
            <a:ext cx="285750" cy="171450"/>
          </a:xfrm>
          <a:custGeom>
            <a:avLst/>
            <a:gdLst/>
            <a:ahLst/>
            <a:cxnLst/>
            <a:rect l="l" t="t" r="r" b="b"/>
            <a:pathLst>
              <a:path w="285750" h="171450">
                <a:moveTo>
                  <a:pt x="28575" y="0"/>
                </a:moveTo>
                <a:lnTo>
                  <a:pt x="257175" y="0"/>
                </a:lnTo>
                <a:cubicBezTo>
                  <a:pt x="272957" y="0"/>
                  <a:pt x="285750" y="12793"/>
                  <a:pt x="285750" y="28575"/>
                </a:cubicBezTo>
                <a:lnTo>
                  <a:pt x="285750" y="142875"/>
                </a:lnTo>
                <a:cubicBezTo>
                  <a:pt x="285750" y="158657"/>
                  <a:pt x="272957" y="171450"/>
                  <a:pt x="257175" y="171450"/>
                </a:cubicBezTo>
                <a:lnTo>
                  <a:pt x="28575" y="171450"/>
                </a:lnTo>
                <a:cubicBezTo>
                  <a:pt x="12793" y="171450"/>
                  <a:pt x="0" y="158657"/>
                  <a:pt x="0" y="1428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6B6B">
              <a:alpha val="80000"/>
            </a:srgbClr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3702844" y="4738688"/>
            <a:ext cx="1190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6B6B"/>
                </a:solidFill>
                <a:latin typeface="Arial"/>
                <a:ea typeface="Microsoft YaHei"/>
                <a:cs typeface="Arial"/>
              </a:rPr>
              <a:t>负</a:t>
            </a:r>
          </a:p>
        </p:txBody>
      </p:sp>
      <p:sp>
        <p:nvSpPr>
          <p:cNvPr id="73" name="Freeform 73"/>
          <p:cNvSpPr/>
          <p:nvPr/>
        </p:nvSpPr>
        <p:spPr>
          <a:xfrm>
            <a:off x="4762500" y="5010150"/>
            <a:ext cx="285750" cy="133350"/>
          </a:xfrm>
          <a:custGeom>
            <a:avLst/>
            <a:gdLst/>
            <a:ahLst/>
            <a:cxnLst/>
            <a:rect l="l" t="t" r="r" b="b"/>
            <a:pathLst>
              <a:path w="285750" h="133350">
                <a:moveTo>
                  <a:pt x="28575" y="0"/>
                </a:moveTo>
                <a:lnTo>
                  <a:pt x="257175" y="0"/>
                </a:lnTo>
                <a:cubicBezTo>
                  <a:pt x="272957" y="0"/>
                  <a:pt x="285750" y="12793"/>
                  <a:pt x="285750" y="28575"/>
                </a:cubicBezTo>
                <a:lnTo>
                  <a:pt x="285750" y="104775"/>
                </a:lnTo>
                <a:cubicBezTo>
                  <a:pt x="285750" y="120557"/>
                  <a:pt x="272957" y="133350"/>
                  <a:pt x="257175" y="133350"/>
                </a:cubicBezTo>
                <a:lnTo>
                  <a:pt x="28575" y="133350"/>
                </a:lnTo>
                <a:cubicBezTo>
                  <a:pt x="12793" y="133350"/>
                  <a:pt x="0" y="120557"/>
                  <a:pt x="0" y="1047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6B6B">
              <a:alpha val="80000"/>
            </a:srgbClr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4845844" y="4767262"/>
            <a:ext cx="1190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6B6B"/>
                </a:solidFill>
                <a:latin typeface="Arial"/>
                <a:ea typeface="Microsoft YaHei"/>
                <a:cs typeface="Arial"/>
              </a:rPr>
              <a:t>负</a:t>
            </a:r>
          </a:p>
        </p:txBody>
      </p:sp>
      <p:sp>
        <p:nvSpPr>
          <p:cNvPr id="75" name="Freeform 75"/>
          <p:cNvSpPr/>
          <p:nvPr/>
        </p:nvSpPr>
        <p:spPr>
          <a:xfrm>
            <a:off x="762000" y="5143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19050" y="0"/>
                </a:moveTo>
                <a:lnTo>
                  <a:pt x="76200" y="0"/>
                </a:lnTo>
                <a:cubicBezTo>
                  <a:pt x="86721" y="0"/>
                  <a:pt x="95250" y="8529"/>
                  <a:pt x="95250" y="19050"/>
                </a:cubicBezTo>
                <a:lnTo>
                  <a:pt x="95250" y="76200"/>
                </a:lnTo>
                <a:cubicBezTo>
                  <a:pt x="95250" y="86721"/>
                  <a:pt x="86721" y="95250"/>
                  <a:pt x="76200" y="95250"/>
                </a:cubicBezTo>
                <a:lnTo>
                  <a:pt x="19050" y="95250"/>
                </a:lnTo>
                <a:cubicBezTo>
                  <a:pt x="8529" y="95250"/>
                  <a:pt x="0" y="86721"/>
                  <a:pt x="0" y="762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8CAE4">
              <a:alpha val="80000"/>
            </a:srgbClr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885825" y="5148262"/>
            <a:ext cx="319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净利润</a:t>
            </a:r>
          </a:p>
        </p:txBody>
      </p:sp>
      <p:sp>
        <p:nvSpPr>
          <p:cNvPr id="77" name="Freeform 77"/>
          <p:cNvSpPr/>
          <p:nvPr/>
        </p:nvSpPr>
        <p:spPr>
          <a:xfrm>
            <a:off x="1381125" y="5143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19050" y="0"/>
                </a:moveTo>
                <a:lnTo>
                  <a:pt x="76200" y="0"/>
                </a:lnTo>
                <a:cubicBezTo>
                  <a:pt x="86721" y="0"/>
                  <a:pt x="95250" y="8529"/>
                  <a:pt x="95250" y="19050"/>
                </a:cubicBezTo>
                <a:lnTo>
                  <a:pt x="95250" y="76200"/>
                </a:lnTo>
                <a:cubicBezTo>
                  <a:pt x="95250" y="86721"/>
                  <a:pt x="86721" y="95250"/>
                  <a:pt x="76200" y="95250"/>
                </a:cubicBezTo>
                <a:lnTo>
                  <a:pt x="19050" y="95250"/>
                </a:lnTo>
                <a:cubicBezTo>
                  <a:pt x="8529" y="95250"/>
                  <a:pt x="0" y="86721"/>
                  <a:pt x="0" y="762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6B6B">
              <a:alpha val="80000"/>
            </a:srgbClr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1504950" y="5148262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经营现金流</a:t>
            </a:r>
          </a:p>
        </p:txBody>
      </p:sp>
      <p:sp>
        <p:nvSpPr>
          <p:cNvPr id="79" name="Freeform 79"/>
          <p:cNvSpPr/>
          <p:nvPr/>
        </p:nvSpPr>
        <p:spPr>
          <a:xfrm>
            <a:off x="590550" y="5467350"/>
            <a:ext cx="5105400" cy="952500"/>
          </a:xfrm>
          <a:custGeom>
            <a:avLst/>
            <a:gdLst/>
            <a:ahLst/>
            <a:cxnLst/>
            <a:rect l="l" t="t" r="r" b="b"/>
            <a:pathLst>
              <a:path w="5105400" h="952500">
                <a:moveTo>
                  <a:pt x="95250" y="0"/>
                </a:moveTo>
                <a:lnTo>
                  <a:pt x="5010150" y="0"/>
                </a:lnTo>
                <a:cubicBezTo>
                  <a:pt x="5062755" y="0"/>
                  <a:pt x="5105400" y="42645"/>
                  <a:pt x="5105400" y="95250"/>
                </a:cubicBezTo>
                <a:lnTo>
                  <a:pt x="5105400" y="857250"/>
                </a:lnTo>
                <a:cubicBezTo>
                  <a:pt x="5105400" y="909855"/>
                  <a:pt x="5062755" y="952500"/>
                  <a:pt x="5010150" y="952500"/>
                </a:cubicBezTo>
                <a:lnTo>
                  <a:pt x="95250" y="952500"/>
                </a:lnTo>
                <a:cubicBezTo>
                  <a:pt x="42645" y="952500"/>
                  <a:pt x="0" y="909855"/>
                  <a:pt x="0" y="857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5F5"/>
          </a:solidFill>
          <a:ln w="9525">
            <a:solidFill>
              <a:srgbClr val="FFB0B0"/>
            </a:solidFill>
          </a:ln>
        </p:spPr>
      </p:sp>
      <p:sp>
        <p:nvSpPr>
          <p:cNvPr id="80" name="Freeform 80"/>
          <p:cNvSpPr/>
          <p:nvPr/>
        </p:nvSpPr>
        <p:spPr>
          <a:xfrm>
            <a:off x="768813" y="5613956"/>
            <a:ext cx="176782" cy="153400"/>
          </a:xfrm>
          <a:custGeom>
            <a:avLst/>
            <a:gdLst/>
            <a:ahLst/>
            <a:cxnLst/>
            <a:rect l="l" t="t" r="r" b="b"/>
            <a:pathLst>
              <a:path w="176782" h="153400">
                <a:moveTo>
                  <a:pt x="88437" y="0"/>
                </a:moveTo>
                <a:cubicBezTo>
                  <a:pt x="96018" y="0"/>
                  <a:pt x="103082" y="3707"/>
                  <a:pt x="107408" y="9898"/>
                </a:cubicBezTo>
                <a:lnTo>
                  <a:pt x="108241" y="11168"/>
                </a:lnTo>
                <a:lnTo>
                  <a:pt x="172646" y="118705"/>
                </a:lnTo>
                <a:cubicBezTo>
                  <a:pt x="176625" y="125596"/>
                  <a:pt x="176782" y="134048"/>
                  <a:pt x="173063" y="141083"/>
                </a:cubicBezTo>
                <a:cubicBezTo>
                  <a:pt x="169343" y="148117"/>
                  <a:pt x="162269" y="152745"/>
                  <a:pt x="154334" y="153337"/>
                </a:cubicBezTo>
                <a:lnTo>
                  <a:pt x="152787" y="153400"/>
                </a:lnTo>
                <a:lnTo>
                  <a:pt x="24001" y="153400"/>
                </a:lnTo>
                <a:cubicBezTo>
                  <a:pt x="16058" y="153311"/>
                  <a:pt x="8717" y="149152"/>
                  <a:pt x="4557" y="142385"/>
                </a:cubicBezTo>
                <a:cubicBezTo>
                  <a:pt x="397" y="135618"/>
                  <a:pt x="0" y="127190"/>
                  <a:pt x="3506" y="120063"/>
                </a:cubicBezTo>
                <a:lnTo>
                  <a:pt x="4292" y="118594"/>
                </a:lnTo>
                <a:lnTo>
                  <a:pt x="68665" y="11136"/>
                </a:lnTo>
                <a:cubicBezTo>
                  <a:pt x="72857" y="4224"/>
                  <a:pt x="80353" y="2"/>
                  <a:pt x="88437" y="0"/>
                </a:cubicBezTo>
                <a:close/>
                <a:moveTo>
                  <a:pt x="88517" y="105807"/>
                </a:moveTo>
                <a:lnTo>
                  <a:pt x="87509" y="105862"/>
                </a:lnTo>
                <a:cubicBezTo>
                  <a:pt x="83516" y="106337"/>
                  <a:pt x="80509" y="109723"/>
                  <a:pt x="80509" y="113744"/>
                </a:cubicBezTo>
                <a:cubicBezTo>
                  <a:pt x="80509" y="117765"/>
                  <a:pt x="83516" y="121151"/>
                  <a:pt x="87509" y="121626"/>
                </a:cubicBezTo>
                <a:lnTo>
                  <a:pt x="88437" y="121682"/>
                </a:lnTo>
                <a:lnTo>
                  <a:pt x="89445" y="121626"/>
                </a:lnTo>
                <a:cubicBezTo>
                  <a:pt x="93438" y="121151"/>
                  <a:pt x="96445" y="117765"/>
                  <a:pt x="96445" y="113744"/>
                </a:cubicBezTo>
                <a:cubicBezTo>
                  <a:pt x="96445" y="109723"/>
                  <a:pt x="93438" y="106337"/>
                  <a:pt x="89445" y="105862"/>
                </a:cubicBezTo>
                <a:lnTo>
                  <a:pt x="88517" y="105807"/>
                </a:lnTo>
                <a:close/>
                <a:moveTo>
                  <a:pt x="88437" y="50244"/>
                </a:moveTo>
                <a:cubicBezTo>
                  <a:pt x="84413" y="50245"/>
                  <a:pt x="81026" y="53257"/>
                  <a:pt x="80555" y="57253"/>
                </a:cubicBezTo>
                <a:lnTo>
                  <a:pt x="80500" y="58182"/>
                </a:lnTo>
                <a:lnTo>
                  <a:pt x="80500" y="89932"/>
                </a:lnTo>
                <a:lnTo>
                  <a:pt x="80555" y="90861"/>
                </a:lnTo>
                <a:cubicBezTo>
                  <a:pt x="81030" y="94854"/>
                  <a:pt x="84416" y="97861"/>
                  <a:pt x="88437" y="97861"/>
                </a:cubicBezTo>
                <a:cubicBezTo>
                  <a:pt x="92458" y="97861"/>
                  <a:pt x="95844" y="94854"/>
                  <a:pt x="96319" y="90861"/>
                </a:cubicBezTo>
                <a:lnTo>
                  <a:pt x="96375" y="89932"/>
                </a:lnTo>
                <a:lnTo>
                  <a:pt x="96375" y="58182"/>
                </a:lnTo>
                <a:lnTo>
                  <a:pt x="96319" y="57253"/>
                </a:lnTo>
                <a:cubicBezTo>
                  <a:pt x="95848" y="53257"/>
                  <a:pt x="92461" y="50245"/>
                  <a:pt x="88437" y="50244"/>
                </a:cubicBezTo>
                <a:close/>
              </a:path>
            </a:pathLst>
          </a:custGeom>
          <a:solidFill>
            <a:srgbClr val="FF6B6B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1033462" y="56316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63031"/>
                </a:solidFill>
                <a:latin typeface="Arial"/>
                <a:ea typeface="Microsoft YaHei"/>
                <a:cs typeface="Arial"/>
              </a:rPr>
              <a:t>分析结论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49618" y="5895499"/>
            <a:ext cx="32556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• 公司净利润连续多年为正，但经营活动现金流持续为负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49618" y="6105049"/>
            <a:ext cx="31841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• 收现比 &lt; 1、净现比为负，盈利的现金保障性严重不足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48665" y="6306502"/>
            <a:ext cx="18276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63031"/>
                </a:solidFill>
                <a:latin typeface="Arial"/>
                <a:ea typeface="Microsoft YaHei"/>
                <a:cs typeface="Arial"/>
              </a:rPr>
              <a:t>→ 盈利的现金保障性不足 ⚠️</a:t>
            </a:r>
          </a:p>
        </p:txBody>
      </p:sp>
      <p:sp>
        <p:nvSpPr>
          <p:cNvPr id="85" name="Freeform 85"/>
          <p:cNvSpPr/>
          <p:nvPr/>
        </p:nvSpPr>
        <p:spPr>
          <a:xfrm>
            <a:off x="6286500" y="1143000"/>
            <a:ext cx="5524500" cy="5429250"/>
          </a:xfrm>
          <a:custGeom>
            <a:avLst/>
            <a:gdLst/>
            <a:ahLst/>
            <a:cxnLst/>
            <a:rect l="l" t="t" r="r" b="b"/>
            <a:pathLst>
              <a:path w="5524500" h="5429250">
                <a:moveTo>
                  <a:pt x="133350" y="0"/>
                </a:moveTo>
                <a:lnTo>
                  <a:pt x="5391150" y="0"/>
                </a:lnTo>
                <a:cubicBezTo>
                  <a:pt x="5464797" y="0"/>
                  <a:pt x="5524500" y="59703"/>
                  <a:pt x="5524500" y="133350"/>
                </a:cubicBezTo>
                <a:lnTo>
                  <a:pt x="5524500" y="5295900"/>
                </a:lnTo>
                <a:cubicBezTo>
                  <a:pt x="5524500" y="5369547"/>
                  <a:pt x="5464797" y="5429250"/>
                  <a:pt x="5391150" y="5429250"/>
                </a:cubicBezTo>
                <a:lnTo>
                  <a:pt x="133350" y="5429250"/>
                </a:lnTo>
                <a:cubicBezTo>
                  <a:pt x="59703" y="5429250"/>
                  <a:pt x="0" y="5369547"/>
                  <a:pt x="0" y="5295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52400" dist="28575" dir="5400000" algn="ctr" rotWithShape="0">
              <a:srgbClr val="0077B6">
                <a:alpha val="9000"/>
              </a:srgbClr>
            </a:outerShdw>
          </a:effectLst>
        </p:spPr>
      </p:sp>
      <p:sp>
        <p:nvSpPr>
          <p:cNvPr id="86" name="Freeform 86"/>
          <p:cNvSpPr/>
          <p:nvPr/>
        </p:nvSpPr>
        <p:spPr>
          <a:xfrm>
            <a:off x="6286500" y="1143000"/>
            <a:ext cx="5524500" cy="571500"/>
          </a:xfrm>
          <a:custGeom>
            <a:avLst/>
            <a:gdLst/>
            <a:ahLst/>
            <a:cxnLst/>
            <a:rect l="l" t="t" r="r" b="b"/>
            <a:pathLst>
              <a:path w="5524500" h="571500">
                <a:moveTo>
                  <a:pt x="133350" y="0"/>
                </a:moveTo>
                <a:lnTo>
                  <a:pt x="5391150" y="0"/>
                </a:lnTo>
                <a:cubicBezTo>
                  <a:pt x="5464797" y="0"/>
                  <a:pt x="5524500" y="59703"/>
                  <a:pt x="5524500" y="133350"/>
                </a:cubicBezTo>
                <a:lnTo>
                  <a:pt x="5524500" y="438150"/>
                </a:lnTo>
                <a:cubicBezTo>
                  <a:pt x="5524500" y="511797"/>
                  <a:pt x="5464797" y="571500"/>
                  <a:pt x="5391150" y="571500"/>
                </a:cubicBezTo>
                <a:lnTo>
                  <a:pt x="133350" y="571500"/>
                </a:lnTo>
                <a:cubicBezTo>
                  <a:pt x="59703" y="571500"/>
                  <a:pt x="0" y="511797"/>
                  <a:pt x="0" y="438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gradFill>
            <a:gsLst>
              <a:gs pos="0">
                <a:srgbClr val="00B4D8"/>
              </a:gs>
              <a:gs pos="100000">
                <a:srgbClr val="48CAE4"/>
              </a:gs>
            </a:gsLst>
            <a:lin ang="5400000" scaled="1"/>
          </a:gradFill>
          <a:ln>
            <a:noFill/>
          </a:ln>
        </p:spPr>
      </p:sp>
      <p:sp>
        <p:nvSpPr>
          <p:cNvPr id="87" name="Rectangle 87"/>
          <p:cNvSpPr/>
          <p:nvPr/>
        </p:nvSpPr>
        <p:spPr>
          <a:xfrm>
            <a:off x="6286500" y="1581150"/>
            <a:ext cx="5524500" cy="1333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48CAE4"/>
              </a:gs>
            </a:gsLst>
            <a:lin ang="5400000" scaled="1"/>
          </a:gradFill>
          <a:ln>
            <a:noFill/>
          </a:ln>
        </p:spPr>
      </p:sp>
      <p:grpSp>
        <p:nvGrpSpPr>
          <p:cNvPr id="92" name="Group 92"/>
          <p:cNvGrpSpPr/>
          <p:nvPr/>
        </p:nvGrpSpPr>
        <p:grpSpPr>
          <a:xfrm>
            <a:off x="6578600" y="1335562"/>
            <a:ext cx="177800" cy="186375"/>
            <a:chOff x="6578600" y="1335562"/>
            <a:chExt cx="177800" cy="186375"/>
          </a:xfrm>
        </p:grpSpPr>
        <p:sp>
          <p:nvSpPr>
            <p:cNvPr id="88" name="Freeform 88"/>
            <p:cNvSpPr/>
            <p:nvPr/>
          </p:nvSpPr>
          <p:spPr>
            <a:xfrm>
              <a:off x="6578600" y="1335562"/>
              <a:ext cx="177800" cy="82075"/>
            </a:xfrm>
            <a:custGeom>
              <a:avLst/>
              <a:gdLst/>
              <a:ahLst/>
              <a:cxnLst/>
              <a:rect l="l" t="t" r="r" b="b"/>
              <a:pathLst>
                <a:path w="177800" h="82075">
                  <a:moveTo>
                    <a:pt x="177800" y="82075"/>
                  </a:moveTo>
                  <a:cubicBezTo>
                    <a:pt x="172213" y="41876"/>
                    <a:pt x="140416" y="10388"/>
                    <a:pt x="100164" y="5194"/>
                  </a:cubicBezTo>
                  <a:cubicBezTo>
                    <a:pt x="59913" y="0"/>
                    <a:pt x="21164" y="22386"/>
                    <a:pt x="5556" y="59850"/>
                  </a:cubicBezTo>
                  <a:moveTo>
                    <a:pt x="0" y="15400"/>
                  </a:moveTo>
                  <a:lnTo>
                    <a:pt x="0" y="59850"/>
                  </a:lnTo>
                  <a:lnTo>
                    <a:pt x="44450" y="5985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89" name="Freeform 89"/>
            <p:cNvSpPr/>
            <p:nvPr/>
          </p:nvSpPr>
          <p:spPr>
            <a:xfrm>
              <a:off x="6578600" y="1439862"/>
              <a:ext cx="177800" cy="82075"/>
            </a:xfrm>
            <a:custGeom>
              <a:avLst/>
              <a:gdLst/>
              <a:ahLst/>
              <a:cxnLst/>
              <a:rect l="l" t="t" r="r" b="b"/>
              <a:pathLst>
                <a:path w="177800" h="82075">
                  <a:moveTo>
                    <a:pt x="0" y="0"/>
                  </a:moveTo>
                  <a:cubicBezTo>
                    <a:pt x="5587" y="40199"/>
                    <a:pt x="37384" y="71687"/>
                    <a:pt x="77636" y="76881"/>
                  </a:cubicBezTo>
                  <a:cubicBezTo>
                    <a:pt x="117887" y="82075"/>
                    <a:pt x="156636" y="59689"/>
                    <a:pt x="172244" y="22225"/>
                  </a:cubicBezTo>
                  <a:moveTo>
                    <a:pt x="177800" y="66675"/>
                  </a:moveTo>
                  <a:lnTo>
                    <a:pt x="177800" y="22225"/>
                  </a:lnTo>
                  <a:lnTo>
                    <a:pt x="133350" y="22225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6667500" y="1395412"/>
              <a:ext cx="9525" cy="33338"/>
            </a:xfrm>
            <a:custGeom>
              <a:avLst/>
              <a:gdLst/>
              <a:ahLst/>
              <a:cxnLst/>
              <a:rect l="l" t="t" r="r" b="b"/>
              <a:pathLst>
                <a:path w="9525" h="33338">
                  <a:moveTo>
                    <a:pt x="0" y="0"/>
                  </a:moveTo>
                  <a:lnTo>
                    <a:pt x="0" y="33338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6667500" y="1462088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111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</p:grpSp>
      <p:sp>
        <p:nvSpPr>
          <p:cNvPr id="93" name="TextBox 93"/>
          <p:cNvSpPr txBox="1"/>
          <p:nvPr/>
        </p:nvSpPr>
        <p:spPr>
          <a:xfrm>
            <a:off x="6913245" y="1317308"/>
            <a:ext cx="16591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维度二：持续性</a:t>
            </a:r>
          </a:p>
        </p:txBody>
      </p:sp>
      <p:sp>
        <p:nvSpPr>
          <p:cNvPr id="94" name="Freeform 94"/>
          <p:cNvSpPr/>
          <p:nvPr/>
        </p:nvSpPr>
        <p:spPr>
          <a:xfrm>
            <a:off x="6496050" y="1885950"/>
            <a:ext cx="5105400" cy="838200"/>
          </a:xfrm>
          <a:custGeom>
            <a:avLst/>
            <a:gdLst/>
            <a:ahLst/>
            <a:cxnLst/>
            <a:rect l="l" t="t" r="r" b="b"/>
            <a:pathLst>
              <a:path w="5105400" h="838200">
                <a:moveTo>
                  <a:pt x="95250" y="0"/>
                </a:moveTo>
                <a:lnTo>
                  <a:pt x="5010150" y="0"/>
                </a:lnTo>
                <a:cubicBezTo>
                  <a:pt x="5062755" y="0"/>
                  <a:pt x="5105400" y="42645"/>
                  <a:pt x="5105400" y="95250"/>
                </a:cubicBezTo>
                <a:lnTo>
                  <a:pt x="5105400" y="742950"/>
                </a:lnTo>
                <a:cubicBezTo>
                  <a:pt x="5105400" y="795555"/>
                  <a:pt x="5062755" y="838200"/>
                  <a:pt x="5010150" y="838200"/>
                </a:cubicBezTo>
                <a:lnTo>
                  <a:pt x="95250" y="838200"/>
                </a:lnTo>
                <a:cubicBezTo>
                  <a:pt x="42645" y="838200"/>
                  <a:pt x="0" y="795555"/>
                  <a:pt x="0" y="7429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0FAFF"/>
          </a:solidFill>
          <a:ln w="9525">
            <a:solidFill>
              <a:srgbClr val="90E0EF"/>
            </a:solidFill>
          </a:ln>
        </p:spPr>
      </p:sp>
      <p:sp>
        <p:nvSpPr>
          <p:cNvPr id="95" name="TextBox 95"/>
          <p:cNvSpPr txBox="1"/>
          <p:nvPr/>
        </p:nvSpPr>
        <p:spPr>
          <a:xfrm>
            <a:off x="6653212" y="199310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7B6"/>
                </a:solidFill>
                <a:latin typeface="Arial"/>
                <a:ea typeface="Microsoft YaHei"/>
                <a:cs typeface="Arial"/>
              </a:rPr>
              <a:t>核心观察维度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6654165" y="2248852"/>
            <a:ext cx="25469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评估公司盈利来源是否稳定、是否可持续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6655118" y="2485549"/>
            <a:ext cx="27551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关注核心业务收入增长趋势、营收质量与依赖度</a:t>
            </a:r>
          </a:p>
        </p:txBody>
      </p:sp>
      <p:sp>
        <p:nvSpPr>
          <p:cNvPr id="98" name="Freeform 98"/>
          <p:cNvSpPr/>
          <p:nvPr/>
        </p:nvSpPr>
        <p:spPr>
          <a:xfrm>
            <a:off x="6496050" y="28765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95250" y="0"/>
                </a:moveTo>
                <a:lnTo>
                  <a:pt x="1524000" y="0"/>
                </a:lnTo>
                <a:cubicBezTo>
                  <a:pt x="1576605" y="0"/>
                  <a:pt x="1619250" y="42645"/>
                  <a:pt x="1619250" y="95250"/>
                </a:cubicBezTo>
                <a:lnTo>
                  <a:pt x="1619250" y="1524000"/>
                </a:lnTo>
                <a:cubicBezTo>
                  <a:pt x="1619250" y="1576605"/>
                  <a:pt x="1576605" y="1619250"/>
                  <a:pt x="1524000" y="1619250"/>
                </a:cubicBezTo>
                <a:lnTo>
                  <a:pt x="95250" y="1619250"/>
                </a:lnTo>
                <a:cubicBezTo>
                  <a:pt x="42645" y="1619250"/>
                  <a:pt x="0" y="1576605"/>
                  <a:pt x="0" y="1524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8F0"/>
            </a:solidFill>
          </a:ln>
          <a:effectLst>
            <a:outerShdw blurRad="114300" dist="19050" dir="5400000" algn="ctr" rotWithShape="0">
              <a:srgbClr val="0077B6">
                <a:alpha val="6000"/>
              </a:srgbClr>
            </a:outerShdw>
          </a:effectLst>
        </p:spPr>
      </p:sp>
      <p:sp>
        <p:nvSpPr>
          <p:cNvPr id="99" name="Freeform 99"/>
          <p:cNvSpPr/>
          <p:nvPr/>
        </p:nvSpPr>
        <p:spPr>
          <a:xfrm>
            <a:off x="6496050" y="2876550"/>
            <a:ext cx="1619250" cy="400050"/>
          </a:xfrm>
          <a:custGeom>
            <a:avLst/>
            <a:gdLst/>
            <a:ahLst/>
            <a:cxnLst/>
            <a:rect l="l" t="t" r="r" b="b"/>
            <a:pathLst>
              <a:path w="1619250" h="400050">
                <a:moveTo>
                  <a:pt x="95250" y="0"/>
                </a:moveTo>
                <a:lnTo>
                  <a:pt x="1524000" y="0"/>
                </a:lnTo>
                <a:cubicBezTo>
                  <a:pt x="1576605" y="0"/>
                  <a:pt x="1619250" y="42645"/>
                  <a:pt x="1619250" y="95250"/>
                </a:cubicBezTo>
                <a:lnTo>
                  <a:pt x="1619250" y="304800"/>
                </a:lnTo>
                <a:cubicBezTo>
                  <a:pt x="1619250" y="357405"/>
                  <a:pt x="1576605" y="400050"/>
                  <a:pt x="1524000" y="400050"/>
                </a:cubicBezTo>
                <a:lnTo>
                  <a:pt x="95250" y="400050"/>
                </a:lnTo>
                <a:cubicBezTo>
                  <a:pt x="42645" y="400050"/>
                  <a:pt x="0" y="357405"/>
                  <a:pt x="0" y="3048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90E0EF">
              <a:alpha val="30000"/>
            </a:srgbClr>
          </a:solidFill>
          <a:ln>
            <a:noFill/>
          </a:ln>
        </p:spPr>
      </p:sp>
      <p:sp>
        <p:nvSpPr>
          <p:cNvPr id="100" name="Rectangle 100"/>
          <p:cNvSpPr/>
          <p:nvPr/>
        </p:nvSpPr>
        <p:spPr>
          <a:xfrm>
            <a:off x="6496050" y="3181350"/>
            <a:ext cx="1619250" cy="95250"/>
          </a:xfrm>
          <a:prstGeom prst="rect">
            <a:avLst/>
          </a:prstGeom>
          <a:solidFill>
            <a:srgbClr val="90E0EF">
              <a:alpha val="30000"/>
            </a:srgbClr>
          </a:solidFill>
          <a:ln>
            <a:noFill/>
          </a:ln>
        </p:spPr>
      </p:sp>
      <p:sp>
        <p:nvSpPr>
          <p:cNvPr id="101" name="Freeform 101"/>
          <p:cNvSpPr/>
          <p:nvPr/>
        </p:nvSpPr>
        <p:spPr>
          <a:xfrm>
            <a:off x="6861487" y="3007519"/>
            <a:ext cx="187013" cy="115575"/>
          </a:xfrm>
          <a:custGeom>
            <a:avLst/>
            <a:gdLst/>
            <a:ahLst/>
            <a:cxnLst/>
            <a:rect l="l" t="t" r="r" b="b"/>
            <a:pathLst>
              <a:path w="187013" h="115575">
                <a:moveTo>
                  <a:pt x="115575" y="0"/>
                </a:moveTo>
                <a:lnTo>
                  <a:pt x="103669" y="11906"/>
                </a:lnTo>
                <a:lnTo>
                  <a:pt x="130969" y="39206"/>
                </a:lnTo>
                <a:lnTo>
                  <a:pt x="97716" y="72459"/>
                </a:lnTo>
                <a:lnTo>
                  <a:pt x="61997" y="36740"/>
                </a:lnTo>
                <a:lnTo>
                  <a:pt x="0" y="98737"/>
                </a:lnTo>
                <a:lnTo>
                  <a:pt x="16838" y="115575"/>
                </a:lnTo>
                <a:lnTo>
                  <a:pt x="61997" y="70416"/>
                </a:lnTo>
                <a:lnTo>
                  <a:pt x="97716" y="106135"/>
                </a:lnTo>
                <a:lnTo>
                  <a:pt x="147806" y="56044"/>
                </a:lnTo>
                <a:lnTo>
                  <a:pt x="175106" y="83344"/>
                </a:lnTo>
                <a:lnTo>
                  <a:pt x="187013" y="71438"/>
                </a:lnTo>
                <a:lnTo>
                  <a:pt x="187013" y="0"/>
                </a:lnTo>
                <a:lnTo>
                  <a:pt x="115575" y="0"/>
                </a:ln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102" name="TextBox 102"/>
          <p:cNvSpPr txBox="1"/>
          <p:nvPr/>
        </p:nvSpPr>
        <p:spPr>
          <a:xfrm>
            <a:off x="7130415" y="3020378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77B6"/>
                </a:solidFill>
                <a:latin typeface="Arial"/>
                <a:ea typeface="Microsoft YaHei"/>
                <a:cs typeface="Arial"/>
              </a:rPr>
              <a:t>收入增长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657022" y="3397091"/>
            <a:ext cx="7910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营业收入增长率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6648450" y="3533775"/>
            <a:ext cx="67868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77B6"/>
                </a:solidFill>
                <a:latin typeface="Arial"/>
                <a:ea typeface="Microsoft YaHei"/>
                <a:cs typeface="Arial"/>
              </a:rPr>
              <a:t>-12.3%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7418070" y="35985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6B6B"/>
                </a:solidFill>
                <a:latin typeface="Arial"/>
                <a:ea typeface="Microsoft YaHei"/>
                <a:cs typeface="Arial"/>
              </a:rPr>
              <a:t>↓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6657022" y="3835241"/>
            <a:ext cx="7910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连续两年负增长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6656070" y="401764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6B6B"/>
                </a:solidFill>
                <a:latin typeface="Arial"/>
                <a:ea typeface="Microsoft YaHei"/>
                <a:cs typeface="Arial"/>
              </a:rPr>
              <a:t>趋势偏弱</a:t>
            </a:r>
          </a:p>
        </p:txBody>
      </p:sp>
      <p:sp>
        <p:nvSpPr>
          <p:cNvPr id="108" name="Freeform 108"/>
          <p:cNvSpPr/>
          <p:nvPr/>
        </p:nvSpPr>
        <p:spPr>
          <a:xfrm>
            <a:off x="6667500" y="4229100"/>
            <a:ext cx="285750" cy="38100"/>
          </a:xfrm>
          <a:custGeom>
            <a:avLst/>
            <a:gdLst/>
            <a:ahLst/>
            <a:cxnLst/>
            <a:rect l="l" t="t" r="r" b="b"/>
            <a:pathLst>
              <a:path w="285750" h="38100">
                <a:moveTo>
                  <a:pt x="19050" y="0"/>
                </a:moveTo>
                <a:lnTo>
                  <a:pt x="266700" y="0"/>
                </a:lnTo>
                <a:cubicBezTo>
                  <a:pt x="277221" y="0"/>
                  <a:pt x="285750" y="8529"/>
                  <a:pt x="285750" y="19050"/>
                </a:cubicBezTo>
                <a:lnTo>
                  <a:pt x="285750" y="19050"/>
                </a:lnTo>
                <a:cubicBezTo>
                  <a:pt x="285750" y="29571"/>
                  <a:pt x="277221" y="38100"/>
                  <a:pt x="26670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6B6B"/>
          </a:solidFill>
          <a:ln>
            <a:noFill/>
          </a:ln>
        </p:spPr>
      </p:sp>
      <p:sp>
        <p:nvSpPr>
          <p:cNvPr id="109" name="Freeform 109"/>
          <p:cNvSpPr/>
          <p:nvPr/>
        </p:nvSpPr>
        <p:spPr>
          <a:xfrm>
            <a:off x="6991350" y="4229100"/>
            <a:ext cx="285750" cy="38100"/>
          </a:xfrm>
          <a:custGeom>
            <a:avLst/>
            <a:gdLst/>
            <a:ahLst/>
            <a:cxnLst/>
            <a:rect l="l" t="t" r="r" b="b"/>
            <a:pathLst>
              <a:path w="285750" h="38100">
                <a:moveTo>
                  <a:pt x="19050" y="0"/>
                </a:moveTo>
                <a:lnTo>
                  <a:pt x="266700" y="0"/>
                </a:lnTo>
                <a:cubicBezTo>
                  <a:pt x="277221" y="0"/>
                  <a:pt x="285750" y="8529"/>
                  <a:pt x="285750" y="19050"/>
                </a:cubicBezTo>
                <a:lnTo>
                  <a:pt x="285750" y="19050"/>
                </a:lnTo>
                <a:cubicBezTo>
                  <a:pt x="285750" y="29571"/>
                  <a:pt x="277221" y="38100"/>
                  <a:pt x="26670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B0B0"/>
          </a:solidFill>
          <a:ln>
            <a:noFill/>
          </a:ln>
        </p:spPr>
      </p:sp>
      <p:sp>
        <p:nvSpPr>
          <p:cNvPr id="110" name="Freeform 110"/>
          <p:cNvSpPr/>
          <p:nvPr/>
        </p:nvSpPr>
        <p:spPr>
          <a:xfrm>
            <a:off x="7315200" y="4229100"/>
            <a:ext cx="285750" cy="38100"/>
          </a:xfrm>
          <a:custGeom>
            <a:avLst/>
            <a:gdLst/>
            <a:ahLst/>
            <a:cxnLst/>
            <a:rect l="l" t="t" r="r" b="b"/>
            <a:pathLst>
              <a:path w="285750" h="38100">
                <a:moveTo>
                  <a:pt x="19050" y="0"/>
                </a:moveTo>
                <a:lnTo>
                  <a:pt x="266700" y="0"/>
                </a:lnTo>
                <a:cubicBezTo>
                  <a:pt x="277221" y="0"/>
                  <a:pt x="285750" y="8529"/>
                  <a:pt x="285750" y="19050"/>
                </a:cubicBezTo>
                <a:lnTo>
                  <a:pt x="285750" y="19050"/>
                </a:lnTo>
                <a:cubicBezTo>
                  <a:pt x="285750" y="29571"/>
                  <a:pt x="277221" y="38100"/>
                  <a:pt x="26670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B8D8E8"/>
          </a:solidFill>
          <a:ln>
            <a:noFill/>
          </a:ln>
        </p:spPr>
      </p:sp>
      <p:sp>
        <p:nvSpPr>
          <p:cNvPr id="111" name="Freeform 111"/>
          <p:cNvSpPr/>
          <p:nvPr/>
        </p:nvSpPr>
        <p:spPr>
          <a:xfrm>
            <a:off x="8248650" y="28765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95250" y="0"/>
                </a:moveTo>
                <a:lnTo>
                  <a:pt x="1524000" y="0"/>
                </a:lnTo>
                <a:cubicBezTo>
                  <a:pt x="1576605" y="0"/>
                  <a:pt x="1619250" y="42645"/>
                  <a:pt x="1619250" y="95250"/>
                </a:cubicBezTo>
                <a:lnTo>
                  <a:pt x="1619250" y="1524000"/>
                </a:lnTo>
                <a:cubicBezTo>
                  <a:pt x="1619250" y="1576605"/>
                  <a:pt x="1576605" y="1619250"/>
                  <a:pt x="1524000" y="1619250"/>
                </a:cubicBezTo>
                <a:lnTo>
                  <a:pt x="95250" y="1619250"/>
                </a:lnTo>
                <a:cubicBezTo>
                  <a:pt x="42645" y="1619250"/>
                  <a:pt x="0" y="1576605"/>
                  <a:pt x="0" y="1524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8F0"/>
            </a:solidFill>
          </a:ln>
          <a:effectLst>
            <a:outerShdw blurRad="114300" dist="19050" dir="5400000" algn="ctr" rotWithShape="0">
              <a:srgbClr val="0077B6">
                <a:alpha val="6000"/>
              </a:srgbClr>
            </a:outerShdw>
          </a:effectLst>
        </p:spPr>
      </p:sp>
      <p:sp>
        <p:nvSpPr>
          <p:cNvPr id="112" name="Freeform 112"/>
          <p:cNvSpPr/>
          <p:nvPr/>
        </p:nvSpPr>
        <p:spPr>
          <a:xfrm>
            <a:off x="8248650" y="2876550"/>
            <a:ext cx="1619250" cy="400050"/>
          </a:xfrm>
          <a:custGeom>
            <a:avLst/>
            <a:gdLst/>
            <a:ahLst/>
            <a:cxnLst/>
            <a:rect l="l" t="t" r="r" b="b"/>
            <a:pathLst>
              <a:path w="1619250" h="400050">
                <a:moveTo>
                  <a:pt x="95250" y="0"/>
                </a:moveTo>
                <a:lnTo>
                  <a:pt x="1524000" y="0"/>
                </a:lnTo>
                <a:cubicBezTo>
                  <a:pt x="1576605" y="0"/>
                  <a:pt x="1619250" y="42645"/>
                  <a:pt x="1619250" y="95250"/>
                </a:cubicBezTo>
                <a:lnTo>
                  <a:pt x="1619250" y="304800"/>
                </a:lnTo>
                <a:cubicBezTo>
                  <a:pt x="1619250" y="357405"/>
                  <a:pt x="1576605" y="400050"/>
                  <a:pt x="1524000" y="400050"/>
                </a:cubicBezTo>
                <a:lnTo>
                  <a:pt x="95250" y="400050"/>
                </a:lnTo>
                <a:cubicBezTo>
                  <a:pt x="42645" y="400050"/>
                  <a:pt x="0" y="357405"/>
                  <a:pt x="0" y="3048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90E0EF">
              <a:alpha val="30000"/>
            </a:srgbClr>
          </a:solidFill>
          <a:ln>
            <a:noFill/>
          </a:ln>
        </p:spPr>
      </p:sp>
      <p:sp>
        <p:nvSpPr>
          <p:cNvPr id="113" name="Rectangle 113"/>
          <p:cNvSpPr/>
          <p:nvPr/>
        </p:nvSpPr>
        <p:spPr>
          <a:xfrm>
            <a:off x="8248650" y="3181350"/>
            <a:ext cx="1619250" cy="95250"/>
          </a:xfrm>
          <a:prstGeom prst="rect">
            <a:avLst/>
          </a:prstGeom>
          <a:solidFill>
            <a:srgbClr val="90E0EF">
              <a:alpha val="30000"/>
            </a:srgbClr>
          </a:solidFill>
          <a:ln>
            <a:noFill/>
          </a:ln>
        </p:spPr>
      </p:sp>
      <p:sp>
        <p:nvSpPr>
          <p:cNvPr id="114" name="Freeform 114"/>
          <p:cNvSpPr/>
          <p:nvPr/>
        </p:nvSpPr>
        <p:spPr>
          <a:xfrm>
            <a:off x="8624026" y="2987762"/>
            <a:ext cx="163807" cy="161271"/>
          </a:xfrm>
          <a:custGeom>
            <a:avLst/>
            <a:gdLst/>
            <a:ahLst/>
            <a:cxnLst/>
            <a:rect l="l" t="t" r="r" b="b"/>
            <a:pathLst>
              <a:path w="163807" h="161271">
                <a:moveTo>
                  <a:pt x="81904" y="0"/>
                </a:moveTo>
                <a:cubicBezTo>
                  <a:pt x="88077" y="0"/>
                  <a:pt x="94039" y="2249"/>
                  <a:pt x="98675" y="6326"/>
                </a:cubicBezTo>
                <a:lnTo>
                  <a:pt x="99898" y="7477"/>
                </a:lnTo>
                <a:lnTo>
                  <a:pt x="105438" y="13018"/>
                </a:lnTo>
                <a:cubicBezTo>
                  <a:pt x="106959" y="14528"/>
                  <a:pt x="108944" y="15482"/>
                  <a:pt x="111074" y="15724"/>
                </a:cubicBezTo>
                <a:lnTo>
                  <a:pt x="112145" y="15788"/>
                </a:lnTo>
                <a:lnTo>
                  <a:pt x="120083" y="15788"/>
                </a:lnTo>
                <a:cubicBezTo>
                  <a:pt x="133550" y="15787"/>
                  <a:pt x="144677" y="26297"/>
                  <a:pt x="145443" y="39743"/>
                </a:cubicBezTo>
                <a:lnTo>
                  <a:pt x="145483" y="41188"/>
                </a:lnTo>
                <a:lnTo>
                  <a:pt x="145483" y="49125"/>
                </a:lnTo>
                <a:cubicBezTo>
                  <a:pt x="145483" y="51268"/>
                  <a:pt x="146213" y="53356"/>
                  <a:pt x="147531" y="55023"/>
                </a:cubicBezTo>
                <a:lnTo>
                  <a:pt x="148245" y="55817"/>
                </a:lnTo>
                <a:lnTo>
                  <a:pt x="153778" y="61357"/>
                </a:lnTo>
                <a:cubicBezTo>
                  <a:pt x="163296" y="70821"/>
                  <a:pt x="163807" y="86058"/>
                  <a:pt x="154944" y="96139"/>
                </a:cubicBezTo>
                <a:lnTo>
                  <a:pt x="153793" y="97361"/>
                </a:lnTo>
                <a:lnTo>
                  <a:pt x="148253" y="102902"/>
                </a:lnTo>
                <a:cubicBezTo>
                  <a:pt x="146742" y="104422"/>
                  <a:pt x="145789" y="106408"/>
                  <a:pt x="145546" y="108537"/>
                </a:cubicBezTo>
                <a:lnTo>
                  <a:pt x="145483" y="109609"/>
                </a:lnTo>
                <a:lnTo>
                  <a:pt x="145483" y="117546"/>
                </a:lnTo>
                <a:cubicBezTo>
                  <a:pt x="145484" y="131014"/>
                  <a:pt x="134973" y="142141"/>
                  <a:pt x="121528" y="142907"/>
                </a:cubicBezTo>
                <a:lnTo>
                  <a:pt x="120083" y="142946"/>
                </a:lnTo>
                <a:lnTo>
                  <a:pt x="112145" y="142946"/>
                </a:lnTo>
                <a:cubicBezTo>
                  <a:pt x="110005" y="142947"/>
                  <a:pt x="107928" y="143669"/>
                  <a:pt x="106248" y="144994"/>
                </a:cubicBezTo>
                <a:lnTo>
                  <a:pt x="105454" y="145709"/>
                </a:lnTo>
                <a:lnTo>
                  <a:pt x="99914" y="151241"/>
                </a:lnTo>
                <a:cubicBezTo>
                  <a:pt x="90449" y="160759"/>
                  <a:pt x="75213" y="161271"/>
                  <a:pt x="65132" y="152408"/>
                </a:cubicBezTo>
                <a:lnTo>
                  <a:pt x="63909" y="151257"/>
                </a:lnTo>
                <a:lnTo>
                  <a:pt x="58369" y="145717"/>
                </a:lnTo>
                <a:cubicBezTo>
                  <a:pt x="56848" y="144206"/>
                  <a:pt x="54863" y="143252"/>
                  <a:pt x="52733" y="143010"/>
                </a:cubicBezTo>
                <a:lnTo>
                  <a:pt x="51662" y="142946"/>
                </a:lnTo>
                <a:lnTo>
                  <a:pt x="43724" y="142946"/>
                </a:lnTo>
                <a:cubicBezTo>
                  <a:pt x="30257" y="142947"/>
                  <a:pt x="19130" y="132437"/>
                  <a:pt x="18364" y="118991"/>
                </a:cubicBezTo>
                <a:lnTo>
                  <a:pt x="18324" y="117546"/>
                </a:lnTo>
                <a:lnTo>
                  <a:pt x="18324" y="109609"/>
                </a:lnTo>
                <a:cubicBezTo>
                  <a:pt x="18323" y="107469"/>
                  <a:pt x="17602" y="105391"/>
                  <a:pt x="16276" y="103711"/>
                </a:cubicBezTo>
                <a:lnTo>
                  <a:pt x="15562" y="102918"/>
                </a:lnTo>
                <a:lnTo>
                  <a:pt x="10029" y="97377"/>
                </a:lnTo>
                <a:cubicBezTo>
                  <a:pt x="511" y="87913"/>
                  <a:pt x="0" y="72676"/>
                  <a:pt x="8863" y="62595"/>
                </a:cubicBezTo>
                <a:lnTo>
                  <a:pt x="10014" y="61373"/>
                </a:lnTo>
                <a:lnTo>
                  <a:pt x="15554" y="55832"/>
                </a:lnTo>
                <a:cubicBezTo>
                  <a:pt x="17065" y="54312"/>
                  <a:pt x="18018" y="52326"/>
                  <a:pt x="18261" y="50197"/>
                </a:cubicBezTo>
                <a:lnTo>
                  <a:pt x="18324" y="49125"/>
                </a:lnTo>
                <a:lnTo>
                  <a:pt x="18324" y="41188"/>
                </a:lnTo>
                <a:lnTo>
                  <a:pt x="18364" y="39743"/>
                </a:lnTo>
                <a:cubicBezTo>
                  <a:pt x="19098" y="26851"/>
                  <a:pt x="29387" y="16561"/>
                  <a:pt x="42280" y="15827"/>
                </a:cubicBezTo>
                <a:lnTo>
                  <a:pt x="43724" y="15788"/>
                </a:lnTo>
                <a:lnTo>
                  <a:pt x="51662" y="15788"/>
                </a:lnTo>
                <a:cubicBezTo>
                  <a:pt x="53802" y="15787"/>
                  <a:pt x="55879" y="15066"/>
                  <a:pt x="57559" y="13740"/>
                </a:cubicBezTo>
                <a:lnTo>
                  <a:pt x="58353" y="13025"/>
                </a:lnTo>
                <a:lnTo>
                  <a:pt x="63893" y="7493"/>
                </a:lnTo>
                <a:cubicBezTo>
                  <a:pt x="68660" y="2698"/>
                  <a:pt x="75142" y="1"/>
                  <a:pt x="81904" y="0"/>
                </a:cubicBezTo>
                <a:close/>
                <a:moveTo>
                  <a:pt x="111248" y="57801"/>
                </a:moveTo>
                <a:cubicBezTo>
                  <a:pt x="108149" y="54702"/>
                  <a:pt x="103124" y="54702"/>
                  <a:pt x="100025" y="57801"/>
                </a:cubicBezTo>
                <a:lnTo>
                  <a:pt x="73887" y="83931"/>
                </a:lnTo>
                <a:lnTo>
                  <a:pt x="63623" y="73676"/>
                </a:lnTo>
                <a:lnTo>
                  <a:pt x="62877" y="73017"/>
                </a:lnTo>
                <a:cubicBezTo>
                  <a:pt x="59566" y="70457"/>
                  <a:pt x="54836" y="70908"/>
                  <a:pt x="52068" y="74047"/>
                </a:cubicBezTo>
                <a:cubicBezTo>
                  <a:pt x="49300" y="77186"/>
                  <a:pt x="49445" y="81935"/>
                  <a:pt x="52400" y="84899"/>
                </a:cubicBezTo>
                <a:lnTo>
                  <a:pt x="68275" y="100774"/>
                </a:lnTo>
                <a:lnTo>
                  <a:pt x="69021" y="101433"/>
                </a:lnTo>
                <a:cubicBezTo>
                  <a:pt x="72181" y="103884"/>
                  <a:pt x="76671" y="103602"/>
                  <a:pt x="79498" y="100774"/>
                </a:cubicBezTo>
                <a:lnTo>
                  <a:pt x="111248" y="69025"/>
                </a:lnTo>
                <a:lnTo>
                  <a:pt x="111907" y="68278"/>
                </a:lnTo>
                <a:cubicBezTo>
                  <a:pt x="114358" y="65119"/>
                  <a:pt x="114076" y="60629"/>
                  <a:pt x="111248" y="57801"/>
                </a:cubicBezTo>
                <a:close/>
              </a:path>
            </a:pathLst>
          </a:custGeom>
          <a:solidFill>
            <a:srgbClr val="0077B6"/>
          </a:solidFill>
          <a:ln>
            <a:noFill/>
          </a:ln>
        </p:spPr>
      </p:sp>
      <p:sp>
        <p:nvSpPr>
          <p:cNvPr id="115" name="TextBox 115"/>
          <p:cNvSpPr txBox="1"/>
          <p:nvPr/>
        </p:nvSpPr>
        <p:spPr>
          <a:xfrm>
            <a:off x="8883015" y="3020378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77B6"/>
                </a:solidFill>
                <a:latin typeface="Arial"/>
                <a:ea typeface="Microsoft YaHei"/>
                <a:cs typeface="Arial"/>
              </a:rPr>
              <a:t>营收质量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8409622" y="3397091"/>
            <a:ext cx="9010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主营业务收入占比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8401050" y="3533775"/>
            <a:ext cx="44765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77B6"/>
                </a:solidFill>
                <a:latin typeface="Arial"/>
                <a:ea typeface="Microsoft YaHei"/>
                <a:cs typeface="Arial"/>
              </a:rPr>
              <a:t>100%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6657022" y="3835241"/>
            <a:ext cx="6810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收入来源单一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8408670" y="401764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A500"/>
                </a:solidFill>
                <a:latin typeface="Arial"/>
                <a:ea typeface="Microsoft YaHei"/>
                <a:cs typeface="Arial"/>
              </a:rPr>
              <a:t>过度集中</a:t>
            </a:r>
          </a:p>
        </p:txBody>
      </p:sp>
      <p:sp>
        <p:nvSpPr>
          <p:cNvPr id="120" name="Freeform 120"/>
          <p:cNvSpPr/>
          <p:nvPr/>
        </p:nvSpPr>
        <p:spPr>
          <a:xfrm>
            <a:off x="8420100" y="4229100"/>
            <a:ext cx="285750" cy="38100"/>
          </a:xfrm>
          <a:custGeom>
            <a:avLst/>
            <a:gdLst/>
            <a:ahLst/>
            <a:cxnLst/>
            <a:rect l="l" t="t" r="r" b="b"/>
            <a:pathLst>
              <a:path w="285750" h="38100">
                <a:moveTo>
                  <a:pt x="19050" y="0"/>
                </a:moveTo>
                <a:lnTo>
                  <a:pt x="266700" y="0"/>
                </a:lnTo>
                <a:cubicBezTo>
                  <a:pt x="277221" y="0"/>
                  <a:pt x="285750" y="8529"/>
                  <a:pt x="285750" y="19050"/>
                </a:cubicBezTo>
                <a:lnTo>
                  <a:pt x="285750" y="19050"/>
                </a:lnTo>
                <a:cubicBezTo>
                  <a:pt x="285750" y="29571"/>
                  <a:pt x="277221" y="38100"/>
                  <a:pt x="26670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A500"/>
          </a:solidFill>
          <a:ln>
            <a:noFill/>
          </a:ln>
        </p:spPr>
      </p:sp>
      <p:sp>
        <p:nvSpPr>
          <p:cNvPr id="121" name="Freeform 121"/>
          <p:cNvSpPr/>
          <p:nvPr/>
        </p:nvSpPr>
        <p:spPr>
          <a:xfrm>
            <a:off x="8743950" y="4229100"/>
            <a:ext cx="285750" cy="38100"/>
          </a:xfrm>
          <a:custGeom>
            <a:avLst/>
            <a:gdLst/>
            <a:ahLst/>
            <a:cxnLst/>
            <a:rect l="l" t="t" r="r" b="b"/>
            <a:pathLst>
              <a:path w="285750" h="38100">
                <a:moveTo>
                  <a:pt x="19050" y="0"/>
                </a:moveTo>
                <a:lnTo>
                  <a:pt x="266700" y="0"/>
                </a:lnTo>
                <a:cubicBezTo>
                  <a:pt x="277221" y="0"/>
                  <a:pt x="285750" y="8529"/>
                  <a:pt x="285750" y="19050"/>
                </a:cubicBezTo>
                <a:lnTo>
                  <a:pt x="285750" y="19050"/>
                </a:lnTo>
                <a:cubicBezTo>
                  <a:pt x="285750" y="29571"/>
                  <a:pt x="277221" y="38100"/>
                  <a:pt x="26670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B0B0"/>
          </a:solidFill>
          <a:ln>
            <a:noFill/>
          </a:ln>
        </p:spPr>
      </p:sp>
      <p:sp>
        <p:nvSpPr>
          <p:cNvPr id="122" name="Freeform 122"/>
          <p:cNvSpPr/>
          <p:nvPr/>
        </p:nvSpPr>
        <p:spPr>
          <a:xfrm>
            <a:off x="9067800" y="4229100"/>
            <a:ext cx="285750" cy="38100"/>
          </a:xfrm>
          <a:custGeom>
            <a:avLst/>
            <a:gdLst/>
            <a:ahLst/>
            <a:cxnLst/>
            <a:rect l="l" t="t" r="r" b="b"/>
            <a:pathLst>
              <a:path w="285750" h="38100">
                <a:moveTo>
                  <a:pt x="19050" y="0"/>
                </a:moveTo>
                <a:lnTo>
                  <a:pt x="266700" y="0"/>
                </a:lnTo>
                <a:cubicBezTo>
                  <a:pt x="277221" y="0"/>
                  <a:pt x="285750" y="8529"/>
                  <a:pt x="285750" y="19050"/>
                </a:cubicBezTo>
                <a:lnTo>
                  <a:pt x="285750" y="19050"/>
                </a:lnTo>
                <a:cubicBezTo>
                  <a:pt x="285750" y="29571"/>
                  <a:pt x="277221" y="38100"/>
                  <a:pt x="26670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B8D8E8"/>
          </a:solidFill>
          <a:ln>
            <a:noFill/>
          </a:ln>
        </p:spPr>
      </p:sp>
      <p:sp>
        <p:nvSpPr>
          <p:cNvPr id="123" name="Freeform 123"/>
          <p:cNvSpPr/>
          <p:nvPr/>
        </p:nvSpPr>
        <p:spPr>
          <a:xfrm>
            <a:off x="10001250" y="287655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95250" y="0"/>
                </a:moveTo>
                <a:lnTo>
                  <a:pt x="1504950" y="0"/>
                </a:lnTo>
                <a:cubicBezTo>
                  <a:pt x="1557555" y="0"/>
                  <a:pt x="1600200" y="42645"/>
                  <a:pt x="1600200" y="95250"/>
                </a:cubicBezTo>
                <a:lnTo>
                  <a:pt x="1600200" y="1524000"/>
                </a:lnTo>
                <a:cubicBezTo>
                  <a:pt x="1600200" y="1576605"/>
                  <a:pt x="1557555" y="1619250"/>
                  <a:pt x="1504950" y="1619250"/>
                </a:cubicBezTo>
                <a:lnTo>
                  <a:pt x="95250" y="1619250"/>
                </a:lnTo>
                <a:cubicBezTo>
                  <a:pt x="42645" y="1619250"/>
                  <a:pt x="0" y="1576605"/>
                  <a:pt x="0" y="1524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8F0"/>
            </a:solidFill>
          </a:ln>
          <a:effectLst>
            <a:outerShdw blurRad="114300" dist="19050" dir="5400000" algn="ctr" rotWithShape="0">
              <a:srgbClr val="0077B6">
                <a:alpha val="6000"/>
              </a:srgbClr>
            </a:outerShdw>
          </a:effectLst>
        </p:spPr>
      </p:sp>
      <p:sp>
        <p:nvSpPr>
          <p:cNvPr id="124" name="Freeform 124"/>
          <p:cNvSpPr/>
          <p:nvPr/>
        </p:nvSpPr>
        <p:spPr>
          <a:xfrm>
            <a:off x="10001250" y="2876550"/>
            <a:ext cx="1600200" cy="400050"/>
          </a:xfrm>
          <a:custGeom>
            <a:avLst/>
            <a:gdLst/>
            <a:ahLst/>
            <a:cxnLst/>
            <a:rect l="l" t="t" r="r" b="b"/>
            <a:pathLst>
              <a:path w="1600200" h="400050">
                <a:moveTo>
                  <a:pt x="95250" y="0"/>
                </a:moveTo>
                <a:lnTo>
                  <a:pt x="1504950" y="0"/>
                </a:lnTo>
                <a:cubicBezTo>
                  <a:pt x="1557555" y="0"/>
                  <a:pt x="1600200" y="42645"/>
                  <a:pt x="1600200" y="95250"/>
                </a:cubicBezTo>
                <a:lnTo>
                  <a:pt x="1600200" y="304800"/>
                </a:lnTo>
                <a:cubicBezTo>
                  <a:pt x="1600200" y="357405"/>
                  <a:pt x="1557555" y="400050"/>
                  <a:pt x="1504950" y="400050"/>
                </a:cubicBezTo>
                <a:lnTo>
                  <a:pt x="95250" y="400050"/>
                </a:lnTo>
                <a:cubicBezTo>
                  <a:pt x="42645" y="400050"/>
                  <a:pt x="0" y="357405"/>
                  <a:pt x="0" y="3048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90E0EF">
              <a:alpha val="30000"/>
            </a:srgbClr>
          </a:solidFill>
          <a:ln>
            <a:noFill/>
          </a:ln>
        </p:spPr>
      </p:sp>
      <p:sp>
        <p:nvSpPr>
          <p:cNvPr id="125" name="Rectangle 125"/>
          <p:cNvSpPr/>
          <p:nvPr/>
        </p:nvSpPr>
        <p:spPr>
          <a:xfrm>
            <a:off x="10001250" y="3181350"/>
            <a:ext cx="1600200" cy="95250"/>
          </a:xfrm>
          <a:prstGeom prst="rect">
            <a:avLst/>
          </a:prstGeom>
          <a:solidFill>
            <a:srgbClr val="90E0EF">
              <a:alpha val="30000"/>
            </a:srgbClr>
          </a:solidFill>
          <a:ln>
            <a:noFill/>
          </a:ln>
        </p:spPr>
      </p:sp>
      <p:grpSp>
        <p:nvGrpSpPr>
          <p:cNvPr id="129" name="Group 129"/>
          <p:cNvGrpSpPr/>
          <p:nvPr/>
        </p:nvGrpSpPr>
        <p:grpSpPr>
          <a:xfrm>
            <a:off x="10364035" y="2992681"/>
            <a:ext cx="146795" cy="145807"/>
            <a:chOff x="10364035" y="2992681"/>
            <a:chExt cx="146795" cy="145807"/>
          </a:xfrm>
        </p:grpSpPr>
        <p:sp>
          <p:nvSpPr>
            <p:cNvPr id="126" name="Freeform 126"/>
            <p:cNvSpPr/>
            <p:nvPr/>
          </p:nvSpPr>
          <p:spPr>
            <a:xfrm>
              <a:off x="10463212" y="305911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79"/>
                  </a:lnTo>
                </a:path>
              </a:pathLst>
            </a:custGeom>
            <a:noFill/>
            <a:ln w="19050">
              <a:solidFill>
                <a:srgbClr val="0077B6"/>
              </a:solidFill>
            </a:ln>
          </p:spPr>
        </p:sp>
        <p:sp>
          <p:nvSpPr>
            <p:cNvPr id="127" name="Freeform 127"/>
            <p:cNvSpPr/>
            <p:nvPr/>
          </p:nvSpPr>
          <p:spPr>
            <a:xfrm>
              <a:off x="10373052" y="2992681"/>
              <a:ext cx="53184" cy="45619"/>
            </a:xfrm>
            <a:custGeom>
              <a:avLst/>
              <a:gdLst/>
              <a:ahLst/>
              <a:cxnLst/>
              <a:rect l="l" t="t" r="r" b="b"/>
              <a:pathLst>
                <a:path w="53184" h="45619">
                  <a:moveTo>
                    <a:pt x="12158" y="45619"/>
                  </a:moveTo>
                  <a:cubicBezTo>
                    <a:pt x="2497" y="38194"/>
                    <a:pt x="0" y="24672"/>
                    <a:pt x="6373" y="14286"/>
                  </a:cubicBezTo>
                  <a:cubicBezTo>
                    <a:pt x="12745" y="3900"/>
                    <a:pt x="25931" y="0"/>
                    <a:pt x="36927" y="5249"/>
                  </a:cubicBezTo>
                  <a:cubicBezTo>
                    <a:pt x="47924" y="10499"/>
                    <a:pt x="53184" y="23203"/>
                    <a:pt x="49115" y="34689"/>
                  </a:cubicBezTo>
                </a:path>
              </a:pathLst>
            </a:custGeom>
            <a:noFill/>
            <a:ln w="19050">
              <a:solidFill>
                <a:srgbClr val="0077B6"/>
              </a:solidFill>
            </a:ln>
          </p:spPr>
        </p:sp>
        <p:sp>
          <p:nvSpPr>
            <p:cNvPr id="128" name="Freeform 128"/>
            <p:cNvSpPr/>
            <p:nvPr/>
          </p:nvSpPr>
          <p:spPr>
            <a:xfrm>
              <a:off x="10364035" y="3003550"/>
              <a:ext cx="146795" cy="134938"/>
            </a:xfrm>
            <a:custGeom>
              <a:avLst/>
              <a:gdLst/>
              <a:ahLst/>
              <a:cxnLst/>
              <a:rect l="l" t="t" r="r" b="b"/>
              <a:pathLst>
                <a:path w="146795" h="134938">
                  <a:moveTo>
                    <a:pt x="107115" y="0"/>
                  </a:moveTo>
                  <a:lnTo>
                    <a:pt x="107115" y="30186"/>
                  </a:lnTo>
                  <a:cubicBezTo>
                    <a:pt x="116939" y="35871"/>
                    <a:pt x="124418" y="44866"/>
                    <a:pt x="128213" y="55563"/>
                  </a:cubicBezTo>
                  <a:lnTo>
                    <a:pt x="138857" y="55563"/>
                  </a:lnTo>
                  <a:cubicBezTo>
                    <a:pt x="143241" y="55563"/>
                    <a:pt x="146795" y="59116"/>
                    <a:pt x="146795" y="63500"/>
                  </a:cubicBezTo>
                  <a:lnTo>
                    <a:pt x="146795" y="79375"/>
                  </a:lnTo>
                  <a:cubicBezTo>
                    <a:pt x="146795" y="83759"/>
                    <a:pt x="143241" y="87313"/>
                    <a:pt x="138857" y="87313"/>
                  </a:cubicBezTo>
                  <a:lnTo>
                    <a:pt x="128205" y="87313"/>
                  </a:lnTo>
                  <a:cubicBezTo>
                    <a:pt x="125538" y="94853"/>
                    <a:pt x="121006" y="101600"/>
                    <a:pt x="115045" y="106942"/>
                  </a:cubicBezTo>
                  <a:lnTo>
                    <a:pt x="115045" y="123031"/>
                  </a:lnTo>
                  <a:cubicBezTo>
                    <a:pt x="115045" y="129607"/>
                    <a:pt x="109714" y="134938"/>
                    <a:pt x="103138" y="134938"/>
                  </a:cubicBezTo>
                  <a:cubicBezTo>
                    <a:pt x="96563" y="134938"/>
                    <a:pt x="91232" y="129607"/>
                    <a:pt x="91232" y="123031"/>
                  </a:cubicBezTo>
                  <a:lnTo>
                    <a:pt x="91232" y="118404"/>
                  </a:lnTo>
                  <a:cubicBezTo>
                    <a:pt x="88609" y="118843"/>
                    <a:pt x="85954" y="119063"/>
                    <a:pt x="83295" y="119062"/>
                  </a:cubicBezTo>
                  <a:lnTo>
                    <a:pt x="51545" y="119062"/>
                  </a:lnTo>
                  <a:cubicBezTo>
                    <a:pt x="48885" y="119063"/>
                    <a:pt x="46230" y="118843"/>
                    <a:pt x="43607" y="118404"/>
                  </a:cubicBezTo>
                  <a:lnTo>
                    <a:pt x="43607" y="123031"/>
                  </a:lnTo>
                  <a:cubicBezTo>
                    <a:pt x="43607" y="129607"/>
                    <a:pt x="38276" y="134938"/>
                    <a:pt x="31701" y="134938"/>
                  </a:cubicBezTo>
                  <a:cubicBezTo>
                    <a:pt x="25125" y="134938"/>
                    <a:pt x="19795" y="129607"/>
                    <a:pt x="19795" y="123031"/>
                  </a:cubicBezTo>
                  <a:lnTo>
                    <a:pt x="19795" y="107156"/>
                  </a:lnTo>
                  <a:lnTo>
                    <a:pt x="19795" y="106942"/>
                  </a:lnTo>
                  <a:cubicBezTo>
                    <a:pt x="5071" y="93779"/>
                    <a:pt x="0" y="72895"/>
                    <a:pt x="7047" y="54445"/>
                  </a:cubicBezTo>
                  <a:cubicBezTo>
                    <a:pt x="14093" y="35996"/>
                    <a:pt x="31795" y="23809"/>
                    <a:pt x="51545" y="23812"/>
                  </a:cubicBezTo>
                  <a:lnTo>
                    <a:pt x="71388" y="23812"/>
                  </a:lnTo>
                  <a:lnTo>
                    <a:pt x="107107" y="0"/>
                  </a:lnTo>
                </a:path>
              </a:pathLst>
            </a:custGeom>
            <a:noFill/>
            <a:ln w="19050">
              <a:solidFill>
                <a:srgbClr val="0077B6"/>
              </a:solidFill>
            </a:ln>
          </p:spPr>
        </p:sp>
      </p:grpSp>
      <p:sp>
        <p:nvSpPr>
          <p:cNvPr id="130" name="TextBox 130"/>
          <p:cNvSpPr txBox="1"/>
          <p:nvPr/>
        </p:nvSpPr>
        <p:spPr>
          <a:xfrm>
            <a:off x="10616565" y="3020378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77B6"/>
                </a:solidFill>
                <a:latin typeface="Arial"/>
                <a:ea typeface="Microsoft YaHei"/>
                <a:cs typeface="Arial"/>
              </a:rPr>
              <a:t>核心利润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10162222" y="3397091"/>
            <a:ext cx="7910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扣非净利润占比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10153650" y="3533775"/>
            <a:ext cx="38464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77B6"/>
                </a:solidFill>
                <a:latin typeface="Arial"/>
                <a:ea typeface="Microsoft YaHei"/>
                <a:cs typeface="Arial"/>
              </a:rPr>
              <a:t>82%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0162222" y="3835241"/>
            <a:ext cx="9010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依赖非经常性损益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0161270" y="4017645"/>
            <a:ext cx="4009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A500"/>
                </a:solidFill>
                <a:latin typeface="Arial"/>
                <a:ea typeface="Microsoft YaHei"/>
                <a:cs typeface="Arial"/>
              </a:rPr>
              <a:t>需关注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10172700" y="4229100"/>
            <a:ext cx="285750" cy="38100"/>
          </a:xfrm>
          <a:custGeom>
            <a:avLst/>
            <a:gdLst/>
            <a:ahLst/>
            <a:cxnLst/>
            <a:rect l="l" t="t" r="r" b="b"/>
            <a:pathLst>
              <a:path w="285750" h="38100">
                <a:moveTo>
                  <a:pt x="19050" y="0"/>
                </a:moveTo>
                <a:lnTo>
                  <a:pt x="266700" y="0"/>
                </a:lnTo>
                <a:cubicBezTo>
                  <a:pt x="277221" y="0"/>
                  <a:pt x="285750" y="8529"/>
                  <a:pt x="285750" y="19050"/>
                </a:cubicBezTo>
                <a:lnTo>
                  <a:pt x="285750" y="19050"/>
                </a:lnTo>
                <a:cubicBezTo>
                  <a:pt x="285750" y="29571"/>
                  <a:pt x="277221" y="38100"/>
                  <a:pt x="26670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A500"/>
          </a:solidFill>
          <a:ln>
            <a:noFill/>
          </a:ln>
        </p:spPr>
      </p:sp>
      <p:sp>
        <p:nvSpPr>
          <p:cNvPr id="136" name="Freeform 136"/>
          <p:cNvSpPr/>
          <p:nvPr/>
        </p:nvSpPr>
        <p:spPr>
          <a:xfrm>
            <a:off x="10496550" y="4229100"/>
            <a:ext cx="285750" cy="38100"/>
          </a:xfrm>
          <a:custGeom>
            <a:avLst/>
            <a:gdLst/>
            <a:ahLst/>
            <a:cxnLst/>
            <a:rect l="l" t="t" r="r" b="b"/>
            <a:pathLst>
              <a:path w="285750" h="38100">
                <a:moveTo>
                  <a:pt x="19050" y="0"/>
                </a:moveTo>
                <a:lnTo>
                  <a:pt x="266700" y="0"/>
                </a:lnTo>
                <a:cubicBezTo>
                  <a:pt x="277221" y="0"/>
                  <a:pt x="285750" y="8529"/>
                  <a:pt x="285750" y="19050"/>
                </a:cubicBezTo>
                <a:lnTo>
                  <a:pt x="285750" y="19050"/>
                </a:lnTo>
                <a:cubicBezTo>
                  <a:pt x="285750" y="29571"/>
                  <a:pt x="277221" y="38100"/>
                  <a:pt x="26670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B0B0"/>
          </a:solidFill>
          <a:ln>
            <a:noFill/>
          </a:ln>
        </p:spPr>
      </p:sp>
      <p:sp>
        <p:nvSpPr>
          <p:cNvPr id="137" name="Freeform 137"/>
          <p:cNvSpPr/>
          <p:nvPr/>
        </p:nvSpPr>
        <p:spPr>
          <a:xfrm>
            <a:off x="10820400" y="4229100"/>
            <a:ext cx="285750" cy="38100"/>
          </a:xfrm>
          <a:custGeom>
            <a:avLst/>
            <a:gdLst/>
            <a:ahLst/>
            <a:cxnLst/>
            <a:rect l="l" t="t" r="r" b="b"/>
            <a:pathLst>
              <a:path w="285750" h="38100">
                <a:moveTo>
                  <a:pt x="19050" y="0"/>
                </a:moveTo>
                <a:lnTo>
                  <a:pt x="266700" y="0"/>
                </a:lnTo>
                <a:cubicBezTo>
                  <a:pt x="277221" y="0"/>
                  <a:pt x="285750" y="8529"/>
                  <a:pt x="285750" y="19050"/>
                </a:cubicBezTo>
                <a:lnTo>
                  <a:pt x="285750" y="19050"/>
                </a:lnTo>
                <a:cubicBezTo>
                  <a:pt x="285750" y="29571"/>
                  <a:pt x="277221" y="38100"/>
                  <a:pt x="26670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B8D8E8"/>
          </a:solidFill>
          <a:ln>
            <a:noFill/>
          </a:ln>
        </p:spPr>
      </p:sp>
      <p:sp>
        <p:nvSpPr>
          <p:cNvPr id="138" name="Freeform 138"/>
          <p:cNvSpPr/>
          <p:nvPr/>
        </p:nvSpPr>
        <p:spPr>
          <a:xfrm>
            <a:off x="6496050" y="4648200"/>
            <a:ext cx="5105400" cy="857250"/>
          </a:xfrm>
          <a:custGeom>
            <a:avLst/>
            <a:gdLst/>
            <a:ahLst/>
            <a:cxnLst/>
            <a:rect l="l" t="t" r="r" b="b"/>
            <a:pathLst>
              <a:path w="5105400" h="857250">
                <a:moveTo>
                  <a:pt x="95250" y="0"/>
                </a:moveTo>
                <a:lnTo>
                  <a:pt x="5010150" y="0"/>
                </a:lnTo>
                <a:cubicBezTo>
                  <a:pt x="5062755" y="0"/>
                  <a:pt x="5105400" y="42645"/>
                  <a:pt x="5105400" y="95250"/>
                </a:cubicBezTo>
                <a:lnTo>
                  <a:pt x="5105400" y="762000"/>
                </a:lnTo>
                <a:cubicBezTo>
                  <a:pt x="5105400" y="814605"/>
                  <a:pt x="5062755" y="857250"/>
                  <a:pt x="5010150" y="857250"/>
                </a:cubicBezTo>
                <a:lnTo>
                  <a:pt x="95250" y="857250"/>
                </a:lnTo>
                <a:cubicBezTo>
                  <a:pt x="42645" y="857250"/>
                  <a:pt x="0" y="814605"/>
                  <a:pt x="0" y="762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0E8F0"/>
            </a:solidFill>
          </a:ln>
          <a:effectLst>
            <a:outerShdw blurRad="114300" dist="19050" dir="5400000" algn="ctr" rotWithShape="0">
              <a:srgbClr val="0077B6">
                <a:alpha val="6000"/>
              </a:srgbClr>
            </a:outerShdw>
          </a:effectLst>
        </p:spPr>
      </p:sp>
      <p:sp>
        <p:nvSpPr>
          <p:cNvPr id="139" name="TextBox 139"/>
          <p:cNvSpPr txBox="1"/>
          <p:nvPr/>
        </p:nvSpPr>
        <p:spPr>
          <a:xfrm>
            <a:off x="6654165" y="47825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77B6"/>
                </a:solidFill>
                <a:latin typeface="Arial"/>
                <a:ea typeface="Microsoft YaHei"/>
                <a:cs typeface="Arial"/>
              </a:rPr>
              <a:t>趋势判断</a:t>
            </a:r>
          </a:p>
        </p:txBody>
      </p:sp>
      <p:sp>
        <p:nvSpPr>
          <p:cNvPr id="140" name="Ellipse 140"/>
          <p:cNvSpPr/>
          <p:nvPr/>
        </p:nvSpPr>
        <p:spPr>
          <a:xfrm>
            <a:off x="6800850" y="5086350"/>
            <a:ext cx="114300" cy="1143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</p:sp>
      <p:sp>
        <p:nvSpPr>
          <p:cNvPr id="141" name="TextBox 141"/>
          <p:cNvSpPr txBox="1"/>
          <p:nvPr/>
        </p:nvSpPr>
        <p:spPr>
          <a:xfrm>
            <a:off x="6988492" y="50763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收入连续下滑，主业增长乏力</a:t>
            </a:r>
          </a:p>
        </p:txBody>
      </p:sp>
      <p:sp>
        <p:nvSpPr>
          <p:cNvPr id="142" name="Ellipse 142"/>
          <p:cNvSpPr/>
          <p:nvPr/>
        </p:nvSpPr>
        <p:spPr>
          <a:xfrm>
            <a:off x="6800850" y="5295900"/>
            <a:ext cx="114300" cy="11430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</p:sp>
      <p:sp>
        <p:nvSpPr>
          <p:cNvPr id="143" name="TextBox 143"/>
          <p:cNvSpPr txBox="1"/>
          <p:nvPr/>
        </p:nvSpPr>
        <p:spPr>
          <a:xfrm>
            <a:off x="6988492" y="5285899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营收结构过度集中，抗风险能力不足</a:t>
            </a:r>
          </a:p>
        </p:txBody>
      </p:sp>
      <p:sp>
        <p:nvSpPr>
          <p:cNvPr id="144" name="Freeform 144"/>
          <p:cNvSpPr/>
          <p:nvPr/>
        </p:nvSpPr>
        <p:spPr>
          <a:xfrm>
            <a:off x="6496050" y="5657850"/>
            <a:ext cx="5105400" cy="762000"/>
          </a:xfrm>
          <a:custGeom>
            <a:avLst/>
            <a:gdLst/>
            <a:ahLst/>
            <a:cxnLst/>
            <a:rect l="l" t="t" r="r" b="b"/>
            <a:pathLst>
              <a:path w="5105400" h="762000">
                <a:moveTo>
                  <a:pt x="95250" y="0"/>
                </a:moveTo>
                <a:lnTo>
                  <a:pt x="5010150" y="0"/>
                </a:lnTo>
                <a:cubicBezTo>
                  <a:pt x="5062755" y="0"/>
                  <a:pt x="5105400" y="42645"/>
                  <a:pt x="5105400" y="95250"/>
                </a:cubicBezTo>
                <a:lnTo>
                  <a:pt x="5105400" y="666750"/>
                </a:lnTo>
                <a:cubicBezTo>
                  <a:pt x="5105400" y="719355"/>
                  <a:pt x="5062755" y="762000"/>
                  <a:pt x="501015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8F0"/>
          </a:solidFill>
          <a:ln w="9525">
            <a:solidFill>
              <a:srgbClr val="FFD7A5"/>
            </a:solidFill>
          </a:ln>
        </p:spPr>
      </p:sp>
      <p:grpSp>
        <p:nvGrpSpPr>
          <p:cNvPr id="148" name="Group 148"/>
          <p:cNvGrpSpPr/>
          <p:nvPr/>
        </p:nvGrpSpPr>
        <p:grpSpPr>
          <a:xfrm>
            <a:off x="6691312" y="5834062"/>
            <a:ext cx="142875" cy="142875"/>
            <a:chOff x="6691312" y="5834062"/>
            <a:chExt cx="142875" cy="142875"/>
          </a:xfrm>
        </p:grpSpPr>
        <p:sp>
          <p:nvSpPr>
            <p:cNvPr id="145" name="Freeform 145"/>
            <p:cNvSpPr/>
            <p:nvPr/>
          </p:nvSpPr>
          <p:spPr>
            <a:xfrm>
              <a:off x="6691312" y="5834062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0" y="71438"/>
                  </a:moveTo>
                  <a:cubicBezTo>
                    <a:pt x="0" y="110891"/>
                    <a:pt x="31984" y="142875"/>
                    <a:pt x="71438" y="142875"/>
                  </a:cubicBezTo>
                  <a:cubicBezTo>
                    <a:pt x="110891" y="142875"/>
                    <a:pt x="142875" y="110891"/>
                    <a:pt x="142875" y="71438"/>
                  </a:cubicBezTo>
                  <a:cubicBezTo>
                    <a:pt x="142875" y="31984"/>
                    <a:pt x="110891" y="0"/>
                    <a:pt x="71438" y="0"/>
                  </a:cubicBezTo>
                  <a:cubicBezTo>
                    <a:pt x="31984" y="0"/>
                    <a:pt x="0" y="31984"/>
                    <a:pt x="0" y="71438"/>
                  </a:cubicBezTo>
                </a:path>
              </a:pathLst>
            </a:custGeom>
            <a:noFill/>
            <a:ln w="19050">
              <a:solidFill>
                <a:srgbClr val="FFA500"/>
              </a:solidFill>
            </a:ln>
          </p:spPr>
        </p:sp>
        <p:sp>
          <p:nvSpPr>
            <p:cNvPr id="146" name="Freeform 146"/>
            <p:cNvSpPr/>
            <p:nvPr/>
          </p:nvSpPr>
          <p:spPr>
            <a:xfrm>
              <a:off x="6762750" y="5881688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79" y="0"/>
                  </a:lnTo>
                </a:path>
              </a:pathLst>
            </a:custGeom>
            <a:noFill/>
            <a:ln w="19050">
              <a:solidFill>
                <a:srgbClr val="FFA500"/>
              </a:solidFill>
            </a:ln>
          </p:spPr>
        </p:sp>
        <p:sp>
          <p:nvSpPr>
            <p:cNvPr id="147" name="Freeform 147"/>
            <p:cNvSpPr/>
            <p:nvPr/>
          </p:nvSpPr>
          <p:spPr>
            <a:xfrm>
              <a:off x="6754812" y="590550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7938" y="0"/>
                  </a:lnTo>
                  <a:lnTo>
                    <a:pt x="7938" y="31750"/>
                  </a:lnTo>
                  <a:lnTo>
                    <a:pt x="15875" y="31750"/>
                  </a:lnTo>
                </a:path>
              </a:pathLst>
            </a:custGeom>
            <a:noFill/>
            <a:ln w="19050">
              <a:solidFill>
                <a:srgbClr val="FFA500"/>
              </a:solidFill>
            </a:ln>
          </p:spPr>
        </p:sp>
      </p:grpSp>
      <p:sp>
        <p:nvSpPr>
          <p:cNvPr id="149" name="TextBox 149"/>
          <p:cNvSpPr txBox="1"/>
          <p:nvPr/>
        </p:nvSpPr>
        <p:spPr>
          <a:xfrm>
            <a:off x="6938962" y="5831681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67E00"/>
                </a:solidFill>
                <a:latin typeface="Arial"/>
                <a:ea typeface="Microsoft YaHei"/>
                <a:cs typeface="Arial"/>
              </a:rPr>
              <a:t>初步判断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6655118" y="6085999"/>
            <a:ext cx="35352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4444"/>
                </a:solidFill>
                <a:latin typeface="Arial"/>
                <a:ea typeface="Microsoft YaHei"/>
                <a:cs typeface="Arial"/>
              </a:rPr>
              <a:t>持续性存在隐忧，需进一步结合行业趋势与公司战略深度分析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6654165" y="6249352"/>
            <a:ext cx="11587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67E00"/>
                </a:solidFill>
                <a:latin typeface="Arial"/>
                <a:ea typeface="Microsoft YaHei"/>
                <a:cs typeface="Arial"/>
              </a:rPr>
              <a:t>→ 持续性待验证 ⚡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5403485" y="6646545"/>
            <a:ext cx="13850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8D8E8"/>
                </a:solidFill>
                <a:latin typeface="Arial"/>
                <a:ea typeface="Microsoft YaHei"/>
                <a:cs typeface="Arial"/>
              </a:rPr>
              <a:t>— 03 / 四维度分析 (上) 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0F7FA"/>
              </a:gs>
              <a:gs pos="100000">
                <a:srgbClr val="E8F4F8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0">
                <a:srgbClr val="0077B6"/>
              </a:gs>
              <a:gs pos="100000">
                <a:srgbClr val="00B4D8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85800"/>
            <a:ext cx="12192000" cy="38100"/>
          </a:xfrm>
          <a:prstGeom prst="rect">
            <a:avLst/>
          </a:prstGeom>
          <a:solidFill>
            <a:srgbClr val="48CAE4">
              <a:alpha val="40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381000" y="1905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lnTo>
                  <a:pt x="171450" y="0"/>
                </a:lnTo>
                <a:cubicBezTo>
                  <a:pt x="266139" y="0"/>
                  <a:pt x="342900" y="76761"/>
                  <a:pt x="342900" y="171450"/>
                </a:cubicBezTo>
                <a:lnTo>
                  <a:pt x="342900" y="171450"/>
                </a:lnTo>
                <a:cubicBezTo>
                  <a:pt x="342900" y="266139"/>
                  <a:pt x="266139" y="342900"/>
                  <a:pt x="171450" y="342900"/>
                </a:cubicBezTo>
                <a:lnTo>
                  <a:pt x="171450" y="342900"/>
                </a:lnTo>
                <a:cubicBezTo>
                  <a:pt x="7676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91004" y="28956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3445" y="240982"/>
            <a:ext cx="18901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四维度分析（下）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2970" y="493395"/>
            <a:ext cx="8809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E0EF"/>
                </a:solidFill>
                <a:latin typeface="Arial"/>
                <a:ea typeface="Microsoft YaHei"/>
                <a:cs typeface="Arial"/>
              </a:rPr>
              <a:t>成长性 · 安全性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95567" y="313849"/>
            <a:ext cx="4278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04 / 10</a:t>
            </a:r>
          </a:p>
        </p:txBody>
      </p:sp>
      <p:sp>
        <p:nvSpPr>
          <p:cNvPr id="10" name="Freeform 10"/>
          <p:cNvSpPr/>
          <p:nvPr/>
        </p:nvSpPr>
        <p:spPr>
          <a:xfrm>
            <a:off x="381000" y="952500"/>
            <a:ext cx="5505450" cy="5524500"/>
          </a:xfrm>
          <a:custGeom>
            <a:avLst/>
            <a:gdLst/>
            <a:ahLst/>
            <a:cxnLst/>
            <a:rect l="l" t="t" r="r" b="b"/>
            <a:pathLst>
              <a:path w="5505450" h="5524500">
                <a:moveTo>
                  <a:pt x="133350" y="0"/>
                </a:moveTo>
                <a:lnTo>
                  <a:pt x="5372100" y="0"/>
                </a:lnTo>
                <a:cubicBezTo>
                  <a:pt x="5445747" y="0"/>
                  <a:pt x="5505450" y="59703"/>
                  <a:pt x="5505450" y="133350"/>
                </a:cubicBezTo>
                <a:lnTo>
                  <a:pt x="5505450" y="5391150"/>
                </a:lnTo>
                <a:cubicBezTo>
                  <a:pt x="5505450" y="5464797"/>
                  <a:pt x="5445747" y="5524500"/>
                  <a:pt x="5372100" y="5524500"/>
                </a:cubicBezTo>
                <a:lnTo>
                  <a:pt x="133350" y="5524500"/>
                </a:lnTo>
                <a:cubicBezTo>
                  <a:pt x="59703" y="5524500"/>
                  <a:pt x="0" y="5464797"/>
                  <a:pt x="0" y="5391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14300" dist="28575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11" name="Freeform 11"/>
          <p:cNvSpPr/>
          <p:nvPr/>
        </p:nvSpPr>
        <p:spPr>
          <a:xfrm>
            <a:off x="381000" y="952500"/>
            <a:ext cx="5505450" cy="609600"/>
          </a:xfrm>
          <a:custGeom>
            <a:avLst/>
            <a:gdLst/>
            <a:ahLst/>
            <a:cxnLst/>
            <a:rect l="l" t="t" r="r" b="b"/>
            <a:pathLst>
              <a:path w="5505450" h="609600">
                <a:moveTo>
                  <a:pt x="133350" y="0"/>
                </a:moveTo>
                <a:lnTo>
                  <a:pt x="5372100" y="0"/>
                </a:lnTo>
                <a:cubicBezTo>
                  <a:pt x="5445747" y="0"/>
                  <a:pt x="5505450" y="59703"/>
                  <a:pt x="5505450" y="133350"/>
                </a:cubicBezTo>
                <a:lnTo>
                  <a:pt x="5505450" y="476250"/>
                </a:lnTo>
                <a:cubicBezTo>
                  <a:pt x="5505450" y="549897"/>
                  <a:pt x="5445747" y="609600"/>
                  <a:pt x="5372100" y="609600"/>
                </a:cubicBezTo>
                <a:lnTo>
                  <a:pt x="133350" y="609600"/>
                </a:lnTo>
                <a:cubicBezTo>
                  <a:pt x="59703" y="609600"/>
                  <a:pt x="0" y="549897"/>
                  <a:pt x="0" y="4762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1ABC9C">
              <a:alpha val="12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" y="1428750"/>
            <a:ext cx="5505450" cy="133350"/>
          </a:xfrm>
          <a:prstGeom prst="rect">
            <a:avLst/>
          </a:prstGeom>
          <a:solidFill>
            <a:srgbClr val="1ABC9C">
              <a:alpha val="8000"/>
            </a:srgbClr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642938" y="1179512"/>
            <a:ext cx="200025" cy="144463"/>
            <a:chOff x="642938" y="1179512"/>
            <a:chExt cx="200025" cy="144463"/>
          </a:xfrm>
        </p:grpSpPr>
        <p:sp>
          <p:nvSpPr>
            <p:cNvPr id="13" name="Freeform 13"/>
            <p:cNvSpPr/>
            <p:nvPr/>
          </p:nvSpPr>
          <p:spPr>
            <a:xfrm>
              <a:off x="809625" y="1179512"/>
              <a:ext cx="33338" cy="66675"/>
            </a:xfrm>
            <a:custGeom>
              <a:avLst/>
              <a:gdLst/>
              <a:ahLst/>
              <a:cxnLst/>
              <a:rect l="l" t="t" r="r" b="b"/>
              <a:pathLst>
                <a:path w="33338" h="66675">
                  <a:moveTo>
                    <a:pt x="0" y="0"/>
                  </a:moveTo>
                  <a:lnTo>
                    <a:pt x="33338" y="33338"/>
                  </a:lnTo>
                  <a:lnTo>
                    <a:pt x="0" y="66675"/>
                  </a:lnTo>
                </a:path>
              </a:pathLst>
            </a:custGeom>
            <a:noFill/>
            <a:ln w="19050">
              <a:solidFill>
                <a:srgbClr val="1ABC9C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42938" y="1212850"/>
              <a:ext cx="200025" cy="111125"/>
            </a:xfrm>
            <a:custGeom>
              <a:avLst/>
              <a:gdLst/>
              <a:ahLst/>
              <a:cxnLst/>
              <a:rect l="l" t="t" r="r" b="b"/>
              <a:pathLst>
                <a:path w="200025" h="111125">
                  <a:moveTo>
                    <a:pt x="0" y="111125"/>
                  </a:moveTo>
                  <a:lnTo>
                    <a:pt x="26637" y="111125"/>
                  </a:lnTo>
                  <a:cubicBezTo>
                    <a:pt x="44767" y="111124"/>
                    <a:pt x="61757" y="102276"/>
                    <a:pt x="72153" y="87422"/>
                  </a:cubicBezTo>
                  <a:lnTo>
                    <a:pt x="116759" y="23703"/>
                  </a:lnTo>
                  <a:cubicBezTo>
                    <a:pt x="127155" y="8849"/>
                    <a:pt x="144145" y="1"/>
                    <a:pt x="162276" y="0"/>
                  </a:cubicBezTo>
                  <a:lnTo>
                    <a:pt x="200025" y="0"/>
                  </a:lnTo>
                </a:path>
              </a:pathLst>
            </a:custGeom>
            <a:noFill/>
            <a:ln w="19050">
              <a:solidFill>
                <a:srgbClr val="1ABC9C"/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952500" y="1171575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BC9C"/>
                </a:solidFill>
                <a:latin typeface="Arial"/>
                <a:ea typeface="Microsoft YaHei"/>
                <a:cs typeface="Arial"/>
              </a:rPr>
              <a:t>成长性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796492" y="1228249"/>
            <a:ext cx="10258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1ABC9C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Growth Analysis</a:t>
            </a:r>
          </a:p>
        </p:txBody>
      </p:sp>
      <p:sp>
        <p:nvSpPr>
          <p:cNvPr id="18" name="Freeform 18"/>
          <p:cNvSpPr/>
          <p:nvPr/>
        </p:nvSpPr>
        <p:spPr>
          <a:xfrm>
            <a:off x="571500" y="169545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95250" y="0"/>
                </a:moveTo>
                <a:lnTo>
                  <a:pt x="2190750" y="0"/>
                </a:lnTo>
                <a:cubicBezTo>
                  <a:pt x="2243355" y="0"/>
                  <a:pt x="2286000" y="42645"/>
                  <a:pt x="2286000" y="95250"/>
                </a:cubicBezTo>
                <a:lnTo>
                  <a:pt x="2286000" y="666750"/>
                </a:lnTo>
                <a:cubicBezTo>
                  <a:pt x="2286000" y="719355"/>
                  <a:pt x="2243355" y="762000"/>
                  <a:pt x="219075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F8F5"/>
          </a:solidFill>
          <a:ln>
            <a:noFill/>
          </a:ln>
          <a:effectLst>
            <a:outerShdw blurRad="76200" dist="19050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19" name="TextBox 19"/>
          <p:cNvSpPr txBox="1"/>
          <p:nvPr/>
        </p:nvSpPr>
        <p:spPr>
          <a:xfrm>
            <a:off x="1208056" y="1818799"/>
            <a:ext cx="10128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营收增长 (CAGR)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9424" y="2040255"/>
            <a:ext cx="95015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ABC9C"/>
                </a:solidFill>
                <a:latin typeface="Arial"/>
                <a:ea typeface="Microsoft YaHei"/>
                <a:cs typeface="Arial"/>
              </a:rPr>
              <a:t>+18.6%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27428" y="2319338"/>
            <a:ext cx="7741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近3年复合增长率</a:t>
            </a:r>
          </a:p>
        </p:txBody>
      </p:sp>
      <p:sp>
        <p:nvSpPr>
          <p:cNvPr id="22" name="Freeform 22"/>
          <p:cNvSpPr/>
          <p:nvPr/>
        </p:nvSpPr>
        <p:spPr>
          <a:xfrm>
            <a:off x="3048000" y="1695450"/>
            <a:ext cx="2647950" cy="762000"/>
          </a:xfrm>
          <a:custGeom>
            <a:avLst/>
            <a:gdLst/>
            <a:ahLst/>
            <a:cxnLst/>
            <a:rect l="l" t="t" r="r" b="b"/>
            <a:pathLst>
              <a:path w="2647950" h="762000">
                <a:moveTo>
                  <a:pt x="95250" y="0"/>
                </a:moveTo>
                <a:lnTo>
                  <a:pt x="2552700" y="0"/>
                </a:lnTo>
                <a:cubicBezTo>
                  <a:pt x="2605305" y="0"/>
                  <a:pt x="2647950" y="42645"/>
                  <a:pt x="2647950" y="95250"/>
                </a:cubicBezTo>
                <a:lnTo>
                  <a:pt x="2647950" y="666750"/>
                </a:lnTo>
                <a:cubicBezTo>
                  <a:pt x="2647950" y="719355"/>
                  <a:pt x="2605305" y="762000"/>
                  <a:pt x="255270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DF2E9"/>
          </a:solidFill>
          <a:ln>
            <a:noFill/>
          </a:ln>
          <a:effectLst>
            <a:outerShdw blurRad="76200" dist="19050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23" name="TextBox 23"/>
          <p:cNvSpPr txBox="1"/>
          <p:nvPr/>
        </p:nvSpPr>
        <p:spPr>
          <a:xfrm>
            <a:off x="3969544" y="181879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利润增长波动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4010492" y="2054423"/>
            <a:ext cx="151463" cy="134007"/>
            <a:chOff x="4010492" y="2054423"/>
            <a:chExt cx="151463" cy="134007"/>
          </a:xfrm>
        </p:grpSpPr>
        <p:sp>
          <p:nvSpPr>
            <p:cNvPr id="24" name="Freeform 24"/>
            <p:cNvSpPr/>
            <p:nvPr/>
          </p:nvSpPr>
          <p:spPr>
            <a:xfrm>
              <a:off x="4013895" y="2057919"/>
              <a:ext cx="144661" cy="125092"/>
            </a:xfrm>
            <a:custGeom>
              <a:avLst/>
              <a:gdLst/>
              <a:ahLst/>
              <a:cxnLst/>
              <a:rect l="l" t="t" r="r" b="b"/>
              <a:pathLst>
                <a:path w="144661" h="125092">
                  <a:moveTo>
                    <a:pt x="130905" y="125092"/>
                  </a:moveTo>
                  <a:lnTo>
                    <a:pt x="13756" y="125092"/>
                  </a:lnTo>
                  <a:cubicBezTo>
                    <a:pt x="5304" y="125092"/>
                    <a:pt x="0" y="116244"/>
                    <a:pt x="4105" y="109078"/>
                  </a:cubicBezTo>
                  <a:lnTo>
                    <a:pt x="62680" y="7367"/>
                  </a:lnTo>
                  <a:cubicBezTo>
                    <a:pt x="66899" y="0"/>
                    <a:pt x="77762" y="0"/>
                    <a:pt x="81981" y="7367"/>
                  </a:cubicBezTo>
                  <a:lnTo>
                    <a:pt x="140556" y="109078"/>
                  </a:lnTo>
                  <a:cubicBezTo>
                    <a:pt x="144661" y="116244"/>
                    <a:pt x="139357" y="125092"/>
                    <a:pt x="130905" y="125092"/>
                  </a:cubicBezTo>
                  <a:close/>
                </a:path>
              </a:pathLst>
            </a:custGeom>
            <a:solidFill>
              <a:srgbClr val="E67E22">
                <a:alpha val="20000"/>
              </a:srgbClr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010492" y="2054423"/>
              <a:ext cx="151463" cy="134007"/>
            </a:xfrm>
            <a:custGeom>
              <a:avLst/>
              <a:gdLst/>
              <a:ahLst/>
              <a:cxnLst/>
              <a:rect l="l" t="t" r="r" b="b"/>
              <a:pathLst>
                <a:path w="151463" h="134007">
                  <a:moveTo>
                    <a:pt x="148600" y="109896"/>
                  </a:moveTo>
                  <a:lnTo>
                    <a:pt x="90032" y="8184"/>
                  </a:lnTo>
                  <a:lnTo>
                    <a:pt x="90032" y="8184"/>
                  </a:lnTo>
                  <a:cubicBezTo>
                    <a:pt x="87054" y="3114"/>
                    <a:pt x="81614" y="0"/>
                    <a:pt x="75733" y="0"/>
                  </a:cubicBezTo>
                  <a:cubicBezTo>
                    <a:pt x="69853" y="0"/>
                    <a:pt x="64413" y="3114"/>
                    <a:pt x="61435" y="8184"/>
                  </a:cubicBezTo>
                  <a:lnTo>
                    <a:pt x="2867" y="109896"/>
                  </a:lnTo>
                  <a:cubicBezTo>
                    <a:pt x="0" y="114803"/>
                    <a:pt x="0" y="120875"/>
                    <a:pt x="2867" y="125782"/>
                  </a:cubicBezTo>
                  <a:cubicBezTo>
                    <a:pt x="5809" y="130886"/>
                    <a:pt x="11275" y="134007"/>
                    <a:pt x="17166" y="133946"/>
                  </a:cubicBezTo>
                  <a:lnTo>
                    <a:pt x="134301" y="133946"/>
                  </a:lnTo>
                  <a:cubicBezTo>
                    <a:pt x="140187" y="134002"/>
                    <a:pt x="145647" y="130882"/>
                    <a:pt x="148586" y="125782"/>
                  </a:cubicBezTo>
                  <a:cubicBezTo>
                    <a:pt x="151457" y="120877"/>
                    <a:pt x="151463" y="114806"/>
                    <a:pt x="148600" y="109896"/>
                  </a:cubicBezTo>
                  <a:close/>
                  <a:moveTo>
                    <a:pt x="139310" y="120417"/>
                  </a:moveTo>
                  <a:cubicBezTo>
                    <a:pt x="138271" y="122191"/>
                    <a:pt x="136356" y="123266"/>
                    <a:pt x="134301" y="123230"/>
                  </a:cubicBezTo>
                  <a:lnTo>
                    <a:pt x="17166" y="123230"/>
                  </a:lnTo>
                  <a:cubicBezTo>
                    <a:pt x="15111" y="123266"/>
                    <a:pt x="13196" y="122191"/>
                    <a:pt x="12156" y="120417"/>
                  </a:cubicBezTo>
                  <a:cubicBezTo>
                    <a:pt x="11214" y="118823"/>
                    <a:pt x="11214" y="116842"/>
                    <a:pt x="12156" y="115247"/>
                  </a:cubicBezTo>
                  <a:lnTo>
                    <a:pt x="70724" y="13536"/>
                  </a:lnTo>
                  <a:cubicBezTo>
                    <a:pt x="71783" y="11772"/>
                    <a:pt x="73690" y="10694"/>
                    <a:pt x="75747" y="10694"/>
                  </a:cubicBezTo>
                  <a:cubicBezTo>
                    <a:pt x="77804" y="10694"/>
                    <a:pt x="79710" y="11772"/>
                    <a:pt x="80770" y="13536"/>
                  </a:cubicBezTo>
                  <a:lnTo>
                    <a:pt x="139337" y="115247"/>
                  </a:lnTo>
                  <a:cubicBezTo>
                    <a:pt x="140271" y="116847"/>
                    <a:pt x="140261" y="118827"/>
                    <a:pt x="139310" y="120417"/>
                  </a:cubicBezTo>
                  <a:close/>
                  <a:moveTo>
                    <a:pt x="70376" y="80368"/>
                  </a:moveTo>
                  <a:lnTo>
                    <a:pt x="70376" y="53579"/>
                  </a:lnTo>
                  <a:cubicBezTo>
                    <a:pt x="70376" y="50620"/>
                    <a:pt x="72774" y="48221"/>
                    <a:pt x="75733" y="48221"/>
                  </a:cubicBezTo>
                  <a:cubicBezTo>
                    <a:pt x="78692" y="48221"/>
                    <a:pt x="81091" y="50620"/>
                    <a:pt x="81091" y="53579"/>
                  </a:cubicBezTo>
                  <a:lnTo>
                    <a:pt x="81091" y="80368"/>
                  </a:lnTo>
                  <a:cubicBezTo>
                    <a:pt x="81091" y="83327"/>
                    <a:pt x="78692" y="85725"/>
                    <a:pt x="75733" y="85725"/>
                  </a:cubicBezTo>
                  <a:cubicBezTo>
                    <a:pt x="72774" y="85725"/>
                    <a:pt x="70376" y="83327"/>
                    <a:pt x="70376" y="80368"/>
                  </a:cubicBezTo>
                  <a:close/>
                  <a:moveTo>
                    <a:pt x="83770" y="104478"/>
                  </a:moveTo>
                  <a:cubicBezTo>
                    <a:pt x="83770" y="108916"/>
                    <a:pt x="80172" y="112515"/>
                    <a:pt x="75733" y="112515"/>
                  </a:cubicBezTo>
                  <a:cubicBezTo>
                    <a:pt x="71295" y="112515"/>
                    <a:pt x="67697" y="108916"/>
                    <a:pt x="67697" y="104478"/>
                  </a:cubicBezTo>
                  <a:cubicBezTo>
                    <a:pt x="67697" y="100039"/>
                    <a:pt x="71295" y="96441"/>
                    <a:pt x="75733" y="96441"/>
                  </a:cubicBezTo>
                  <a:cubicBezTo>
                    <a:pt x="80172" y="96441"/>
                    <a:pt x="83770" y="100039"/>
                    <a:pt x="83770" y="104478"/>
                  </a:cubicBezTo>
                  <a:close/>
                </a:path>
              </a:pathLst>
            </a:custGeom>
            <a:solidFill>
              <a:srgbClr val="E67E22"/>
            </a:solidFill>
            <a:ln>
              <a:noFill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3757232" y="20402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67E22"/>
                </a:solidFill>
                <a:latin typeface="Arial"/>
                <a:ea typeface="Microsoft YaHei"/>
                <a:cs typeface="Arial"/>
              </a:rPr>
              <a:t>波动剧烈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937397" y="2319338"/>
            <a:ext cx="86915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净利润增长率 ±45%</a:t>
            </a:r>
          </a:p>
        </p:txBody>
      </p:sp>
      <p:sp>
        <p:nvSpPr>
          <p:cNvPr id="29" name="Freeform 29"/>
          <p:cNvSpPr/>
          <p:nvPr/>
        </p:nvSpPr>
        <p:spPr>
          <a:xfrm>
            <a:off x="571500" y="2590800"/>
            <a:ext cx="5124450" cy="590550"/>
          </a:xfrm>
          <a:custGeom>
            <a:avLst/>
            <a:gdLst/>
            <a:ahLst/>
            <a:cxnLst/>
            <a:rect l="l" t="t" r="r" b="b"/>
            <a:pathLst>
              <a:path w="5124450" h="590550">
                <a:moveTo>
                  <a:pt x="76200" y="0"/>
                </a:moveTo>
                <a:lnTo>
                  <a:pt x="5048250" y="0"/>
                </a:lnTo>
                <a:cubicBezTo>
                  <a:pt x="5090334" y="0"/>
                  <a:pt x="5124450" y="34116"/>
                  <a:pt x="5124450" y="76200"/>
                </a:cubicBezTo>
                <a:lnTo>
                  <a:pt x="5124450" y="514350"/>
                </a:lnTo>
                <a:cubicBezTo>
                  <a:pt x="5124450" y="556434"/>
                  <a:pt x="5090334" y="590550"/>
                  <a:pt x="5048250" y="590550"/>
                </a:cubicBezTo>
                <a:lnTo>
                  <a:pt x="76200" y="590550"/>
                </a:lnTo>
                <a:cubicBezTo>
                  <a:pt x="34116" y="590550"/>
                  <a:pt x="0" y="556434"/>
                  <a:pt x="0" y="5143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DF2E9"/>
          </a:solidFill>
          <a:ln w="9525">
            <a:solidFill>
              <a:srgbClr val="E67E22"/>
            </a:solidFill>
            <a:custDash>
              <a:ds d="400000" sp="300000"/>
            </a:custDash>
          </a:ln>
        </p:spPr>
      </p:sp>
      <p:grpSp>
        <p:nvGrpSpPr>
          <p:cNvPr id="32" name="Group 32"/>
          <p:cNvGrpSpPr/>
          <p:nvPr/>
        </p:nvGrpSpPr>
        <p:grpSpPr>
          <a:xfrm>
            <a:off x="743545" y="2743795"/>
            <a:ext cx="170259" cy="170259"/>
            <a:chOff x="743545" y="2743795"/>
            <a:chExt cx="170259" cy="170259"/>
          </a:xfrm>
        </p:grpSpPr>
        <p:sp>
          <p:nvSpPr>
            <p:cNvPr id="30" name="Freeform 30"/>
            <p:cNvSpPr/>
            <p:nvPr/>
          </p:nvSpPr>
          <p:spPr>
            <a:xfrm>
              <a:off x="750094" y="2750344"/>
              <a:ext cx="157162" cy="157162"/>
            </a:xfrm>
            <a:custGeom>
              <a:avLst/>
              <a:gdLst/>
              <a:ahLst/>
              <a:cxnLst/>
              <a:rect l="l" t="t" r="r" b="b"/>
              <a:pathLst>
                <a:path w="157162" h="157162">
                  <a:moveTo>
                    <a:pt x="157162" y="78581"/>
                  </a:moveTo>
                  <a:cubicBezTo>
                    <a:pt x="157162" y="121980"/>
                    <a:pt x="121980" y="157162"/>
                    <a:pt x="78581" y="157162"/>
                  </a:cubicBezTo>
                  <a:cubicBezTo>
                    <a:pt x="35182" y="157162"/>
                    <a:pt x="0" y="121980"/>
                    <a:pt x="0" y="78581"/>
                  </a:cubicBezTo>
                  <a:cubicBezTo>
                    <a:pt x="0" y="35182"/>
                    <a:pt x="35182" y="0"/>
                    <a:pt x="78581" y="0"/>
                  </a:cubicBezTo>
                  <a:cubicBezTo>
                    <a:pt x="121980" y="0"/>
                    <a:pt x="157162" y="35182"/>
                    <a:pt x="157162" y="78581"/>
                  </a:cubicBezTo>
                  <a:close/>
                </a:path>
              </a:pathLst>
            </a:custGeom>
            <a:solidFill>
              <a:srgbClr val="E67E22">
                <a:alpha val="20000"/>
              </a:srgbClr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743545" y="2743795"/>
              <a:ext cx="170259" cy="170259"/>
            </a:xfrm>
            <a:custGeom>
              <a:avLst/>
              <a:gdLst/>
              <a:ahLst/>
              <a:cxnLst/>
              <a:rect l="l" t="t" r="r" b="b"/>
              <a:pathLst>
                <a:path w="170259" h="170259">
                  <a:moveTo>
                    <a:pt x="85130" y="0"/>
                  </a:moveTo>
                  <a:cubicBezTo>
                    <a:pt x="38114" y="0"/>
                    <a:pt x="0" y="38114"/>
                    <a:pt x="0" y="85130"/>
                  </a:cubicBezTo>
                  <a:cubicBezTo>
                    <a:pt x="0" y="132146"/>
                    <a:pt x="38114" y="170259"/>
                    <a:pt x="85130" y="170259"/>
                  </a:cubicBezTo>
                  <a:cubicBezTo>
                    <a:pt x="132146" y="170259"/>
                    <a:pt x="170259" y="132146"/>
                    <a:pt x="170259" y="85130"/>
                  </a:cubicBezTo>
                  <a:cubicBezTo>
                    <a:pt x="170210" y="38134"/>
                    <a:pt x="132125" y="50"/>
                    <a:pt x="85130" y="0"/>
                  </a:cubicBezTo>
                  <a:close/>
                  <a:moveTo>
                    <a:pt x="85130" y="157162"/>
                  </a:moveTo>
                  <a:cubicBezTo>
                    <a:pt x="45347" y="157162"/>
                    <a:pt x="13097" y="124912"/>
                    <a:pt x="13097" y="85130"/>
                  </a:cubicBezTo>
                  <a:cubicBezTo>
                    <a:pt x="13097" y="45347"/>
                    <a:pt x="45347" y="13097"/>
                    <a:pt x="85130" y="13097"/>
                  </a:cubicBezTo>
                  <a:cubicBezTo>
                    <a:pt x="124912" y="13097"/>
                    <a:pt x="157162" y="45347"/>
                    <a:pt x="157162" y="85130"/>
                  </a:cubicBezTo>
                  <a:cubicBezTo>
                    <a:pt x="157117" y="124894"/>
                    <a:pt x="124894" y="157117"/>
                    <a:pt x="85130" y="157162"/>
                  </a:cubicBezTo>
                  <a:close/>
                  <a:moveTo>
                    <a:pt x="78581" y="91678"/>
                  </a:moveTo>
                  <a:lnTo>
                    <a:pt x="78581" y="45839"/>
                  </a:lnTo>
                  <a:cubicBezTo>
                    <a:pt x="78581" y="42222"/>
                    <a:pt x="81513" y="39291"/>
                    <a:pt x="85130" y="39291"/>
                  </a:cubicBezTo>
                  <a:cubicBezTo>
                    <a:pt x="88746" y="39291"/>
                    <a:pt x="91678" y="42222"/>
                    <a:pt x="91678" y="45839"/>
                  </a:cubicBezTo>
                  <a:lnTo>
                    <a:pt x="91678" y="91678"/>
                  </a:lnTo>
                  <a:cubicBezTo>
                    <a:pt x="91678" y="95295"/>
                    <a:pt x="88746" y="98227"/>
                    <a:pt x="85130" y="98227"/>
                  </a:cubicBezTo>
                  <a:cubicBezTo>
                    <a:pt x="81513" y="98227"/>
                    <a:pt x="78581" y="95295"/>
                    <a:pt x="78581" y="91678"/>
                  </a:cubicBezTo>
                  <a:close/>
                  <a:moveTo>
                    <a:pt x="94952" y="121146"/>
                  </a:moveTo>
                  <a:cubicBezTo>
                    <a:pt x="94952" y="126571"/>
                    <a:pt x="90555" y="130969"/>
                    <a:pt x="85130" y="130969"/>
                  </a:cubicBezTo>
                  <a:cubicBezTo>
                    <a:pt x="79705" y="130969"/>
                    <a:pt x="75307" y="126571"/>
                    <a:pt x="75307" y="121146"/>
                  </a:cubicBezTo>
                  <a:cubicBezTo>
                    <a:pt x="75307" y="115721"/>
                    <a:pt x="79705" y="111323"/>
                    <a:pt x="85130" y="111323"/>
                  </a:cubicBezTo>
                  <a:cubicBezTo>
                    <a:pt x="90555" y="111323"/>
                    <a:pt x="94952" y="115721"/>
                    <a:pt x="94952" y="121146"/>
                  </a:cubicBezTo>
                  <a:close/>
                </a:path>
              </a:pathLst>
            </a:custGeom>
            <a:solidFill>
              <a:srgbClr val="E67E22"/>
            </a:solidFill>
            <a:ln>
              <a:noFill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014412" y="2736056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67E22"/>
                </a:solidFill>
                <a:latin typeface="Arial"/>
                <a:ea typeface="Microsoft YaHei"/>
                <a:cs typeface="Arial"/>
              </a:rPr>
              <a:t>增收不增利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17270" y="2950845"/>
            <a:ext cx="35032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收入持续增长，但利润增长远落后于营收，盈利能力未见同步提升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7212" y="33075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成长质量分析</a:t>
            </a:r>
          </a:p>
        </p:txBody>
      </p:sp>
      <p:sp>
        <p:nvSpPr>
          <p:cNvPr id="36" name="Freeform 36"/>
          <p:cNvSpPr/>
          <p:nvPr/>
        </p:nvSpPr>
        <p:spPr>
          <a:xfrm>
            <a:off x="571500" y="3562350"/>
            <a:ext cx="5124450" cy="438150"/>
          </a:xfrm>
          <a:custGeom>
            <a:avLst/>
            <a:gdLst/>
            <a:ahLst/>
            <a:cxnLst/>
            <a:rect l="l" t="t" r="r" b="b"/>
            <a:pathLst>
              <a:path w="5124450" h="438150">
                <a:moveTo>
                  <a:pt x="76200" y="0"/>
                </a:moveTo>
                <a:lnTo>
                  <a:pt x="5048250" y="0"/>
                </a:lnTo>
                <a:cubicBezTo>
                  <a:pt x="5090334" y="0"/>
                  <a:pt x="5124450" y="34116"/>
                  <a:pt x="5124450" y="76200"/>
                </a:cubicBezTo>
                <a:lnTo>
                  <a:pt x="5124450" y="361950"/>
                </a:lnTo>
                <a:cubicBezTo>
                  <a:pt x="5124450" y="404034"/>
                  <a:pt x="5090334" y="438150"/>
                  <a:pt x="5048250" y="438150"/>
                </a:cubicBezTo>
                <a:lnTo>
                  <a:pt x="76200" y="438150"/>
                </a:lnTo>
                <a:cubicBezTo>
                  <a:pt x="34116" y="438150"/>
                  <a:pt x="0" y="404034"/>
                  <a:pt x="0" y="361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49618" y="3628549"/>
            <a:ext cx="980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营收增长率趋势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1522" y="3816191"/>
            <a:ext cx="13576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逐年放缓，从+28%降至+12%</a:t>
            </a:r>
          </a:p>
        </p:txBody>
      </p:sp>
      <p:sp>
        <p:nvSpPr>
          <p:cNvPr id="39" name="Freeform 39"/>
          <p:cNvSpPr/>
          <p:nvPr/>
        </p:nvSpPr>
        <p:spPr>
          <a:xfrm>
            <a:off x="4667250" y="3619500"/>
            <a:ext cx="838200" cy="228600"/>
          </a:xfrm>
          <a:custGeom>
            <a:avLst/>
            <a:gdLst/>
            <a:ahLst/>
            <a:cxnLst/>
            <a:rect l="l" t="t" r="r" b="b"/>
            <a:pathLst>
              <a:path w="838200" h="228600">
                <a:moveTo>
                  <a:pt x="114300" y="0"/>
                </a:moveTo>
                <a:lnTo>
                  <a:pt x="723900" y="0"/>
                </a:lnTo>
                <a:cubicBezTo>
                  <a:pt x="787026" y="0"/>
                  <a:pt x="838200" y="51174"/>
                  <a:pt x="838200" y="114300"/>
                </a:cubicBezTo>
                <a:lnTo>
                  <a:pt x="838200" y="114300"/>
                </a:lnTo>
                <a:cubicBezTo>
                  <a:pt x="838200" y="177426"/>
                  <a:pt x="787026" y="228600"/>
                  <a:pt x="7239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ADBD8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844844" y="3682841"/>
            <a:ext cx="4830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增速放缓</a:t>
            </a:r>
          </a:p>
        </p:txBody>
      </p:sp>
      <p:sp>
        <p:nvSpPr>
          <p:cNvPr id="41" name="Freeform 41"/>
          <p:cNvSpPr/>
          <p:nvPr/>
        </p:nvSpPr>
        <p:spPr>
          <a:xfrm>
            <a:off x="571500" y="4076700"/>
            <a:ext cx="5124450" cy="438150"/>
          </a:xfrm>
          <a:custGeom>
            <a:avLst/>
            <a:gdLst/>
            <a:ahLst/>
            <a:cxnLst/>
            <a:rect l="l" t="t" r="r" b="b"/>
            <a:pathLst>
              <a:path w="5124450" h="438150">
                <a:moveTo>
                  <a:pt x="76200" y="0"/>
                </a:moveTo>
                <a:lnTo>
                  <a:pt x="5048250" y="0"/>
                </a:lnTo>
                <a:cubicBezTo>
                  <a:pt x="5090334" y="0"/>
                  <a:pt x="5124450" y="34116"/>
                  <a:pt x="5124450" y="76200"/>
                </a:cubicBezTo>
                <a:lnTo>
                  <a:pt x="5124450" y="361950"/>
                </a:lnTo>
                <a:cubicBezTo>
                  <a:pt x="5124450" y="404034"/>
                  <a:pt x="5090334" y="438150"/>
                  <a:pt x="5048250" y="438150"/>
                </a:cubicBezTo>
                <a:lnTo>
                  <a:pt x="76200" y="438150"/>
                </a:lnTo>
                <a:cubicBezTo>
                  <a:pt x="34116" y="438150"/>
                  <a:pt x="0" y="404034"/>
                  <a:pt x="0" y="361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B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749618" y="4142899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利润质量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1522" y="4330541"/>
            <a:ext cx="17811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非经常性损益占比高，核心利润下滑</a:t>
            </a:r>
          </a:p>
        </p:txBody>
      </p:sp>
      <p:sp>
        <p:nvSpPr>
          <p:cNvPr id="44" name="Freeform 44"/>
          <p:cNvSpPr/>
          <p:nvPr/>
        </p:nvSpPr>
        <p:spPr>
          <a:xfrm>
            <a:off x="4667250" y="4133850"/>
            <a:ext cx="838200" cy="228600"/>
          </a:xfrm>
          <a:custGeom>
            <a:avLst/>
            <a:gdLst/>
            <a:ahLst/>
            <a:cxnLst/>
            <a:rect l="l" t="t" r="r" b="b"/>
            <a:pathLst>
              <a:path w="838200" h="228600">
                <a:moveTo>
                  <a:pt x="114300" y="0"/>
                </a:moveTo>
                <a:lnTo>
                  <a:pt x="723900" y="0"/>
                </a:lnTo>
                <a:cubicBezTo>
                  <a:pt x="787026" y="0"/>
                  <a:pt x="838200" y="51174"/>
                  <a:pt x="838200" y="114300"/>
                </a:cubicBezTo>
                <a:lnTo>
                  <a:pt x="838200" y="114300"/>
                </a:lnTo>
                <a:cubicBezTo>
                  <a:pt x="838200" y="177426"/>
                  <a:pt x="787026" y="228600"/>
                  <a:pt x="7239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ADBD8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4844844" y="4197191"/>
            <a:ext cx="4830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质量堪忧</a:t>
            </a:r>
          </a:p>
        </p:txBody>
      </p:sp>
      <p:sp>
        <p:nvSpPr>
          <p:cNvPr id="46" name="Freeform 46"/>
          <p:cNvSpPr/>
          <p:nvPr/>
        </p:nvSpPr>
        <p:spPr>
          <a:xfrm>
            <a:off x="571500" y="4591050"/>
            <a:ext cx="5124450" cy="438150"/>
          </a:xfrm>
          <a:custGeom>
            <a:avLst/>
            <a:gdLst/>
            <a:ahLst/>
            <a:cxnLst/>
            <a:rect l="l" t="t" r="r" b="b"/>
            <a:pathLst>
              <a:path w="5124450" h="438150">
                <a:moveTo>
                  <a:pt x="76200" y="0"/>
                </a:moveTo>
                <a:lnTo>
                  <a:pt x="5048250" y="0"/>
                </a:lnTo>
                <a:cubicBezTo>
                  <a:pt x="5090334" y="0"/>
                  <a:pt x="5124450" y="34116"/>
                  <a:pt x="5124450" y="76200"/>
                </a:cubicBezTo>
                <a:lnTo>
                  <a:pt x="5124450" y="361950"/>
                </a:lnTo>
                <a:cubicBezTo>
                  <a:pt x="5124450" y="404034"/>
                  <a:pt x="5090334" y="438150"/>
                  <a:pt x="5048250" y="438150"/>
                </a:cubicBezTo>
                <a:lnTo>
                  <a:pt x="76200" y="438150"/>
                </a:lnTo>
                <a:cubicBezTo>
                  <a:pt x="34116" y="438150"/>
                  <a:pt x="0" y="404034"/>
                  <a:pt x="0" y="361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B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49618" y="4657249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现金流匹配度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1522" y="4844891"/>
            <a:ext cx="24962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经营现金流/净利润比值低于 0.6，利润含金量不足</a:t>
            </a:r>
          </a:p>
        </p:txBody>
      </p:sp>
      <p:sp>
        <p:nvSpPr>
          <p:cNvPr id="49" name="Freeform 49"/>
          <p:cNvSpPr/>
          <p:nvPr/>
        </p:nvSpPr>
        <p:spPr>
          <a:xfrm>
            <a:off x="4667250" y="4648200"/>
            <a:ext cx="838200" cy="228600"/>
          </a:xfrm>
          <a:custGeom>
            <a:avLst/>
            <a:gdLst/>
            <a:ahLst/>
            <a:cxnLst/>
            <a:rect l="l" t="t" r="r" b="b"/>
            <a:pathLst>
              <a:path w="838200" h="228600">
                <a:moveTo>
                  <a:pt x="114300" y="0"/>
                </a:moveTo>
                <a:lnTo>
                  <a:pt x="723900" y="0"/>
                </a:lnTo>
                <a:cubicBezTo>
                  <a:pt x="787026" y="0"/>
                  <a:pt x="838200" y="51174"/>
                  <a:pt x="838200" y="114300"/>
                </a:cubicBezTo>
                <a:lnTo>
                  <a:pt x="838200" y="114300"/>
                </a:lnTo>
                <a:cubicBezTo>
                  <a:pt x="838200" y="177426"/>
                  <a:pt x="787026" y="228600"/>
                  <a:pt x="7239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ADBD8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4844844" y="4711541"/>
            <a:ext cx="4830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含金量低</a:t>
            </a:r>
          </a:p>
        </p:txBody>
      </p:sp>
      <p:sp>
        <p:nvSpPr>
          <p:cNvPr id="51" name="Freeform 51"/>
          <p:cNvSpPr/>
          <p:nvPr/>
        </p:nvSpPr>
        <p:spPr>
          <a:xfrm>
            <a:off x="571500" y="5162550"/>
            <a:ext cx="5124450" cy="514350"/>
          </a:xfrm>
          <a:custGeom>
            <a:avLst/>
            <a:gdLst/>
            <a:ahLst/>
            <a:cxnLst/>
            <a:rect l="l" t="t" r="r" b="b"/>
            <a:pathLst>
              <a:path w="5124450" h="514350">
                <a:moveTo>
                  <a:pt x="76200" y="0"/>
                </a:moveTo>
                <a:lnTo>
                  <a:pt x="5048250" y="0"/>
                </a:lnTo>
                <a:cubicBezTo>
                  <a:pt x="5090334" y="0"/>
                  <a:pt x="5124450" y="34116"/>
                  <a:pt x="5124450" y="76200"/>
                </a:cubicBezTo>
                <a:lnTo>
                  <a:pt x="5124450" y="438150"/>
                </a:lnTo>
                <a:cubicBezTo>
                  <a:pt x="5124450" y="480234"/>
                  <a:pt x="5090334" y="514350"/>
                  <a:pt x="5048250" y="514350"/>
                </a:cubicBezTo>
                <a:lnTo>
                  <a:pt x="76200" y="514350"/>
                </a:lnTo>
                <a:cubicBezTo>
                  <a:pt x="34116" y="514350"/>
                  <a:pt x="0" y="480234"/>
                  <a:pt x="0" y="4381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EF9E7"/>
          </a:solidFill>
          <a:ln w="14288">
            <a:solidFill>
              <a:srgbClr val="F39C12"/>
            </a:solidFill>
          </a:ln>
        </p:spPr>
      </p:sp>
      <p:grpSp>
        <p:nvGrpSpPr>
          <p:cNvPr id="54" name="Group 54"/>
          <p:cNvGrpSpPr/>
          <p:nvPr/>
        </p:nvGrpSpPr>
        <p:grpSpPr>
          <a:xfrm>
            <a:off x="754856" y="5307806"/>
            <a:ext cx="166688" cy="166688"/>
            <a:chOff x="754856" y="5307806"/>
            <a:chExt cx="166688" cy="166688"/>
          </a:xfrm>
        </p:grpSpPr>
        <p:sp>
          <p:nvSpPr>
            <p:cNvPr id="52" name="Freeform 52"/>
            <p:cNvSpPr/>
            <p:nvPr/>
          </p:nvSpPr>
          <p:spPr>
            <a:xfrm>
              <a:off x="760809" y="5313759"/>
              <a:ext cx="154781" cy="154781"/>
            </a:xfrm>
            <a:custGeom>
              <a:avLst/>
              <a:gdLst/>
              <a:ahLst/>
              <a:cxnLst/>
              <a:rect l="l" t="t" r="r" b="b"/>
              <a:pathLst>
                <a:path w="154781" h="154781">
                  <a:moveTo>
                    <a:pt x="154781" y="77391"/>
                  </a:moveTo>
                  <a:cubicBezTo>
                    <a:pt x="154781" y="86700"/>
                    <a:pt x="141521" y="93725"/>
                    <a:pt x="137904" y="102461"/>
                  </a:cubicBezTo>
                  <a:cubicBezTo>
                    <a:pt x="134422" y="110884"/>
                    <a:pt x="138961" y="125261"/>
                    <a:pt x="132115" y="132115"/>
                  </a:cubicBezTo>
                  <a:cubicBezTo>
                    <a:pt x="125269" y="138968"/>
                    <a:pt x="110884" y="134422"/>
                    <a:pt x="102461" y="137904"/>
                  </a:cubicBezTo>
                  <a:cubicBezTo>
                    <a:pt x="93762" y="141521"/>
                    <a:pt x="86692" y="154781"/>
                    <a:pt x="77391" y="154781"/>
                  </a:cubicBezTo>
                  <a:cubicBezTo>
                    <a:pt x="68089" y="154781"/>
                    <a:pt x="61020" y="141521"/>
                    <a:pt x="52321" y="137904"/>
                  </a:cubicBezTo>
                  <a:cubicBezTo>
                    <a:pt x="43897" y="134422"/>
                    <a:pt x="29513" y="138961"/>
                    <a:pt x="22667" y="132115"/>
                  </a:cubicBezTo>
                  <a:cubicBezTo>
                    <a:pt x="15820" y="125269"/>
                    <a:pt x="20360" y="110884"/>
                    <a:pt x="16877" y="102461"/>
                  </a:cubicBezTo>
                  <a:cubicBezTo>
                    <a:pt x="13261" y="93762"/>
                    <a:pt x="0" y="86692"/>
                    <a:pt x="0" y="77391"/>
                  </a:cubicBezTo>
                  <a:cubicBezTo>
                    <a:pt x="0" y="68089"/>
                    <a:pt x="13261" y="61020"/>
                    <a:pt x="16877" y="52321"/>
                  </a:cubicBezTo>
                  <a:cubicBezTo>
                    <a:pt x="20360" y="43904"/>
                    <a:pt x="15820" y="29513"/>
                    <a:pt x="22667" y="22667"/>
                  </a:cubicBezTo>
                  <a:cubicBezTo>
                    <a:pt x="29513" y="15820"/>
                    <a:pt x="43904" y="20360"/>
                    <a:pt x="52321" y="16877"/>
                  </a:cubicBezTo>
                  <a:cubicBezTo>
                    <a:pt x="61057" y="13261"/>
                    <a:pt x="68089" y="0"/>
                    <a:pt x="77391" y="0"/>
                  </a:cubicBezTo>
                  <a:cubicBezTo>
                    <a:pt x="86692" y="0"/>
                    <a:pt x="93762" y="13261"/>
                    <a:pt x="102461" y="16877"/>
                  </a:cubicBezTo>
                  <a:cubicBezTo>
                    <a:pt x="110884" y="20360"/>
                    <a:pt x="125269" y="15820"/>
                    <a:pt x="132115" y="22667"/>
                  </a:cubicBezTo>
                  <a:cubicBezTo>
                    <a:pt x="138961" y="29513"/>
                    <a:pt x="134422" y="43897"/>
                    <a:pt x="137904" y="52321"/>
                  </a:cubicBezTo>
                  <a:cubicBezTo>
                    <a:pt x="141521" y="61057"/>
                    <a:pt x="154781" y="68089"/>
                    <a:pt x="154781" y="77391"/>
                  </a:cubicBezTo>
                  <a:close/>
                </a:path>
              </a:pathLst>
            </a:custGeom>
            <a:solidFill>
              <a:srgbClr val="F39C12">
                <a:alpha val="20000"/>
              </a:srgbClr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754856" y="5307806"/>
              <a:ext cx="166688" cy="166688"/>
            </a:xfrm>
            <a:custGeom>
              <a:avLst/>
              <a:gdLst/>
              <a:ahLst/>
              <a:cxnLst/>
              <a:rect l="l" t="t" r="r" b="b"/>
              <a:pathLst>
                <a:path w="166688" h="166688">
                  <a:moveTo>
                    <a:pt x="156165" y="64606"/>
                  </a:moveTo>
                  <a:cubicBezTo>
                    <a:pt x="153360" y="61674"/>
                    <a:pt x="150458" y="58653"/>
                    <a:pt x="149364" y="55997"/>
                  </a:cubicBezTo>
                  <a:cubicBezTo>
                    <a:pt x="148352" y="53563"/>
                    <a:pt x="148292" y="49530"/>
                    <a:pt x="148233" y="45623"/>
                  </a:cubicBezTo>
                  <a:cubicBezTo>
                    <a:pt x="148121" y="38360"/>
                    <a:pt x="148002" y="30130"/>
                    <a:pt x="142280" y="24408"/>
                  </a:cubicBezTo>
                  <a:cubicBezTo>
                    <a:pt x="136557" y="18685"/>
                    <a:pt x="128327" y="18566"/>
                    <a:pt x="121064" y="18455"/>
                  </a:cubicBezTo>
                  <a:cubicBezTo>
                    <a:pt x="117157" y="18395"/>
                    <a:pt x="113124" y="18336"/>
                    <a:pt x="110691" y="17324"/>
                  </a:cubicBezTo>
                  <a:cubicBezTo>
                    <a:pt x="108042" y="16230"/>
                    <a:pt x="105013" y="13328"/>
                    <a:pt x="102081" y="10522"/>
                  </a:cubicBezTo>
                  <a:cubicBezTo>
                    <a:pt x="96947" y="5588"/>
                    <a:pt x="91113" y="0"/>
                    <a:pt x="83344" y="0"/>
                  </a:cubicBezTo>
                  <a:cubicBezTo>
                    <a:pt x="75575" y="0"/>
                    <a:pt x="69748" y="5588"/>
                    <a:pt x="64606" y="10522"/>
                  </a:cubicBezTo>
                  <a:cubicBezTo>
                    <a:pt x="61674" y="13328"/>
                    <a:pt x="58653" y="16230"/>
                    <a:pt x="55997" y="17324"/>
                  </a:cubicBezTo>
                  <a:cubicBezTo>
                    <a:pt x="53578" y="18336"/>
                    <a:pt x="49530" y="18395"/>
                    <a:pt x="45623" y="18455"/>
                  </a:cubicBezTo>
                  <a:cubicBezTo>
                    <a:pt x="38360" y="18566"/>
                    <a:pt x="30130" y="18685"/>
                    <a:pt x="24408" y="24408"/>
                  </a:cubicBezTo>
                  <a:cubicBezTo>
                    <a:pt x="18685" y="30130"/>
                    <a:pt x="18604" y="38360"/>
                    <a:pt x="18455" y="45623"/>
                  </a:cubicBezTo>
                  <a:cubicBezTo>
                    <a:pt x="18395" y="49530"/>
                    <a:pt x="18336" y="53563"/>
                    <a:pt x="17324" y="55997"/>
                  </a:cubicBezTo>
                  <a:cubicBezTo>
                    <a:pt x="16230" y="58646"/>
                    <a:pt x="13328" y="61674"/>
                    <a:pt x="10522" y="64606"/>
                  </a:cubicBezTo>
                  <a:cubicBezTo>
                    <a:pt x="5588" y="69741"/>
                    <a:pt x="0" y="75575"/>
                    <a:pt x="0" y="83344"/>
                  </a:cubicBezTo>
                  <a:cubicBezTo>
                    <a:pt x="0" y="91113"/>
                    <a:pt x="5588" y="96939"/>
                    <a:pt x="10522" y="102081"/>
                  </a:cubicBezTo>
                  <a:cubicBezTo>
                    <a:pt x="13328" y="105013"/>
                    <a:pt x="16230" y="108034"/>
                    <a:pt x="17324" y="110691"/>
                  </a:cubicBezTo>
                  <a:cubicBezTo>
                    <a:pt x="18336" y="113124"/>
                    <a:pt x="18395" y="117157"/>
                    <a:pt x="18455" y="121064"/>
                  </a:cubicBezTo>
                  <a:cubicBezTo>
                    <a:pt x="18566" y="128327"/>
                    <a:pt x="18685" y="136557"/>
                    <a:pt x="24408" y="142280"/>
                  </a:cubicBezTo>
                  <a:cubicBezTo>
                    <a:pt x="30130" y="148002"/>
                    <a:pt x="38360" y="148121"/>
                    <a:pt x="45623" y="148233"/>
                  </a:cubicBezTo>
                  <a:cubicBezTo>
                    <a:pt x="49530" y="148292"/>
                    <a:pt x="53563" y="148352"/>
                    <a:pt x="55997" y="149364"/>
                  </a:cubicBezTo>
                  <a:cubicBezTo>
                    <a:pt x="58646" y="150458"/>
                    <a:pt x="61674" y="153360"/>
                    <a:pt x="64606" y="156165"/>
                  </a:cubicBezTo>
                  <a:cubicBezTo>
                    <a:pt x="69741" y="161099"/>
                    <a:pt x="75575" y="166688"/>
                    <a:pt x="83344" y="166688"/>
                  </a:cubicBezTo>
                  <a:cubicBezTo>
                    <a:pt x="91113" y="166688"/>
                    <a:pt x="96939" y="161099"/>
                    <a:pt x="102081" y="156165"/>
                  </a:cubicBezTo>
                  <a:cubicBezTo>
                    <a:pt x="105013" y="153360"/>
                    <a:pt x="108034" y="150458"/>
                    <a:pt x="110691" y="149364"/>
                  </a:cubicBezTo>
                  <a:cubicBezTo>
                    <a:pt x="113124" y="148352"/>
                    <a:pt x="117157" y="148292"/>
                    <a:pt x="121064" y="148233"/>
                  </a:cubicBezTo>
                  <a:cubicBezTo>
                    <a:pt x="128327" y="148121"/>
                    <a:pt x="136557" y="148002"/>
                    <a:pt x="142280" y="142280"/>
                  </a:cubicBezTo>
                  <a:cubicBezTo>
                    <a:pt x="148002" y="136557"/>
                    <a:pt x="148121" y="128327"/>
                    <a:pt x="148233" y="121064"/>
                  </a:cubicBezTo>
                  <a:cubicBezTo>
                    <a:pt x="148292" y="117157"/>
                    <a:pt x="148352" y="113124"/>
                    <a:pt x="149364" y="110691"/>
                  </a:cubicBezTo>
                  <a:cubicBezTo>
                    <a:pt x="150458" y="108042"/>
                    <a:pt x="153360" y="105013"/>
                    <a:pt x="156165" y="102081"/>
                  </a:cubicBezTo>
                  <a:cubicBezTo>
                    <a:pt x="161099" y="96947"/>
                    <a:pt x="166688" y="91113"/>
                    <a:pt x="166688" y="83344"/>
                  </a:cubicBezTo>
                  <a:cubicBezTo>
                    <a:pt x="166688" y="75575"/>
                    <a:pt x="161099" y="69748"/>
                    <a:pt x="156165" y="64606"/>
                  </a:cubicBezTo>
                  <a:close/>
                  <a:moveTo>
                    <a:pt x="147571" y="93844"/>
                  </a:moveTo>
                  <a:cubicBezTo>
                    <a:pt x="144006" y="97564"/>
                    <a:pt x="140315" y="101411"/>
                    <a:pt x="138358" y="106137"/>
                  </a:cubicBezTo>
                  <a:cubicBezTo>
                    <a:pt x="136483" y="110676"/>
                    <a:pt x="136401" y="115863"/>
                    <a:pt x="136327" y="120886"/>
                  </a:cubicBezTo>
                  <a:cubicBezTo>
                    <a:pt x="136252" y="126095"/>
                    <a:pt x="136170" y="131549"/>
                    <a:pt x="133856" y="133856"/>
                  </a:cubicBezTo>
                  <a:cubicBezTo>
                    <a:pt x="131542" y="136163"/>
                    <a:pt x="126124" y="136252"/>
                    <a:pt x="120886" y="136327"/>
                  </a:cubicBezTo>
                  <a:cubicBezTo>
                    <a:pt x="115863" y="136401"/>
                    <a:pt x="110676" y="136483"/>
                    <a:pt x="106137" y="138358"/>
                  </a:cubicBezTo>
                  <a:cubicBezTo>
                    <a:pt x="101411" y="140315"/>
                    <a:pt x="97564" y="144006"/>
                    <a:pt x="93844" y="147571"/>
                  </a:cubicBezTo>
                  <a:cubicBezTo>
                    <a:pt x="90123" y="151135"/>
                    <a:pt x="86320" y="154781"/>
                    <a:pt x="83344" y="154781"/>
                  </a:cubicBezTo>
                  <a:cubicBezTo>
                    <a:pt x="80367" y="154781"/>
                    <a:pt x="76535" y="151120"/>
                    <a:pt x="72844" y="147571"/>
                  </a:cubicBezTo>
                  <a:cubicBezTo>
                    <a:pt x="69153" y="144021"/>
                    <a:pt x="65276" y="140315"/>
                    <a:pt x="60551" y="138358"/>
                  </a:cubicBezTo>
                  <a:cubicBezTo>
                    <a:pt x="56011" y="136483"/>
                    <a:pt x="50825" y="136401"/>
                    <a:pt x="45802" y="136327"/>
                  </a:cubicBezTo>
                  <a:cubicBezTo>
                    <a:pt x="40593" y="136252"/>
                    <a:pt x="35138" y="136170"/>
                    <a:pt x="32831" y="133856"/>
                  </a:cubicBezTo>
                  <a:cubicBezTo>
                    <a:pt x="30525" y="131542"/>
                    <a:pt x="30435" y="126124"/>
                    <a:pt x="30361" y="120886"/>
                  </a:cubicBezTo>
                  <a:cubicBezTo>
                    <a:pt x="30287" y="115863"/>
                    <a:pt x="30205" y="110676"/>
                    <a:pt x="28329" y="106137"/>
                  </a:cubicBezTo>
                  <a:cubicBezTo>
                    <a:pt x="26372" y="101411"/>
                    <a:pt x="22681" y="97564"/>
                    <a:pt x="19117" y="93844"/>
                  </a:cubicBezTo>
                  <a:cubicBezTo>
                    <a:pt x="15553" y="90123"/>
                    <a:pt x="11906" y="86320"/>
                    <a:pt x="11906" y="83344"/>
                  </a:cubicBezTo>
                  <a:cubicBezTo>
                    <a:pt x="11906" y="80367"/>
                    <a:pt x="15567" y="76535"/>
                    <a:pt x="19117" y="72844"/>
                  </a:cubicBezTo>
                  <a:cubicBezTo>
                    <a:pt x="22667" y="69153"/>
                    <a:pt x="26372" y="65276"/>
                    <a:pt x="28329" y="60551"/>
                  </a:cubicBezTo>
                  <a:cubicBezTo>
                    <a:pt x="30205" y="56011"/>
                    <a:pt x="30287" y="50825"/>
                    <a:pt x="30361" y="45802"/>
                  </a:cubicBezTo>
                  <a:cubicBezTo>
                    <a:pt x="30435" y="40593"/>
                    <a:pt x="30517" y="35138"/>
                    <a:pt x="32831" y="32831"/>
                  </a:cubicBezTo>
                  <a:cubicBezTo>
                    <a:pt x="35146" y="30525"/>
                    <a:pt x="40563" y="30435"/>
                    <a:pt x="45802" y="30361"/>
                  </a:cubicBezTo>
                  <a:cubicBezTo>
                    <a:pt x="50825" y="30287"/>
                    <a:pt x="56011" y="30205"/>
                    <a:pt x="60551" y="28329"/>
                  </a:cubicBezTo>
                  <a:cubicBezTo>
                    <a:pt x="65276" y="26372"/>
                    <a:pt x="69123" y="22681"/>
                    <a:pt x="72844" y="19117"/>
                  </a:cubicBezTo>
                  <a:cubicBezTo>
                    <a:pt x="76565" y="15553"/>
                    <a:pt x="80367" y="11906"/>
                    <a:pt x="83344" y="11906"/>
                  </a:cubicBezTo>
                  <a:cubicBezTo>
                    <a:pt x="86320" y="11906"/>
                    <a:pt x="90153" y="15567"/>
                    <a:pt x="93844" y="19117"/>
                  </a:cubicBezTo>
                  <a:cubicBezTo>
                    <a:pt x="97535" y="22667"/>
                    <a:pt x="101411" y="26372"/>
                    <a:pt x="106137" y="28329"/>
                  </a:cubicBezTo>
                  <a:cubicBezTo>
                    <a:pt x="110676" y="30205"/>
                    <a:pt x="115863" y="30287"/>
                    <a:pt x="120886" y="30361"/>
                  </a:cubicBezTo>
                  <a:cubicBezTo>
                    <a:pt x="126095" y="30435"/>
                    <a:pt x="131549" y="30517"/>
                    <a:pt x="133856" y="32831"/>
                  </a:cubicBezTo>
                  <a:cubicBezTo>
                    <a:pt x="136163" y="35146"/>
                    <a:pt x="136252" y="40563"/>
                    <a:pt x="136327" y="45802"/>
                  </a:cubicBezTo>
                  <a:cubicBezTo>
                    <a:pt x="136401" y="50825"/>
                    <a:pt x="136483" y="56011"/>
                    <a:pt x="138358" y="60551"/>
                  </a:cubicBezTo>
                  <a:cubicBezTo>
                    <a:pt x="140315" y="65276"/>
                    <a:pt x="144006" y="69123"/>
                    <a:pt x="147571" y="72844"/>
                  </a:cubicBezTo>
                  <a:cubicBezTo>
                    <a:pt x="151135" y="76565"/>
                    <a:pt x="154781" y="80367"/>
                    <a:pt x="154781" y="83344"/>
                  </a:cubicBezTo>
                  <a:cubicBezTo>
                    <a:pt x="154781" y="86320"/>
                    <a:pt x="151120" y="90153"/>
                    <a:pt x="147571" y="93844"/>
                  </a:cubicBezTo>
                  <a:close/>
                  <a:moveTo>
                    <a:pt x="77391" y="89297"/>
                  </a:moveTo>
                  <a:lnTo>
                    <a:pt x="77391" y="47625"/>
                  </a:lnTo>
                  <a:cubicBezTo>
                    <a:pt x="77391" y="44337"/>
                    <a:pt x="80056" y="41672"/>
                    <a:pt x="83344" y="41672"/>
                  </a:cubicBezTo>
                  <a:cubicBezTo>
                    <a:pt x="86632" y="41672"/>
                    <a:pt x="89297" y="44337"/>
                    <a:pt x="89297" y="47625"/>
                  </a:cubicBezTo>
                  <a:lnTo>
                    <a:pt x="89297" y="89297"/>
                  </a:lnTo>
                  <a:cubicBezTo>
                    <a:pt x="89297" y="92585"/>
                    <a:pt x="86632" y="95250"/>
                    <a:pt x="83344" y="95250"/>
                  </a:cubicBezTo>
                  <a:cubicBezTo>
                    <a:pt x="80056" y="95250"/>
                    <a:pt x="77391" y="92585"/>
                    <a:pt x="77391" y="89297"/>
                  </a:cubicBezTo>
                  <a:close/>
                  <a:moveTo>
                    <a:pt x="92273" y="116086"/>
                  </a:moveTo>
                  <a:cubicBezTo>
                    <a:pt x="92273" y="121018"/>
                    <a:pt x="88275" y="125016"/>
                    <a:pt x="83344" y="125016"/>
                  </a:cubicBezTo>
                  <a:cubicBezTo>
                    <a:pt x="78412" y="125016"/>
                    <a:pt x="74414" y="121018"/>
                    <a:pt x="74414" y="116086"/>
                  </a:cubicBezTo>
                  <a:cubicBezTo>
                    <a:pt x="74414" y="111154"/>
                    <a:pt x="78412" y="107156"/>
                    <a:pt x="83344" y="107156"/>
                  </a:cubicBezTo>
                  <a:cubicBezTo>
                    <a:pt x="88275" y="107156"/>
                    <a:pt x="92273" y="111154"/>
                    <a:pt x="92273" y="116086"/>
                  </a:cubicBezTo>
                  <a:close/>
                </a:path>
              </a:pathLst>
            </a:custGeom>
            <a:solidFill>
              <a:srgbClr val="F39C12"/>
            </a:solidFill>
            <a:ln>
              <a:noFill/>
            </a:ln>
          </p:spPr>
        </p:sp>
      </p:grpSp>
      <p:sp>
        <p:nvSpPr>
          <p:cNvPr id="55" name="TextBox 55"/>
          <p:cNvSpPr txBox="1"/>
          <p:nvPr/>
        </p:nvSpPr>
        <p:spPr>
          <a:xfrm>
            <a:off x="1016318" y="5209699"/>
            <a:ext cx="20725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E67E22"/>
                </a:solidFill>
                <a:latin typeface="Arial"/>
                <a:ea typeface="Microsoft YaHei"/>
                <a:cs typeface="Arial"/>
              </a:rPr>
              <a:t>结论：成长性表面良好，实质存忧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18222" y="5435441"/>
            <a:ext cx="28813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收入增长掩盖了利润质量下滑、现金流不匹配等结构性问题</a:t>
            </a:r>
          </a:p>
        </p:txBody>
      </p:sp>
      <p:sp>
        <p:nvSpPr>
          <p:cNvPr id="57" name="Freeform 57"/>
          <p:cNvSpPr/>
          <p:nvPr/>
        </p:nvSpPr>
        <p:spPr>
          <a:xfrm>
            <a:off x="571500" y="5753100"/>
            <a:ext cx="5124450" cy="76200"/>
          </a:xfrm>
          <a:custGeom>
            <a:avLst/>
            <a:gdLst/>
            <a:ahLst/>
            <a:cxnLst/>
            <a:rect l="l" t="t" r="r" b="b"/>
            <a:pathLst>
              <a:path w="5124450" h="76200">
                <a:moveTo>
                  <a:pt x="38100" y="0"/>
                </a:moveTo>
                <a:lnTo>
                  <a:pt x="5086350" y="0"/>
                </a:lnTo>
                <a:cubicBezTo>
                  <a:pt x="5107392" y="0"/>
                  <a:pt x="5124450" y="17058"/>
                  <a:pt x="5124450" y="38100"/>
                </a:cubicBezTo>
                <a:lnTo>
                  <a:pt x="5124450" y="38100"/>
                </a:lnTo>
                <a:cubicBezTo>
                  <a:pt x="5124450" y="59142"/>
                  <a:pt x="5107392" y="76200"/>
                  <a:pt x="5086350" y="76200"/>
                </a:cubicBezTo>
                <a:lnTo>
                  <a:pt x="38100" y="76200"/>
                </a:lnTo>
                <a:cubicBezTo>
                  <a:pt x="17058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CF0F1"/>
          </a:solidFill>
          <a:ln>
            <a:noFill/>
          </a:ln>
        </p:spPr>
      </p:sp>
      <p:sp>
        <p:nvSpPr>
          <p:cNvPr id="58" name="Freeform 58"/>
          <p:cNvSpPr/>
          <p:nvPr/>
        </p:nvSpPr>
        <p:spPr>
          <a:xfrm>
            <a:off x="571500" y="5753100"/>
            <a:ext cx="2819400" cy="76200"/>
          </a:xfrm>
          <a:custGeom>
            <a:avLst/>
            <a:gdLst/>
            <a:ahLst/>
            <a:cxnLst/>
            <a:rect l="l" t="t" r="r" b="b"/>
            <a:pathLst>
              <a:path w="2819400" h="76200">
                <a:moveTo>
                  <a:pt x="38100" y="0"/>
                </a:moveTo>
                <a:lnTo>
                  <a:pt x="2781300" y="0"/>
                </a:lnTo>
                <a:cubicBezTo>
                  <a:pt x="2802342" y="0"/>
                  <a:pt x="2819400" y="17058"/>
                  <a:pt x="2819400" y="38100"/>
                </a:cubicBezTo>
                <a:lnTo>
                  <a:pt x="2819400" y="38100"/>
                </a:lnTo>
                <a:cubicBezTo>
                  <a:pt x="2819400" y="59142"/>
                  <a:pt x="2802342" y="76200"/>
                  <a:pt x="2781300" y="76200"/>
                </a:cubicBezTo>
                <a:lnTo>
                  <a:pt x="38100" y="76200"/>
                </a:lnTo>
                <a:cubicBezTo>
                  <a:pt x="17058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E74C3C"/>
              </a:gs>
              <a:gs pos="100000">
                <a:srgbClr val="F39C12"/>
              </a:gs>
            </a:gsLst>
            <a:lin ang="0" scaled="1"/>
          </a:gra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561022" y="5854541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成长性评分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613780" y="5838349"/>
            <a:ext cx="5230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E67E22"/>
                </a:solidFill>
                <a:latin typeface="Arial"/>
                <a:ea typeface="Microsoft YaHei"/>
                <a:cs typeface="Arial"/>
              </a:rPr>
              <a:t>5.5 / 10</a:t>
            </a:r>
          </a:p>
        </p:txBody>
      </p:sp>
      <p:sp>
        <p:nvSpPr>
          <p:cNvPr id="61" name="Rectangle 61"/>
          <p:cNvSpPr/>
          <p:nvPr/>
        </p:nvSpPr>
        <p:spPr>
          <a:xfrm>
            <a:off x="381000" y="6286500"/>
            <a:ext cx="5505450" cy="190500"/>
          </a:xfrm>
          <a:prstGeom prst="rect">
            <a:avLst/>
          </a:prstGeom>
          <a:solidFill>
            <a:srgbClr val="1ABC9C">
              <a:alpha val="6000"/>
            </a:srgbClr>
          </a:solidFill>
          <a:ln>
            <a:noFill/>
          </a:ln>
        </p:spPr>
      </p:sp>
      <p:sp>
        <p:nvSpPr>
          <p:cNvPr id="62" name="Freeform 62"/>
          <p:cNvSpPr/>
          <p:nvPr/>
        </p:nvSpPr>
        <p:spPr>
          <a:xfrm>
            <a:off x="381000" y="6286500"/>
            <a:ext cx="5505450" cy="28575"/>
          </a:xfrm>
          <a:custGeom>
            <a:avLst/>
            <a:gdLst/>
            <a:ahLst/>
            <a:cxnLst/>
            <a:rect l="l" t="t" r="r" b="b"/>
            <a:pathLst>
              <a:path w="5505450" h="28575">
                <a:moveTo>
                  <a:pt x="14288" y="0"/>
                </a:moveTo>
                <a:lnTo>
                  <a:pt x="5491162" y="0"/>
                </a:lnTo>
                <a:cubicBezTo>
                  <a:pt x="5499053" y="0"/>
                  <a:pt x="5505450" y="6397"/>
                  <a:pt x="5505450" y="14288"/>
                </a:cubicBezTo>
                <a:lnTo>
                  <a:pt x="5505450" y="14288"/>
                </a:lnTo>
                <a:cubicBezTo>
                  <a:pt x="5505450" y="22178"/>
                  <a:pt x="5499053" y="28575"/>
                  <a:pt x="549116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1ABC9C">
              <a:alpha val="15000"/>
            </a:srgbClr>
          </a:solidFill>
          <a:ln>
            <a:noFill/>
          </a:ln>
        </p:spPr>
      </p:sp>
      <p:sp>
        <p:nvSpPr>
          <p:cNvPr id="63" name="Freeform 63"/>
          <p:cNvSpPr/>
          <p:nvPr/>
        </p:nvSpPr>
        <p:spPr>
          <a:xfrm>
            <a:off x="6038850" y="952500"/>
            <a:ext cx="28575" cy="5524500"/>
          </a:xfrm>
          <a:custGeom>
            <a:avLst/>
            <a:gdLst/>
            <a:ahLst/>
            <a:cxnLst/>
            <a:rect l="l" t="t" r="r" b="b"/>
            <a:pathLst>
              <a:path w="28575" h="5524500">
                <a:moveTo>
                  <a:pt x="14288" y="0"/>
                </a:moveTo>
                <a:lnTo>
                  <a:pt x="14288" y="0"/>
                </a:lnTo>
                <a:cubicBezTo>
                  <a:pt x="22178" y="0"/>
                  <a:pt x="28575" y="6397"/>
                  <a:pt x="28575" y="14288"/>
                </a:cubicBezTo>
                <a:lnTo>
                  <a:pt x="28575" y="5510212"/>
                </a:lnTo>
                <a:cubicBezTo>
                  <a:pt x="28575" y="5518103"/>
                  <a:pt x="22178" y="5524500"/>
                  <a:pt x="14288" y="5524500"/>
                </a:cubicBezTo>
                <a:lnTo>
                  <a:pt x="14288" y="5524500"/>
                </a:lnTo>
                <a:cubicBezTo>
                  <a:pt x="6397" y="5524500"/>
                  <a:pt x="0" y="5518103"/>
                  <a:pt x="0" y="5510212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gradFill>
            <a:gsLst>
              <a:gs pos="0">
                <a:srgbClr val="48CAE4">
                  <a:alpha val="0"/>
                </a:srgbClr>
              </a:gs>
              <a:gs pos="50000">
                <a:srgbClr val="48CAE4">
                  <a:alpha val="60000"/>
                </a:srgbClr>
              </a:gs>
              <a:gs pos="100000">
                <a:srgbClr val="48CAE4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64" name="Freeform 64"/>
          <p:cNvSpPr/>
          <p:nvPr/>
        </p:nvSpPr>
        <p:spPr>
          <a:xfrm>
            <a:off x="6305550" y="952500"/>
            <a:ext cx="5505450" cy="5524500"/>
          </a:xfrm>
          <a:custGeom>
            <a:avLst/>
            <a:gdLst/>
            <a:ahLst/>
            <a:cxnLst/>
            <a:rect l="l" t="t" r="r" b="b"/>
            <a:pathLst>
              <a:path w="5505450" h="5524500">
                <a:moveTo>
                  <a:pt x="133350" y="0"/>
                </a:moveTo>
                <a:lnTo>
                  <a:pt x="5372100" y="0"/>
                </a:lnTo>
                <a:cubicBezTo>
                  <a:pt x="5445747" y="0"/>
                  <a:pt x="5505450" y="59703"/>
                  <a:pt x="5505450" y="133350"/>
                </a:cubicBezTo>
                <a:lnTo>
                  <a:pt x="5505450" y="5391150"/>
                </a:lnTo>
                <a:cubicBezTo>
                  <a:pt x="5505450" y="5464797"/>
                  <a:pt x="5445747" y="5524500"/>
                  <a:pt x="5372100" y="5524500"/>
                </a:cubicBezTo>
                <a:lnTo>
                  <a:pt x="133350" y="5524500"/>
                </a:lnTo>
                <a:cubicBezTo>
                  <a:pt x="59703" y="5524500"/>
                  <a:pt x="0" y="5464797"/>
                  <a:pt x="0" y="5391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14300" dist="28575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65" name="Freeform 65"/>
          <p:cNvSpPr/>
          <p:nvPr/>
        </p:nvSpPr>
        <p:spPr>
          <a:xfrm>
            <a:off x="6305550" y="952500"/>
            <a:ext cx="5505450" cy="609600"/>
          </a:xfrm>
          <a:custGeom>
            <a:avLst/>
            <a:gdLst/>
            <a:ahLst/>
            <a:cxnLst/>
            <a:rect l="l" t="t" r="r" b="b"/>
            <a:pathLst>
              <a:path w="5505450" h="609600">
                <a:moveTo>
                  <a:pt x="133350" y="0"/>
                </a:moveTo>
                <a:lnTo>
                  <a:pt x="5372100" y="0"/>
                </a:lnTo>
                <a:cubicBezTo>
                  <a:pt x="5445747" y="0"/>
                  <a:pt x="5505450" y="59703"/>
                  <a:pt x="5505450" y="133350"/>
                </a:cubicBezTo>
                <a:lnTo>
                  <a:pt x="5505450" y="476250"/>
                </a:lnTo>
                <a:cubicBezTo>
                  <a:pt x="5505450" y="549897"/>
                  <a:pt x="5445747" y="609600"/>
                  <a:pt x="5372100" y="609600"/>
                </a:cubicBezTo>
                <a:lnTo>
                  <a:pt x="133350" y="609600"/>
                </a:lnTo>
                <a:cubicBezTo>
                  <a:pt x="59703" y="609600"/>
                  <a:pt x="0" y="549897"/>
                  <a:pt x="0" y="4762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3498DB">
              <a:alpha val="10000"/>
            </a:srgbClr>
          </a:solidFill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6305550" y="1428750"/>
            <a:ext cx="5505450" cy="133350"/>
          </a:xfrm>
          <a:prstGeom prst="rect">
            <a:avLst/>
          </a:prstGeom>
          <a:solidFill>
            <a:srgbClr val="3498DB">
              <a:alpha val="6000"/>
            </a:srgbClr>
          </a:solidFill>
          <a:ln>
            <a:noFill/>
          </a:ln>
        </p:spPr>
      </p:sp>
      <p:sp>
        <p:nvSpPr>
          <p:cNvPr id="67" name="Freeform 67"/>
          <p:cNvSpPr/>
          <p:nvPr/>
        </p:nvSpPr>
        <p:spPr>
          <a:xfrm>
            <a:off x="6551343" y="1146175"/>
            <a:ext cx="232303" cy="222369"/>
          </a:xfrm>
          <a:custGeom>
            <a:avLst/>
            <a:gdLst/>
            <a:ahLst/>
            <a:cxnLst/>
            <a:rect l="l" t="t" r="r" b="b"/>
            <a:pathLst>
              <a:path w="232303" h="222369">
                <a:moveTo>
                  <a:pt x="116134" y="0"/>
                </a:moveTo>
                <a:lnTo>
                  <a:pt x="117446" y="78"/>
                </a:lnTo>
                <a:lnTo>
                  <a:pt x="118101" y="167"/>
                </a:lnTo>
                <a:lnTo>
                  <a:pt x="118779" y="311"/>
                </a:lnTo>
                <a:lnTo>
                  <a:pt x="120013" y="689"/>
                </a:lnTo>
                <a:cubicBezTo>
                  <a:pt x="120865" y="1003"/>
                  <a:pt x="121675" y="1421"/>
                  <a:pt x="122424" y="1934"/>
                </a:cubicBezTo>
                <a:lnTo>
                  <a:pt x="123580" y="2845"/>
                </a:lnTo>
                <a:lnTo>
                  <a:pt x="126414" y="5267"/>
                </a:lnTo>
                <a:cubicBezTo>
                  <a:pt x="148831" y="23887"/>
                  <a:pt x="177163" y="33885"/>
                  <a:pt x="206301" y="33460"/>
                </a:cubicBezTo>
                <a:lnTo>
                  <a:pt x="210102" y="33349"/>
                </a:lnTo>
                <a:cubicBezTo>
                  <a:pt x="215215" y="33115"/>
                  <a:pt x="219827" y="36405"/>
                  <a:pt x="221270" y="41316"/>
                </a:cubicBezTo>
                <a:cubicBezTo>
                  <a:pt x="232303" y="78846"/>
                  <a:pt x="227644" y="119246"/>
                  <a:pt x="208359" y="153280"/>
                </a:cubicBezTo>
                <a:cubicBezTo>
                  <a:pt x="189074" y="187314"/>
                  <a:pt x="156811" y="212072"/>
                  <a:pt x="118946" y="221894"/>
                </a:cubicBezTo>
                <a:cubicBezTo>
                  <a:pt x="117117" y="222369"/>
                  <a:pt x="115197" y="222369"/>
                  <a:pt x="113367" y="221894"/>
                </a:cubicBezTo>
                <a:cubicBezTo>
                  <a:pt x="75501" y="212074"/>
                  <a:pt x="43235" y="187317"/>
                  <a:pt x="23948" y="153283"/>
                </a:cubicBezTo>
                <a:cubicBezTo>
                  <a:pt x="4660" y="119249"/>
                  <a:pt x="0" y="78848"/>
                  <a:pt x="11032" y="41316"/>
                </a:cubicBezTo>
                <a:cubicBezTo>
                  <a:pt x="12476" y="36405"/>
                  <a:pt x="17087" y="33115"/>
                  <a:pt x="22200" y="33349"/>
                </a:cubicBezTo>
                <a:cubicBezTo>
                  <a:pt x="52621" y="34739"/>
                  <a:pt x="82464" y="24725"/>
                  <a:pt x="105889" y="5267"/>
                </a:cubicBezTo>
                <a:lnTo>
                  <a:pt x="108811" y="2767"/>
                </a:lnTo>
                <a:lnTo>
                  <a:pt x="109878" y="1934"/>
                </a:lnTo>
                <a:cubicBezTo>
                  <a:pt x="110628" y="1421"/>
                  <a:pt x="111438" y="1003"/>
                  <a:pt x="112290" y="689"/>
                </a:cubicBezTo>
                <a:lnTo>
                  <a:pt x="113534" y="311"/>
                </a:lnTo>
                <a:cubicBezTo>
                  <a:pt x="113970" y="206"/>
                  <a:pt x="114411" y="128"/>
                  <a:pt x="114857" y="78"/>
                </a:cubicBezTo>
                <a:lnTo>
                  <a:pt x="116134" y="0"/>
                </a:lnTo>
                <a:close/>
                <a:moveTo>
                  <a:pt x="157362" y="81043"/>
                </a:moveTo>
                <a:cubicBezTo>
                  <a:pt x="155277" y="78957"/>
                  <a:pt x="152449" y="77784"/>
                  <a:pt x="149500" y="77784"/>
                </a:cubicBezTo>
                <a:cubicBezTo>
                  <a:pt x="146550" y="77784"/>
                  <a:pt x="143722" y="78957"/>
                  <a:pt x="141638" y="81043"/>
                </a:cubicBezTo>
                <a:lnTo>
                  <a:pt x="105044" y="117626"/>
                </a:lnTo>
                <a:lnTo>
                  <a:pt x="90676" y="103268"/>
                </a:lnTo>
                <a:lnTo>
                  <a:pt x="89631" y="102346"/>
                </a:lnTo>
                <a:cubicBezTo>
                  <a:pt x="84996" y="98762"/>
                  <a:pt x="78374" y="99393"/>
                  <a:pt x="74499" y="103788"/>
                </a:cubicBezTo>
                <a:cubicBezTo>
                  <a:pt x="70623" y="108183"/>
                  <a:pt x="70826" y="114831"/>
                  <a:pt x="74963" y="118982"/>
                </a:cubicBezTo>
                <a:lnTo>
                  <a:pt x="97188" y="141207"/>
                </a:lnTo>
                <a:lnTo>
                  <a:pt x="98232" y="142129"/>
                </a:lnTo>
                <a:cubicBezTo>
                  <a:pt x="102656" y="145560"/>
                  <a:pt x="108942" y="145165"/>
                  <a:pt x="112901" y="141207"/>
                </a:cubicBezTo>
                <a:lnTo>
                  <a:pt x="157351" y="96757"/>
                </a:lnTo>
                <a:lnTo>
                  <a:pt x="158273" y="95712"/>
                </a:lnTo>
                <a:cubicBezTo>
                  <a:pt x="161705" y="91288"/>
                  <a:pt x="161309" y="85002"/>
                  <a:pt x="157351" y="81043"/>
                </a:cubicBezTo>
                <a:close/>
              </a:path>
            </a:pathLst>
          </a:custGeom>
          <a:solidFill>
            <a:srgbClr val="3498DB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6877050" y="1171575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498DB"/>
                </a:solidFill>
                <a:latin typeface="Arial"/>
                <a:ea typeface="Microsoft YaHei"/>
                <a:cs typeface="Arial"/>
              </a:rPr>
              <a:t>安全性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772460" y="1228249"/>
            <a:ext cx="16889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3498DB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Safety / Security Analysis</a:t>
            </a:r>
          </a:p>
        </p:txBody>
      </p:sp>
      <p:sp>
        <p:nvSpPr>
          <p:cNvPr id="70" name="Freeform 70"/>
          <p:cNvSpPr/>
          <p:nvPr/>
        </p:nvSpPr>
        <p:spPr>
          <a:xfrm>
            <a:off x="6496050" y="1619250"/>
            <a:ext cx="1190625" cy="647700"/>
          </a:xfrm>
          <a:custGeom>
            <a:avLst/>
            <a:gdLst/>
            <a:ahLst/>
            <a:cxnLst/>
            <a:rect l="l" t="t" r="r" b="b"/>
            <a:pathLst>
              <a:path w="1190625" h="647700">
                <a:moveTo>
                  <a:pt x="76200" y="0"/>
                </a:moveTo>
                <a:lnTo>
                  <a:pt x="1114425" y="0"/>
                </a:lnTo>
                <a:cubicBezTo>
                  <a:pt x="1156509" y="0"/>
                  <a:pt x="1190625" y="34116"/>
                  <a:pt x="1190625" y="76200"/>
                </a:cubicBezTo>
                <a:lnTo>
                  <a:pt x="1190625" y="571500"/>
                </a:lnTo>
                <a:cubicBezTo>
                  <a:pt x="1190625" y="613584"/>
                  <a:pt x="1156509" y="647700"/>
                  <a:pt x="1114425" y="647700"/>
                </a:cubicBezTo>
                <a:lnTo>
                  <a:pt x="76200" y="647700"/>
                </a:lnTo>
                <a:cubicBezTo>
                  <a:pt x="34116" y="647700"/>
                  <a:pt x="0" y="613584"/>
                  <a:pt x="0" y="5715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BF5FB"/>
          </a:solidFill>
          <a:ln>
            <a:noFill/>
          </a:ln>
          <a:effectLst>
            <a:outerShdw blurRad="76200" dist="19050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71" name="TextBox 71"/>
          <p:cNvSpPr txBox="1"/>
          <p:nvPr/>
        </p:nvSpPr>
        <p:spPr>
          <a:xfrm>
            <a:off x="6801088" y="1758791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资产负债率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747980" y="1936432"/>
            <a:ext cx="67723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CC71"/>
                </a:solidFill>
                <a:latin typeface="Arial"/>
                <a:ea typeface="Microsoft YaHei"/>
                <a:cs typeface="Arial"/>
              </a:rPr>
              <a:t>42.3%</a:t>
            </a:r>
          </a:p>
        </p:txBody>
      </p:sp>
      <p:sp>
        <p:nvSpPr>
          <p:cNvPr id="73" name="Freeform 73"/>
          <p:cNvSpPr/>
          <p:nvPr/>
        </p:nvSpPr>
        <p:spPr>
          <a:xfrm>
            <a:off x="7810500" y="1619250"/>
            <a:ext cx="1190625" cy="647700"/>
          </a:xfrm>
          <a:custGeom>
            <a:avLst/>
            <a:gdLst/>
            <a:ahLst/>
            <a:cxnLst/>
            <a:rect l="l" t="t" r="r" b="b"/>
            <a:pathLst>
              <a:path w="1190625" h="647700">
                <a:moveTo>
                  <a:pt x="76200" y="0"/>
                </a:moveTo>
                <a:lnTo>
                  <a:pt x="1114425" y="0"/>
                </a:lnTo>
                <a:cubicBezTo>
                  <a:pt x="1156509" y="0"/>
                  <a:pt x="1190625" y="34116"/>
                  <a:pt x="1190625" y="76200"/>
                </a:cubicBezTo>
                <a:lnTo>
                  <a:pt x="1190625" y="571500"/>
                </a:lnTo>
                <a:cubicBezTo>
                  <a:pt x="1190625" y="613584"/>
                  <a:pt x="1156509" y="647700"/>
                  <a:pt x="1114425" y="647700"/>
                </a:cubicBezTo>
                <a:lnTo>
                  <a:pt x="76200" y="647700"/>
                </a:lnTo>
                <a:cubicBezTo>
                  <a:pt x="34116" y="647700"/>
                  <a:pt x="0" y="613584"/>
                  <a:pt x="0" y="5715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BF5FB"/>
          </a:solidFill>
          <a:ln>
            <a:noFill/>
          </a:ln>
          <a:effectLst>
            <a:outerShdw blurRad="76200" dist="19050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74" name="TextBox 74"/>
          <p:cNvSpPr txBox="1"/>
          <p:nvPr/>
        </p:nvSpPr>
        <p:spPr>
          <a:xfrm>
            <a:off x="8170545" y="1758791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流动比率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154842" y="1936432"/>
            <a:ext cx="49241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CC71"/>
                </a:solidFill>
                <a:latin typeface="Arial"/>
                <a:ea typeface="Microsoft YaHei"/>
                <a:cs typeface="Arial"/>
              </a:rPr>
              <a:t>2.15</a:t>
            </a:r>
          </a:p>
        </p:txBody>
      </p:sp>
      <p:sp>
        <p:nvSpPr>
          <p:cNvPr id="76" name="Freeform 76"/>
          <p:cNvSpPr/>
          <p:nvPr/>
        </p:nvSpPr>
        <p:spPr>
          <a:xfrm>
            <a:off x="9124950" y="1619250"/>
            <a:ext cx="1190625" cy="647700"/>
          </a:xfrm>
          <a:custGeom>
            <a:avLst/>
            <a:gdLst/>
            <a:ahLst/>
            <a:cxnLst/>
            <a:rect l="l" t="t" r="r" b="b"/>
            <a:pathLst>
              <a:path w="1190625" h="647700">
                <a:moveTo>
                  <a:pt x="76200" y="0"/>
                </a:moveTo>
                <a:lnTo>
                  <a:pt x="1114425" y="0"/>
                </a:lnTo>
                <a:cubicBezTo>
                  <a:pt x="1156509" y="0"/>
                  <a:pt x="1190625" y="34116"/>
                  <a:pt x="1190625" y="76200"/>
                </a:cubicBezTo>
                <a:lnTo>
                  <a:pt x="1190625" y="571500"/>
                </a:lnTo>
                <a:cubicBezTo>
                  <a:pt x="1190625" y="613584"/>
                  <a:pt x="1156509" y="647700"/>
                  <a:pt x="1114425" y="647700"/>
                </a:cubicBezTo>
                <a:lnTo>
                  <a:pt x="76200" y="647700"/>
                </a:lnTo>
                <a:cubicBezTo>
                  <a:pt x="34116" y="647700"/>
                  <a:pt x="0" y="613584"/>
                  <a:pt x="0" y="5715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BF5FB"/>
          </a:solidFill>
          <a:ln>
            <a:noFill/>
          </a:ln>
          <a:effectLst>
            <a:outerShdw blurRad="76200" dist="19050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77" name="TextBox 77"/>
          <p:cNvSpPr txBox="1"/>
          <p:nvPr/>
        </p:nvSpPr>
        <p:spPr>
          <a:xfrm>
            <a:off x="9484995" y="1758791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现金比率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9440413" y="1936432"/>
            <a:ext cx="55017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CC71"/>
                </a:solidFill>
                <a:latin typeface="Arial"/>
                <a:ea typeface="Microsoft YaHei"/>
                <a:cs typeface="Arial"/>
              </a:rPr>
              <a:t>0.83</a:t>
            </a:r>
          </a:p>
        </p:txBody>
      </p:sp>
      <p:sp>
        <p:nvSpPr>
          <p:cNvPr id="79" name="Freeform 79"/>
          <p:cNvSpPr/>
          <p:nvPr/>
        </p:nvSpPr>
        <p:spPr>
          <a:xfrm>
            <a:off x="10439400" y="1619250"/>
            <a:ext cx="1190625" cy="647700"/>
          </a:xfrm>
          <a:custGeom>
            <a:avLst/>
            <a:gdLst/>
            <a:ahLst/>
            <a:cxnLst/>
            <a:rect l="l" t="t" r="r" b="b"/>
            <a:pathLst>
              <a:path w="1190625" h="647700">
                <a:moveTo>
                  <a:pt x="76200" y="0"/>
                </a:moveTo>
                <a:lnTo>
                  <a:pt x="1114425" y="0"/>
                </a:lnTo>
                <a:cubicBezTo>
                  <a:pt x="1156509" y="0"/>
                  <a:pt x="1190625" y="34116"/>
                  <a:pt x="1190625" y="76200"/>
                </a:cubicBezTo>
                <a:lnTo>
                  <a:pt x="1190625" y="571500"/>
                </a:lnTo>
                <a:cubicBezTo>
                  <a:pt x="1190625" y="613584"/>
                  <a:pt x="1156509" y="647700"/>
                  <a:pt x="1114425" y="647700"/>
                </a:cubicBezTo>
                <a:lnTo>
                  <a:pt x="76200" y="647700"/>
                </a:lnTo>
                <a:cubicBezTo>
                  <a:pt x="34116" y="647700"/>
                  <a:pt x="0" y="613584"/>
                  <a:pt x="0" y="5715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BF5FB"/>
          </a:solidFill>
          <a:ln>
            <a:noFill/>
          </a:ln>
          <a:effectLst>
            <a:outerShdw blurRad="76200" dist="19050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80" name="TextBox 80"/>
          <p:cNvSpPr txBox="1"/>
          <p:nvPr/>
        </p:nvSpPr>
        <p:spPr>
          <a:xfrm>
            <a:off x="10689431" y="1758791"/>
            <a:ext cx="6810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利息保障倍数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754863" y="1936432"/>
            <a:ext cx="55017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CC71"/>
                </a:solidFill>
                <a:latin typeface="Arial"/>
                <a:ea typeface="Microsoft YaHei"/>
                <a:cs typeface="Arial"/>
              </a:rPr>
              <a:t>8.5x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481762" y="245030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关键安全维度评估</a:t>
            </a:r>
          </a:p>
        </p:txBody>
      </p:sp>
      <p:sp>
        <p:nvSpPr>
          <p:cNvPr id="83" name="Freeform 83"/>
          <p:cNvSpPr/>
          <p:nvPr/>
        </p:nvSpPr>
        <p:spPr>
          <a:xfrm>
            <a:off x="6496050" y="2705100"/>
            <a:ext cx="5124450" cy="781050"/>
          </a:xfrm>
          <a:custGeom>
            <a:avLst/>
            <a:gdLst/>
            <a:ahLst/>
            <a:cxnLst/>
            <a:rect l="l" t="t" r="r" b="b"/>
            <a:pathLst>
              <a:path w="5124450" h="781050">
                <a:moveTo>
                  <a:pt x="95250" y="0"/>
                </a:moveTo>
                <a:lnTo>
                  <a:pt x="5029200" y="0"/>
                </a:lnTo>
                <a:cubicBezTo>
                  <a:pt x="5081805" y="0"/>
                  <a:pt x="5124450" y="42645"/>
                  <a:pt x="5124450" y="95250"/>
                </a:cubicBezTo>
                <a:lnTo>
                  <a:pt x="5124450" y="685800"/>
                </a:lnTo>
                <a:cubicBezTo>
                  <a:pt x="5124450" y="738405"/>
                  <a:pt x="5081805" y="781050"/>
                  <a:pt x="5029200" y="781050"/>
                </a:cubicBezTo>
                <a:lnTo>
                  <a:pt x="95250" y="781050"/>
                </a:lnTo>
                <a:cubicBezTo>
                  <a:pt x="42645" y="781050"/>
                  <a:pt x="0" y="738405"/>
                  <a:pt x="0" y="6858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8FAFB"/>
          </a:solidFill>
          <a:ln>
            <a:noFill/>
          </a:ln>
        </p:spPr>
      </p:sp>
      <p:grpSp>
        <p:nvGrpSpPr>
          <p:cNvPr id="86" name="Group 86"/>
          <p:cNvGrpSpPr/>
          <p:nvPr/>
        </p:nvGrpSpPr>
        <p:grpSpPr>
          <a:xfrm>
            <a:off x="6691312" y="2887266"/>
            <a:ext cx="142875" cy="149021"/>
            <a:chOff x="6691312" y="2887266"/>
            <a:chExt cx="142875" cy="149021"/>
          </a:xfrm>
        </p:grpSpPr>
        <p:sp>
          <p:nvSpPr>
            <p:cNvPr id="84" name="Freeform 84"/>
            <p:cNvSpPr/>
            <p:nvPr/>
          </p:nvSpPr>
          <p:spPr>
            <a:xfrm>
              <a:off x="6697266" y="2893219"/>
              <a:ext cx="130969" cy="137011"/>
            </a:xfrm>
            <a:custGeom>
              <a:avLst/>
              <a:gdLst/>
              <a:ahLst/>
              <a:cxnLst/>
              <a:rect l="l" t="t" r="r" b="b"/>
              <a:pathLst>
                <a:path w="130969" h="137011">
                  <a:moveTo>
                    <a:pt x="130969" y="5953"/>
                  </a:moveTo>
                  <a:lnTo>
                    <a:pt x="130969" y="49686"/>
                  </a:lnTo>
                  <a:cubicBezTo>
                    <a:pt x="130969" y="112328"/>
                    <a:pt x="77904" y="133082"/>
                    <a:pt x="67315" y="136602"/>
                  </a:cubicBezTo>
                  <a:cubicBezTo>
                    <a:pt x="66129" y="137011"/>
                    <a:pt x="64840" y="137011"/>
                    <a:pt x="63654" y="136602"/>
                  </a:cubicBezTo>
                  <a:cubicBezTo>
                    <a:pt x="53065" y="133097"/>
                    <a:pt x="0" y="112365"/>
                    <a:pt x="0" y="49701"/>
                  </a:cubicBezTo>
                  <a:lnTo>
                    <a:pt x="0" y="5953"/>
                  </a:lnTo>
                  <a:cubicBezTo>
                    <a:pt x="0" y="2665"/>
                    <a:pt x="2665" y="0"/>
                    <a:pt x="5953" y="0"/>
                  </a:cubicBezTo>
                  <a:lnTo>
                    <a:pt x="125016" y="0"/>
                  </a:lnTo>
                  <a:cubicBezTo>
                    <a:pt x="128303" y="0"/>
                    <a:pt x="130969" y="2665"/>
                    <a:pt x="130969" y="5953"/>
                  </a:cubicBezTo>
                  <a:close/>
                </a:path>
              </a:pathLst>
            </a:custGeom>
            <a:solidFill>
              <a:srgbClr val="3498DB">
                <a:alpha val="20000"/>
              </a:srgbClr>
            </a:solidFill>
            <a:ln>
              <a:noFill/>
            </a:ln>
          </p:spPr>
        </p:sp>
        <p:sp>
          <p:nvSpPr>
            <p:cNvPr id="85" name="Freeform 85"/>
            <p:cNvSpPr/>
            <p:nvPr/>
          </p:nvSpPr>
          <p:spPr>
            <a:xfrm>
              <a:off x="6691312" y="2887266"/>
              <a:ext cx="142875" cy="149021"/>
            </a:xfrm>
            <a:custGeom>
              <a:avLst/>
              <a:gdLst/>
              <a:ahLst/>
              <a:cxnLst/>
              <a:rect l="l" t="t" r="r" b="b"/>
              <a:pathLst>
                <a:path w="142875" h="149021">
                  <a:moveTo>
                    <a:pt x="130969" y="0"/>
                  </a:moveTo>
                  <a:lnTo>
                    <a:pt x="11906" y="0"/>
                  </a:lnTo>
                  <a:cubicBezTo>
                    <a:pt x="5331" y="0"/>
                    <a:pt x="0" y="5331"/>
                    <a:pt x="0" y="11906"/>
                  </a:cubicBezTo>
                  <a:lnTo>
                    <a:pt x="0" y="55639"/>
                  </a:lnTo>
                  <a:cubicBezTo>
                    <a:pt x="0" y="122329"/>
                    <a:pt x="56421" y="144445"/>
                    <a:pt x="67717" y="148196"/>
                  </a:cubicBezTo>
                  <a:cubicBezTo>
                    <a:pt x="70129" y="149021"/>
                    <a:pt x="72746" y="149021"/>
                    <a:pt x="75158" y="148196"/>
                  </a:cubicBezTo>
                  <a:cubicBezTo>
                    <a:pt x="86469" y="144438"/>
                    <a:pt x="142875" y="122322"/>
                    <a:pt x="142875" y="55632"/>
                  </a:cubicBezTo>
                  <a:lnTo>
                    <a:pt x="142875" y="11906"/>
                  </a:lnTo>
                  <a:cubicBezTo>
                    <a:pt x="142875" y="5331"/>
                    <a:pt x="137544" y="0"/>
                    <a:pt x="130969" y="0"/>
                  </a:cubicBezTo>
                  <a:close/>
                  <a:moveTo>
                    <a:pt x="130969" y="55654"/>
                  </a:moveTo>
                  <a:cubicBezTo>
                    <a:pt x="130969" y="114010"/>
                    <a:pt x="81602" y="133506"/>
                    <a:pt x="71438" y="136900"/>
                  </a:cubicBezTo>
                  <a:cubicBezTo>
                    <a:pt x="61369" y="133551"/>
                    <a:pt x="11906" y="114069"/>
                    <a:pt x="11906" y="55654"/>
                  </a:cubicBezTo>
                  <a:lnTo>
                    <a:pt x="11906" y="11906"/>
                  </a:lnTo>
                  <a:lnTo>
                    <a:pt x="130969" y="11906"/>
                  </a:lnTo>
                  <a:close/>
                  <a:moveTo>
                    <a:pt x="65484" y="71438"/>
                  </a:moveTo>
                  <a:lnTo>
                    <a:pt x="65484" y="41672"/>
                  </a:lnTo>
                  <a:cubicBezTo>
                    <a:pt x="65484" y="38384"/>
                    <a:pt x="68150" y="35719"/>
                    <a:pt x="71438" y="35719"/>
                  </a:cubicBezTo>
                  <a:cubicBezTo>
                    <a:pt x="74725" y="35719"/>
                    <a:pt x="77391" y="38384"/>
                    <a:pt x="77391" y="41672"/>
                  </a:cubicBezTo>
                  <a:lnTo>
                    <a:pt x="77391" y="71438"/>
                  </a:lnTo>
                  <a:cubicBezTo>
                    <a:pt x="77391" y="74725"/>
                    <a:pt x="74725" y="77391"/>
                    <a:pt x="71438" y="77391"/>
                  </a:cubicBezTo>
                  <a:cubicBezTo>
                    <a:pt x="68150" y="77391"/>
                    <a:pt x="65484" y="74725"/>
                    <a:pt x="65484" y="71438"/>
                  </a:cubicBezTo>
                  <a:close/>
                  <a:moveTo>
                    <a:pt x="62508" y="98227"/>
                  </a:moveTo>
                  <a:cubicBezTo>
                    <a:pt x="62508" y="93295"/>
                    <a:pt x="66506" y="89297"/>
                    <a:pt x="71438" y="89297"/>
                  </a:cubicBezTo>
                  <a:cubicBezTo>
                    <a:pt x="76369" y="89297"/>
                    <a:pt x="80367" y="93295"/>
                    <a:pt x="80367" y="98227"/>
                  </a:cubicBezTo>
                  <a:cubicBezTo>
                    <a:pt x="80367" y="103158"/>
                    <a:pt x="76369" y="107156"/>
                    <a:pt x="71438" y="107156"/>
                  </a:cubicBezTo>
                  <a:cubicBezTo>
                    <a:pt x="66506" y="107156"/>
                    <a:pt x="62508" y="103158"/>
                    <a:pt x="62508" y="98227"/>
                  </a:cubicBezTo>
                  <a:close/>
                </a:path>
              </a:pathLst>
            </a:custGeom>
            <a:solidFill>
              <a:srgbClr val="3498DB"/>
            </a:solidFill>
            <a:ln>
              <a:noFill/>
            </a:ln>
          </p:spPr>
        </p:sp>
      </p:grpSp>
      <p:sp>
        <p:nvSpPr>
          <p:cNvPr id="87" name="TextBox 87"/>
          <p:cNvSpPr txBox="1"/>
          <p:nvPr/>
        </p:nvSpPr>
        <p:spPr>
          <a:xfrm>
            <a:off x="6939915" y="28775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短期偿债能力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6942772" y="3092291"/>
            <a:ext cx="23862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流动比率 2.15，速动比率 1.52，均处于健康区间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942772" y="3263741"/>
            <a:ext cx="211121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短期借款占总负债比例较低，流动性压力小</a:t>
            </a:r>
          </a:p>
        </p:txBody>
      </p:sp>
      <p:sp>
        <p:nvSpPr>
          <p:cNvPr id="90" name="Freeform 90"/>
          <p:cNvSpPr/>
          <p:nvPr/>
        </p:nvSpPr>
        <p:spPr>
          <a:xfrm>
            <a:off x="10782300" y="2819400"/>
            <a:ext cx="647700" cy="209550"/>
          </a:xfrm>
          <a:custGeom>
            <a:avLst/>
            <a:gdLst/>
            <a:ahLst/>
            <a:cxnLst/>
            <a:rect l="l" t="t" r="r" b="b"/>
            <a:pathLst>
              <a:path w="647700" h="209550">
                <a:moveTo>
                  <a:pt x="104775" y="0"/>
                </a:moveTo>
                <a:lnTo>
                  <a:pt x="542925" y="0"/>
                </a:lnTo>
                <a:cubicBezTo>
                  <a:pt x="600791" y="0"/>
                  <a:pt x="647700" y="46909"/>
                  <a:pt x="647700" y="104775"/>
                </a:cubicBezTo>
                <a:lnTo>
                  <a:pt x="647700" y="104775"/>
                </a:lnTo>
                <a:cubicBezTo>
                  <a:pt x="647700" y="162641"/>
                  <a:pt x="600791" y="209550"/>
                  <a:pt x="5429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D5F5E3"/>
          </a:solidFill>
          <a:ln>
            <a:noFill/>
          </a:ln>
        </p:spPr>
      </p:sp>
      <p:sp>
        <p:nvSpPr>
          <p:cNvPr id="91" name="TextBox 91"/>
          <p:cNvSpPr txBox="1"/>
          <p:nvPr/>
        </p:nvSpPr>
        <p:spPr>
          <a:xfrm>
            <a:off x="10931064" y="2873216"/>
            <a:ext cx="3501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7AE60"/>
                </a:solidFill>
                <a:latin typeface="Arial"/>
                <a:ea typeface="Microsoft YaHei"/>
                <a:cs typeface="Arial"/>
              </a:rPr>
              <a:t>良好 ✓</a:t>
            </a:r>
          </a:p>
        </p:txBody>
      </p:sp>
      <p:sp>
        <p:nvSpPr>
          <p:cNvPr id="92" name="Freeform 92"/>
          <p:cNvSpPr/>
          <p:nvPr/>
        </p:nvSpPr>
        <p:spPr>
          <a:xfrm>
            <a:off x="6496050" y="3581400"/>
            <a:ext cx="5124450" cy="781050"/>
          </a:xfrm>
          <a:custGeom>
            <a:avLst/>
            <a:gdLst/>
            <a:ahLst/>
            <a:cxnLst/>
            <a:rect l="l" t="t" r="r" b="b"/>
            <a:pathLst>
              <a:path w="5124450" h="781050">
                <a:moveTo>
                  <a:pt x="95250" y="0"/>
                </a:moveTo>
                <a:lnTo>
                  <a:pt x="5029200" y="0"/>
                </a:lnTo>
                <a:cubicBezTo>
                  <a:pt x="5081805" y="0"/>
                  <a:pt x="5124450" y="42645"/>
                  <a:pt x="5124450" y="95250"/>
                </a:cubicBezTo>
                <a:lnTo>
                  <a:pt x="5124450" y="685800"/>
                </a:lnTo>
                <a:cubicBezTo>
                  <a:pt x="5124450" y="738405"/>
                  <a:pt x="5081805" y="781050"/>
                  <a:pt x="5029200" y="781050"/>
                </a:cubicBezTo>
                <a:lnTo>
                  <a:pt x="95250" y="781050"/>
                </a:lnTo>
                <a:cubicBezTo>
                  <a:pt x="42645" y="781050"/>
                  <a:pt x="0" y="738405"/>
                  <a:pt x="0" y="6858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8FAFB"/>
          </a:solidFill>
          <a:ln>
            <a:noFill/>
          </a:ln>
        </p:spPr>
      </p:sp>
      <p:grpSp>
        <p:nvGrpSpPr>
          <p:cNvPr id="95" name="Group 95"/>
          <p:cNvGrpSpPr/>
          <p:nvPr/>
        </p:nvGrpSpPr>
        <p:grpSpPr>
          <a:xfrm>
            <a:off x="6691312" y="3763566"/>
            <a:ext cx="142875" cy="149021"/>
            <a:chOff x="6691312" y="3763566"/>
            <a:chExt cx="142875" cy="149021"/>
          </a:xfrm>
        </p:grpSpPr>
        <p:sp>
          <p:nvSpPr>
            <p:cNvPr id="93" name="Freeform 93"/>
            <p:cNvSpPr/>
            <p:nvPr/>
          </p:nvSpPr>
          <p:spPr>
            <a:xfrm>
              <a:off x="6697266" y="3769519"/>
              <a:ext cx="130969" cy="137011"/>
            </a:xfrm>
            <a:custGeom>
              <a:avLst/>
              <a:gdLst/>
              <a:ahLst/>
              <a:cxnLst/>
              <a:rect l="l" t="t" r="r" b="b"/>
              <a:pathLst>
                <a:path w="130969" h="137011">
                  <a:moveTo>
                    <a:pt x="130969" y="5953"/>
                  </a:moveTo>
                  <a:lnTo>
                    <a:pt x="130969" y="49686"/>
                  </a:lnTo>
                  <a:cubicBezTo>
                    <a:pt x="130969" y="112328"/>
                    <a:pt x="77904" y="133082"/>
                    <a:pt x="67315" y="136602"/>
                  </a:cubicBezTo>
                  <a:cubicBezTo>
                    <a:pt x="66129" y="137011"/>
                    <a:pt x="64840" y="137011"/>
                    <a:pt x="63654" y="136602"/>
                  </a:cubicBezTo>
                  <a:cubicBezTo>
                    <a:pt x="53065" y="133097"/>
                    <a:pt x="0" y="112365"/>
                    <a:pt x="0" y="49701"/>
                  </a:cubicBezTo>
                  <a:lnTo>
                    <a:pt x="0" y="5953"/>
                  </a:lnTo>
                  <a:cubicBezTo>
                    <a:pt x="0" y="2665"/>
                    <a:pt x="2665" y="0"/>
                    <a:pt x="5953" y="0"/>
                  </a:cubicBezTo>
                  <a:lnTo>
                    <a:pt x="125016" y="0"/>
                  </a:lnTo>
                  <a:cubicBezTo>
                    <a:pt x="128303" y="0"/>
                    <a:pt x="130969" y="2665"/>
                    <a:pt x="130969" y="5953"/>
                  </a:cubicBezTo>
                  <a:close/>
                </a:path>
              </a:pathLst>
            </a:custGeom>
            <a:solidFill>
              <a:srgbClr val="3498DB">
                <a:alpha val="20000"/>
              </a:srgbClr>
            </a:solidFill>
            <a:ln>
              <a:noFill/>
            </a:ln>
          </p:spPr>
        </p:sp>
        <p:sp>
          <p:nvSpPr>
            <p:cNvPr id="94" name="Freeform 94"/>
            <p:cNvSpPr/>
            <p:nvPr/>
          </p:nvSpPr>
          <p:spPr>
            <a:xfrm>
              <a:off x="6691312" y="3763566"/>
              <a:ext cx="142875" cy="149021"/>
            </a:xfrm>
            <a:custGeom>
              <a:avLst/>
              <a:gdLst/>
              <a:ahLst/>
              <a:cxnLst/>
              <a:rect l="l" t="t" r="r" b="b"/>
              <a:pathLst>
                <a:path w="142875" h="149021">
                  <a:moveTo>
                    <a:pt x="130969" y="0"/>
                  </a:moveTo>
                  <a:lnTo>
                    <a:pt x="11906" y="0"/>
                  </a:lnTo>
                  <a:cubicBezTo>
                    <a:pt x="5331" y="0"/>
                    <a:pt x="0" y="5331"/>
                    <a:pt x="0" y="11906"/>
                  </a:cubicBezTo>
                  <a:lnTo>
                    <a:pt x="0" y="55639"/>
                  </a:lnTo>
                  <a:cubicBezTo>
                    <a:pt x="0" y="122329"/>
                    <a:pt x="56421" y="144445"/>
                    <a:pt x="67717" y="148196"/>
                  </a:cubicBezTo>
                  <a:cubicBezTo>
                    <a:pt x="70129" y="149021"/>
                    <a:pt x="72746" y="149021"/>
                    <a:pt x="75158" y="148196"/>
                  </a:cubicBezTo>
                  <a:cubicBezTo>
                    <a:pt x="86469" y="144438"/>
                    <a:pt x="142875" y="122322"/>
                    <a:pt x="142875" y="55632"/>
                  </a:cubicBezTo>
                  <a:lnTo>
                    <a:pt x="142875" y="11906"/>
                  </a:lnTo>
                  <a:cubicBezTo>
                    <a:pt x="142875" y="5331"/>
                    <a:pt x="137544" y="0"/>
                    <a:pt x="130969" y="0"/>
                  </a:cubicBezTo>
                  <a:close/>
                  <a:moveTo>
                    <a:pt x="130969" y="55654"/>
                  </a:moveTo>
                  <a:cubicBezTo>
                    <a:pt x="130969" y="114010"/>
                    <a:pt x="81602" y="133506"/>
                    <a:pt x="71438" y="136900"/>
                  </a:cubicBezTo>
                  <a:cubicBezTo>
                    <a:pt x="61369" y="133551"/>
                    <a:pt x="11906" y="114069"/>
                    <a:pt x="11906" y="55654"/>
                  </a:cubicBezTo>
                  <a:lnTo>
                    <a:pt x="11906" y="11906"/>
                  </a:lnTo>
                  <a:lnTo>
                    <a:pt x="130969" y="11906"/>
                  </a:lnTo>
                  <a:close/>
                  <a:moveTo>
                    <a:pt x="65484" y="71438"/>
                  </a:moveTo>
                  <a:lnTo>
                    <a:pt x="65484" y="41672"/>
                  </a:lnTo>
                  <a:cubicBezTo>
                    <a:pt x="65484" y="38384"/>
                    <a:pt x="68150" y="35719"/>
                    <a:pt x="71438" y="35719"/>
                  </a:cubicBezTo>
                  <a:cubicBezTo>
                    <a:pt x="74725" y="35719"/>
                    <a:pt x="77391" y="38384"/>
                    <a:pt x="77391" y="41672"/>
                  </a:cubicBezTo>
                  <a:lnTo>
                    <a:pt x="77391" y="71438"/>
                  </a:lnTo>
                  <a:cubicBezTo>
                    <a:pt x="77391" y="74725"/>
                    <a:pt x="74725" y="77391"/>
                    <a:pt x="71438" y="77391"/>
                  </a:cubicBezTo>
                  <a:cubicBezTo>
                    <a:pt x="68150" y="77391"/>
                    <a:pt x="65484" y="74725"/>
                    <a:pt x="65484" y="71438"/>
                  </a:cubicBezTo>
                  <a:close/>
                  <a:moveTo>
                    <a:pt x="62508" y="98227"/>
                  </a:moveTo>
                  <a:cubicBezTo>
                    <a:pt x="62508" y="93295"/>
                    <a:pt x="66506" y="89297"/>
                    <a:pt x="71438" y="89297"/>
                  </a:cubicBezTo>
                  <a:cubicBezTo>
                    <a:pt x="76369" y="89297"/>
                    <a:pt x="80367" y="93295"/>
                    <a:pt x="80367" y="98227"/>
                  </a:cubicBezTo>
                  <a:cubicBezTo>
                    <a:pt x="80367" y="103158"/>
                    <a:pt x="76369" y="107156"/>
                    <a:pt x="71438" y="107156"/>
                  </a:cubicBezTo>
                  <a:cubicBezTo>
                    <a:pt x="66506" y="107156"/>
                    <a:pt x="62508" y="103158"/>
                    <a:pt x="62508" y="98227"/>
                  </a:cubicBezTo>
                  <a:close/>
                </a:path>
              </a:pathLst>
            </a:custGeom>
            <a:solidFill>
              <a:srgbClr val="3498DB"/>
            </a:solidFill>
            <a:ln>
              <a:noFill/>
            </a:ln>
          </p:spPr>
        </p:sp>
      </p:grpSp>
      <p:sp>
        <p:nvSpPr>
          <p:cNvPr id="96" name="TextBox 96"/>
          <p:cNvSpPr txBox="1"/>
          <p:nvPr/>
        </p:nvSpPr>
        <p:spPr>
          <a:xfrm>
            <a:off x="6939915" y="37538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长期偿债能力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6942772" y="3968591"/>
            <a:ext cx="18966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资产负债率 42.3%，处于行业合理水平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6942772" y="4140041"/>
            <a:ext cx="23862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利息保障倍数 8.5x，偿债能力充足，违约风险低</a:t>
            </a:r>
          </a:p>
        </p:txBody>
      </p:sp>
      <p:sp>
        <p:nvSpPr>
          <p:cNvPr id="99" name="Freeform 99"/>
          <p:cNvSpPr/>
          <p:nvPr/>
        </p:nvSpPr>
        <p:spPr>
          <a:xfrm>
            <a:off x="10782300" y="3695700"/>
            <a:ext cx="647700" cy="209550"/>
          </a:xfrm>
          <a:custGeom>
            <a:avLst/>
            <a:gdLst/>
            <a:ahLst/>
            <a:cxnLst/>
            <a:rect l="l" t="t" r="r" b="b"/>
            <a:pathLst>
              <a:path w="647700" h="209550">
                <a:moveTo>
                  <a:pt x="104775" y="0"/>
                </a:moveTo>
                <a:lnTo>
                  <a:pt x="542925" y="0"/>
                </a:lnTo>
                <a:cubicBezTo>
                  <a:pt x="600791" y="0"/>
                  <a:pt x="647700" y="46909"/>
                  <a:pt x="647700" y="104775"/>
                </a:cubicBezTo>
                <a:lnTo>
                  <a:pt x="647700" y="104775"/>
                </a:lnTo>
                <a:cubicBezTo>
                  <a:pt x="647700" y="162641"/>
                  <a:pt x="600791" y="209550"/>
                  <a:pt x="5429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D5F5E3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10931064" y="3749516"/>
            <a:ext cx="3501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7AE60"/>
                </a:solidFill>
                <a:latin typeface="Arial"/>
                <a:ea typeface="Microsoft YaHei"/>
                <a:cs typeface="Arial"/>
              </a:rPr>
              <a:t>良好 ✓</a:t>
            </a:r>
          </a:p>
        </p:txBody>
      </p:sp>
      <p:sp>
        <p:nvSpPr>
          <p:cNvPr id="101" name="Freeform 101"/>
          <p:cNvSpPr/>
          <p:nvPr/>
        </p:nvSpPr>
        <p:spPr>
          <a:xfrm>
            <a:off x="6496050" y="4457700"/>
            <a:ext cx="5124450" cy="781050"/>
          </a:xfrm>
          <a:custGeom>
            <a:avLst/>
            <a:gdLst/>
            <a:ahLst/>
            <a:cxnLst/>
            <a:rect l="l" t="t" r="r" b="b"/>
            <a:pathLst>
              <a:path w="5124450" h="781050">
                <a:moveTo>
                  <a:pt x="95250" y="0"/>
                </a:moveTo>
                <a:lnTo>
                  <a:pt x="5029200" y="0"/>
                </a:lnTo>
                <a:cubicBezTo>
                  <a:pt x="5081805" y="0"/>
                  <a:pt x="5124450" y="42645"/>
                  <a:pt x="5124450" y="95250"/>
                </a:cubicBezTo>
                <a:lnTo>
                  <a:pt x="5124450" y="685800"/>
                </a:lnTo>
                <a:cubicBezTo>
                  <a:pt x="5124450" y="738405"/>
                  <a:pt x="5081805" y="781050"/>
                  <a:pt x="5029200" y="781050"/>
                </a:cubicBezTo>
                <a:lnTo>
                  <a:pt x="95250" y="781050"/>
                </a:lnTo>
                <a:cubicBezTo>
                  <a:pt x="42645" y="781050"/>
                  <a:pt x="0" y="738405"/>
                  <a:pt x="0" y="6858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8FAFB"/>
          </a:solidFill>
          <a:ln>
            <a:noFill/>
          </a:ln>
        </p:spPr>
      </p:sp>
      <p:grpSp>
        <p:nvGrpSpPr>
          <p:cNvPr id="104" name="Group 104"/>
          <p:cNvGrpSpPr/>
          <p:nvPr/>
        </p:nvGrpSpPr>
        <p:grpSpPr>
          <a:xfrm>
            <a:off x="6691312" y="4639866"/>
            <a:ext cx="142875" cy="149021"/>
            <a:chOff x="6691312" y="4639866"/>
            <a:chExt cx="142875" cy="149021"/>
          </a:xfrm>
        </p:grpSpPr>
        <p:sp>
          <p:nvSpPr>
            <p:cNvPr id="102" name="Freeform 102"/>
            <p:cNvSpPr/>
            <p:nvPr/>
          </p:nvSpPr>
          <p:spPr>
            <a:xfrm>
              <a:off x="6697266" y="4645819"/>
              <a:ext cx="130969" cy="137011"/>
            </a:xfrm>
            <a:custGeom>
              <a:avLst/>
              <a:gdLst/>
              <a:ahLst/>
              <a:cxnLst/>
              <a:rect l="l" t="t" r="r" b="b"/>
              <a:pathLst>
                <a:path w="130969" h="137011">
                  <a:moveTo>
                    <a:pt x="130969" y="5953"/>
                  </a:moveTo>
                  <a:lnTo>
                    <a:pt x="130969" y="49686"/>
                  </a:lnTo>
                  <a:cubicBezTo>
                    <a:pt x="130969" y="112328"/>
                    <a:pt x="77904" y="133082"/>
                    <a:pt x="67315" y="136602"/>
                  </a:cubicBezTo>
                  <a:cubicBezTo>
                    <a:pt x="66129" y="137011"/>
                    <a:pt x="64840" y="137011"/>
                    <a:pt x="63654" y="136602"/>
                  </a:cubicBezTo>
                  <a:cubicBezTo>
                    <a:pt x="53065" y="133097"/>
                    <a:pt x="0" y="112365"/>
                    <a:pt x="0" y="49701"/>
                  </a:cubicBezTo>
                  <a:lnTo>
                    <a:pt x="0" y="5953"/>
                  </a:lnTo>
                  <a:cubicBezTo>
                    <a:pt x="0" y="2665"/>
                    <a:pt x="2665" y="0"/>
                    <a:pt x="5953" y="0"/>
                  </a:cubicBezTo>
                  <a:lnTo>
                    <a:pt x="125016" y="0"/>
                  </a:lnTo>
                  <a:cubicBezTo>
                    <a:pt x="128303" y="0"/>
                    <a:pt x="130969" y="2665"/>
                    <a:pt x="130969" y="5953"/>
                  </a:cubicBezTo>
                  <a:close/>
                </a:path>
              </a:pathLst>
            </a:custGeom>
            <a:solidFill>
              <a:srgbClr val="3498DB">
                <a:alpha val="20000"/>
              </a:srgbClr>
            </a:solidFill>
            <a:ln>
              <a:noFill/>
            </a:ln>
          </p:spPr>
        </p:sp>
        <p:sp>
          <p:nvSpPr>
            <p:cNvPr id="103" name="Freeform 103"/>
            <p:cNvSpPr/>
            <p:nvPr/>
          </p:nvSpPr>
          <p:spPr>
            <a:xfrm>
              <a:off x="6691312" y="4639866"/>
              <a:ext cx="142875" cy="149021"/>
            </a:xfrm>
            <a:custGeom>
              <a:avLst/>
              <a:gdLst/>
              <a:ahLst/>
              <a:cxnLst/>
              <a:rect l="l" t="t" r="r" b="b"/>
              <a:pathLst>
                <a:path w="142875" h="149021">
                  <a:moveTo>
                    <a:pt x="130969" y="0"/>
                  </a:moveTo>
                  <a:lnTo>
                    <a:pt x="11906" y="0"/>
                  </a:lnTo>
                  <a:cubicBezTo>
                    <a:pt x="5331" y="0"/>
                    <a:pt x="0" y="5331"/>
                    <a:pt x="0" y="11906"/>
                  </a:cubicBezTo>
                  <a:lnTo>
                    <a:pt x="0" y="55639"/>
                  </a:lnTo>
                  <a:cubicBezTo>
                    <a:pt x="0" y="122329"/>
                    <a:pt x="56421" y="144445"/>
                    <a:pt x="67717" y="148196"/>
                  </a:cubicBezTo>
                  <a:cubicBezTo>
                    <a:pt x="70129" y="149021"/>
                    <a:pt x="72746" y="149021"/>
                    <a:pt x="75158" y="148196"/>
                  </a:cubicBezTo>
                  <a:cubicBezTo>
                    <a:pt x="86469" y="144438"/>
                    <a:pt x="142875" y="122322"/>
                    <a:pt x="142875" y="55632"/>
                  </a:cubicBezTo>
                  <a:lnTo>
                    <a:pt x="142875" y="11906"/>
                  </a:lnTo>
                  <a:cubicBezTo>
                    <a:pt x="142875" y="5331"/>
                    <a:pt x="137544" y="0"/>
                    <a:pt x="130969" y="0"/>
                  </a:cubicBezTo>
                  <a:close/>
                  <a:moveTo>
                    <a:pt x="130969" y="55654"/>
                  </a:moveTo>
                  <a:cubicBezTo>
                    <a:pt x="130969" y="114010"/>
                    <a:pt x="81602" y="133506"/>
                    <a:pt x="71438" y="136900"/>
                  </a:cubicBezTo>
                  <a:cubicBezTo>
                    <a:pt x="61369" y="133551"/>
                    <a:pt x="11906" y="114069"/>
                    <a:pt x="11906" y="55654"/>
                  </a:cubicBezTo>
                  <a:lnTo>
                    <a:pt x="11906" y="11906"/>
                  </a:lnTo>
                  <a:lnTo>
                    <a:pt x="130969" y="11906"/>
                  </a:lnTo>
                  <a:close/>
                  <a:moveTo>
                    <a:pt x="65484" y="71438"/>
                  </a:moveTo>
                  <a:lnTo>
                    <a:pt x="65484" y="41672"/>
                  </a:lnTo>
                  <a:cubicBezTo>
                    <a:pt x="65484" y="38384"/>
                    <a:pt x="68150" y="35719"/>
                    <a:pt x="71438" y="35719"/>
                  </a:cubicBezTo>
                  <a:cubicBezTo>
                    <a:pt x="74725" y="35719"/>
                    <a:pt x="77391" y="38384"/>
                    <a:pt x="77391" y="41672"/>
                  </a:cubicBezTo>
                  <a:lnTo>
                    <a:pt x="77391" y="71438"/>
                  </a:lnTo>
                  <a:cubicBezTo>
                    <a:pt x="77391" y="74725"/>
                    <a:pt x="74725" y="77391"/>
                    <a:pt x="71438" y="77391"/>
                  </a:cubicBezTo>
                  <a:cubicBezTo>
                    <a:pt x="68150" y="77391"/>
                    <a:pt x="65484" y="74725"/>
                    <a:pt x="65484" y="71438"/>
                  </a:cubicBezTo>
                  <a:close/>
                  <a:moveTo>
                    <a:pt x="62508" y="98227"/>
                  </a:moveTo>
                  <a:cubicBezTo>
                    <a:pt x="62508" y="93295"/>
                    <a:pt x="66506" y="89297"/>
                    <a:pt x="71438" y="89297"/>
                  </a:cubicBezTo>
                  <a:cubicBezTo>
                    <a:pt x="76369" y="89297"/>
                    <a:pt x="80367" y="93295"/>
                    <a:pt x="80367" y="98227"/>
                  </a:cubicBezTo>
                  <a:cubicBezTo>
                    <a:pt x="80367" y="103158"/>
                    <a:pt x="76369" y="107156"/>
                    <a:pt x="71438" y="107156"/>
                  </a:cubicBezTo>
                  <a:cubicBezTo>
                    <a:pt x="66506" y="107156"/>
                    <a:pt x="62508" y="103158"/>
                    <a:pt x="62508" y="98227"/>
                  </a:cubicBezTo>
                  <a:close/>
                </a:path>
              </a:pathLst>
            </a:custGeom>
            <a:solidFill>
              <a:srgbClr val="3498DB"/>
            </a:solidFill>
            <a:ln>
              <a:noFill/>
            </a:ln>
          </p:spPr>
        </p:sp>
      </p:grpSp>
      <p:sp>
        <p:nvSpPr>
          <p:cNvPr id="105" name="TextBox 105"/>
          <p:cNvSpPr txBox="1"/>
          <p:nvPr/>
        </p:nvSpPr>
        <p:spPr>
          <a:xfrm>
            <a:off x="6939915" y="46301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运营资金效率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6942772" y="4844891"/>
            <a:ext cx="211121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应收账款周转天数逐步缩短，回款效率提升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6942772" y="5016341"/>
            <a:ext cx="18911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存货周转率稳定，不存在大量积压问题</a:t>
            </a:r>
          </a:p>
        </p:txBody>
      </p:sp>
      <p:sp>
        <p:nvSpPr>
          <p:cNvPr id="108" name="Freeform 108"/>
          <p:cNvSpPr/>
          <p:nvPr/>
        </p:nvSpPr>
        <p:spPr>
          <a:xfrm>
            <a:off x="10782300" y="4572000"/>
            <a:ext cx="647700" cy="209550"/>
          </a:xfrm>
          <a:custGeom>
            <a:avLst/>
            <a:gdLst/>
            <a:ahLst/>
            <a:cxnLst/>
            <a:rect l="l" t="t" r="r" b="b"/>
            <a:pathLst>
              <a:path w="647700" h="209550">
                <a:moveTo>
                  <a:pt x="104775" y="0"/>
                </a:moveTo>
                <a:lnTo>
                  <a:pt x="542925" y="0"/>
                </a:lnTo>
                <a:cubicBezTo>
                  <a:pt x="600791" y="0"/>
                  <a:pt x="647700" y="46909"/>
                  <a:pt x="647700" y="104775"/>
                </a:cubicBezTo>
                <a:lnTo>
                  <a:pt x="647700" y="104775"/>
                </a:lnTo>
                <a:cubicBezTo>
                  <a:pt x="647700" y="162641"/>
                  <a:pt x="600791" y="209550"/>
                  <a:pt x="5429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D5F5E3"/>
          </a:solidFill>
          <a:ln>
            <a:noFill/>
          </a:ln>
        </p:spPr>
      </p:sp>
      <p:sp>
        <p:nvSpPr>
          <p:cNvPr id="109" name="TextBox 109"/>
          <p:cNvSpPr txBox="1"/>
          <p:nvPr/>
        </p:nvSpPr>
        <p:spPr>
          <a:xfrm>
            <a:off x="10931064" y="4625816"/>
            <a:ext cx="3501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7AE60"/>
                </a:solidFill>
                <a:latin typeface="Arial"/>
                <a:ea typeface="Microsoft YaHei"/>
                <a:cs typeface="Arial"/>
              </a:rPr>
              <a:t>良好 ✓</a:t>
            </a:r>
          </a:p>
        </p:txBody>
      </p:sp>
      <p:sp>
        <p:nvSpPr>
          <p:cNvPr id="110" name="Freeform 110"/>
          <p:cNvSpPr/>
          <p:nvPr/>
        </p:nvSpPr>
        <p:spPr>
          <a:xfrm>
            <a:off x="6496050" y="5372100"/>
            <a:ext cx="5124450" cy="514350"/>
          </a:xfrm>
          <a:custGeom>
            <a:avLst/>
            <a:gdLst/>
            <a:ahLst/>
            <a:cxnLst/>
            <a:rect l="l" t="t" r="r" b="b"/>
            <a:pathLst>
              <a:path w="5124450" h="514350">
                <a:moveTo>
                  <a:pt x="76200" y="0"/>
                </a:moveTo>
                <a:lnTo>
                  <a:pt x="5048250" y="0"/>
                </a:lnTo>
                <a:cubicBezTo>
                  <a:pt x="5090334" y="0"/>
                  <a:pt x="5124450" y="34116"/>
                  <a:pt x="5124450" y="76200"/>
                </a:cubicBezTo>
                <a:lnTo>
                  <a:pt x="5124450" y="438150"/>
                </a:lnTo>
                <a:cubicBezTo>
                  <a:pt x="5124450" y="480234"/>
                  <a:pt x="5090334" y="514350"/>
                  <a:pt x="5048250" y="514350"/>
                </a:cubicBezTo>
                <a:lnTo>
                  <a:pt x="76200" y="514350"/>
                </a:lnTo>
                <a:cubicBezTo>
                  <a:pt x="34116" y="514350"/>
                  <a:pt x="0" y="480234"/>
                  <a:pt x="0" y="4381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AFAF1"/>
          </a:solidFill>
          <a:ln w="14288">
            <a:solidFill>
              <a:srgbClr val="27AE60"/>
            </a:solidFill>
          </a:ln>
        </p:spPr>
      </p:sp>
      <p:sp>
        <p:nvSpPr>
          <p:cNvPr id="111" name="Freeform 111"/>
          <p:cNvSpPr/>
          <p:nvPr/>
        </p:nvSpPr>
        <p:spPr>
          <a:xfrm>
            <a:off x="6679406" y="55054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190500"/>
                </a:moveTo>
                <a:lnTo>
                  <a:pt x="39887" y="159459"/>
                </a:lnTo>
                <a:cubicBezTo>
                  <a:pt x="14856" y="141580"/>
                  <a:pt x="0" y="112713"/>
                  <a:pt x="0" y="81951"/>
                </a:cubicBezTo>
                <a:lnTo>
                  <a:pt x="0" y="35719"/>
                </a:lnTo>
                <a:lnTo>
                  <a:pt x="83344" y="0"/>
                </a:lnTo>
                <a:lnTo>
                  <a:pt x="166688" y="35719"/>
                </a:lnTo>
                <a:lnTo>
                  <a:pt x="166688" y="81951"/>
                </a:lnTo>
                <a:cubicBezTo>
                  <a:pt x="166688" y="112713"/>
                  <a:pt x="151832" y="141580"/>
                  <a:pt x="126800" y="159459"/>
                </a:cubicBezTo>
                <a:lnTo>
                  <a:pt x="83344" y="190500"/>
                </a:lnTo>
                <a:close/>
                <a:moveTo>
                  <a:pt x="133435" y="67950"/>
                </a:moveTo>
                <a:lnTo>
                  <a:pt x="116597" y="51112"/>
                </a:lnTo>
                <a:lnTo>
                  <a:pt x="71438" y="96271"/>
                </a:lnTo>
                <a:lnTo>
                  <a:pt x="50091" y="74925"/>
                </a:lnTo>
                <a:lnTo>
                  <a:pt x="33253" y="91763"/>
                </a:lnTo>
                <a:lnTo>
                  <a:pt x="71438" y="129947"/>
                </a:lnTo>
                <a:lnTo>
                  <a:pt x="133435" y="67950"/>
                </a:lnTo>
                <a:close/>
              </a:path>
            </a:pathLst>
          </a:custGeom>
          <a:solidFill>
            <a:srgbClr val="27AE60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6940868" y="5419249"/>
            <a:ext cx="22090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7AE60"/>
                </a:solidFill>
                <a:latin typeface="Arial"/>
                <a:ea typeface="Microsoft YaHei"/>
                <a:cs typeface="Arial"/>
              </a:rPr>
              <a:t>结论：安全边际充足，财务结构稳健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6942772" y="5644991"/>
            <a:ext cx="29913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各项偿债指标均处于健康区间，短期和长期均无明显风险敞口</a:t>
            </a:r>
          </a:p>
        </p:txBody>
      </p:sp>
      <p:sp>
        <p:nvSpPr>
          <p:cNvPr id="114" name="Freeform 114"/>
          <p:cNvSpPr/>
          <p:nvPr/>
        </p:nvSpPr>
        <p:spPr>
          <a:xfrm>
            <a:off x="6496050" y="5962650"/>
            <a:ext cx="5124450" cy="76200"/>
          </a:xfrm>
          <a:custGeom>
            <a:avLst/>
            <a:gdLst/>
            <a:ahLst/>
            <a:cxnLst/>
            <a:rect l="l" t="t" r="r" b="b"/>
            <a:pathLst>
              <a:path w="5124450" h="76200">
                <a:moveTo>
                  <a:pt x="38100" y="0"/>
                </a:moveTo>
                <a:lnTo>
                  <a:pt x="5086350" y="0"/>
                </a:lnTo>
                <a:cubicBezTo>
                  <a:pt x="5107392" y="0"/>
                  <a:pt x="5124450" y="17058"/>
                  <a:pt x="5124450" y="38100"/>
                </a:cubicBezTo>
                <a:lnTo>
                  <a:pt x="5124450" y="38100"/>
                </a:lnTo>
                <a:cubicBezTo>
                  <a:pt x="5124450" y="59142"/>
                  <a:pt x="5107392" y="76200"/>
                  <a:pt x="5086350" y="76200"/>
                </a:cubicBezTo>
                <a:lnTo>
                  <a:pt x="38100" y="76200"/>
                </a:lnTo>
                <a:cubicBezTo>
                  <a:pt x="17058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CF0F1"/>
          </a:solidFill>
          <a:ln>
            <a:noFill/>
          </a:ln>
        </p:spPr>
      </p:sp>
      <p:sp>
        <p:nvSpPr>
          <p:cNvPr id="115" name="Freeform 115"/>
          <p:cNvSpPr/>
          <p:nvPr/>
        </p:nvSpPr>
        <p:spPr>
          <a:xfrm>
            <a:off x="6496050" y="5962650"/>
            <a:ext cx="4610100" cy="76200"/>
          </a:xfrm>
          <a:custGeom>
            <a:avLst/>
            <a:gdLst/>
            <a:ahLst/>
            <a:cxnLst/>
            <a:rect l="l" t="t" r="r" b="b"/>
            <a:pathLst>
              <a:path w="4610100" h="76200">
                <a:moveTo>
                  <a:pt x="38100" y="0"/>
                </a:moveTo>
                <a:lnTo>
                  <a:pt x="4572000" y="0"/>
                </a:lnTo>
                <a:cubicBezTo>
                  <a:pt x="4593042" y="0"/>
                  <a:pt x="4610100" y="17058"/>
                  <a:pt x="4610100" y="38100"/>
                </a:cubicBezTo>
                <a:lnTo>
                  <a:pt x="4610100" y="38100"/>
                </a:lnTo>
                <a:cubicBezTo>
                  <a:pt x="4610100" y="59142"/>
                  <a:pt x="4593042" y="76200"/>
                  <a:pt x="4572000" y="76200"/>
                </a:cubicBezTo>
                <a:lnTo>
                  <a:pt x="38100" y="76200"/>
                </a:lnTo>
                <a:cubicBezTo>
                  <a:pt x="17058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27AE60"/>
              </a:gs>
              <a:gs pos="100000">
                <a:srgbClr val="2ECC71"/>
              </a:gs>
            </a:gsLst>
            <a:lin ang="2700000" scaled="1"/>
          </a:gradFill>
          <a:ln>
            <a:noFill/>
          </a:ln>
        </p:spPr>
      </p:sp>
      <p:sp>
        <p:nvSpPr>
          <p:cNvPr id="116" name="TextBox 116"/>
          <p:cNvSpPr txBox="1"/>
          <p:nvPr/>
        </p:nvSpPr>
        <p:spPr>
          <a:xfrm>
            <a:off x="6485572" y="6064091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Arial"/>
                <a:ea typeface="Microsoft YaHei"/>
                <a:cs typeface="Arial"/>
              </a:rPr>
              <a:t>安全性评分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0919330" y="6047899"/>
            <a:ext cx="5230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27AE60"/>
                </a:solidFill>
                <a:latin typeface="Arial"/>
                <a:ea typeface="Microsoft YaHei"/>
                <a:cs typeface="Arial"/>
              </a:rPr>
              <a:t>9.0 / 10</a:t>
            </a:r>
          </a:p>
        </p:txBody>
      </p:sp>
      <p:sp>
        <p:nvSpPr>
          <p:cNvPr id="118" name="Rectangle 118"/>
          <p:cNvSpPr/>
          <p:nvPr/>
        </p:nvSpPr>
        <p:spPr>
          <a:xfrm>
            <a:off x="6305550" y="6286500"/>
            <a:ext cx="5505450" cy="190500"/>
          </a:xfrm>
          <a:prstGeom prst="rect">
            <a:avLst/>
          </a:prstGeom>
          <a:solidFill>
            <a:srgbClr val="3498DB">
              <a:alpha val="6000"/>
            </a:srgbClr>
          </a:solidFill>
          <a:ln>
            <a:noFill/>
          </a:ln>
        </p:spPr>
      </p:sp>
      <p:sp>
        <p:nvSpPr>
          <p:cNvPr id="119" name="Freeform 119"/>
          <p:cNvSpPr/>
          <p:nvPr/>
        </p:nvSpPr>
        <p:spPr>
          <a:xfrm>
            <a:off x="6305550" y="6286500"/>
            <a:ext cx="5505450" cy="28575"/>
          </a:xfrm>
          <a:custGeom>
            <a:avLst/>
            <a:gdLst/>
            <a:ahLst/>
            <a:cxnLst/>
            <a:rect l="l" t="t" r="r" b="b"/>
            <a:pathLst>
              <a:path w="5505450" h="28575">
                <a:moveTo>
                  <a:pt x="14288" y="0"/>
                </a:moveTo>
                <a:lnTo>
                  <a:pt x="5491162" y="0"/>
                </a:lnTo>
                <a:cubicBezTo>
                  <a:pt x="5499053" y="0"/>
                  <a:pt x="5505450" y="6397"/>
                  <a:pt x="5505450" y="14288"/>
                </a:cubicBezTo>
                <a:lnTo>
                  <a:pt x="5505450" y="14288"/>
                </a:lnTo>
                <a:cubicBezTo>
                  <a:pt x="5505450" y="22178"/>
                  <a:pt x="5499053" y="28575"/>
                  <a:pt x="549116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3498DB">
              <a:alpha val="15000"/>
            </a:srgbClr>
          </a:solidFill>
          <a:ln>
            <a:noFill/>
          </a:ln>
        </p:spPr>
      </p:sp>
      <p:sp>
        <p:nvSpPr>
          <p:cNvPr id="120" name="TextBox 120"/>
          <p:cNvSpPr txBox="1"/>
          <p:nvPr/>
        </p:nvSpPr>
        <p:spPr>
          <a:xfrm>
            <a:off x="4638794" y="6624638"/>
            <a:ext cx="29144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AAAAAA"/>
                </a:solidFill>
                <a:latin typeface="Arial"/>
                <a:ea typeface="Microsoft YaHei"/>
                <a:cs typeface="Arial"/>
              </a:rPr>
              <a:t>数据来源：公司年报、行业研究报告 | 分析截止日期：2025年12月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A2F"/>
              </a:gs>
              <a:gs pos="100000">
                <a:srgbClr val="0D2137"/>
              </a:gs>
            </a:gsLst>
            <a:lin ang="270000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6858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0" y="0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0" y="0"/>
                  </a:moveTo>
                  <a:lnTo>
                    <a:pt x="6096000" y="3429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3429000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0" y="0"/>
                  </a:moveTo>
                  <a:lnTo>
                    <a:pt x="6096000" y="3429000"/>
                  </a:lnTo>
                </a:path>
              </a:pathLst>
            </a:custGeom>
            <a:noFill/>
            <a:ln w="4762">
              <a:solidFill>
                <a:srgbClr val="FFFFFF">
                  <a:alpha val="4000"/>
                </a:srgbClr>
              </a:solidFill>
            </a:ln>
          </p:spPr>
        </p:sp>
      </p:grpSp>
      <p:sp>
        <p:nvSpPr>
          <p:cNvPr id="7" name="Rectangle 7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48CAE4"/>
              </a:gs>
              <a:gs pos="100000">
                <a:srgbClr val="0077B6"/>
              </a:gs>
            </a:gsLst>
            <a:lin ang="2700000" scaled="1"/>
          </a:gra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285750"/>
            <a:ext cx="11430000" cy="762000"/>
          </a:xfrm>
          <a:custGeom>
            <a:avLst/>
            <a:gdLst/>
            <a:ahLst/>
            <a:cxnLst/>
            <a:rect l="l" t="t" r="r" b="b"/>
            <a:pathLst>
              <a:path w="11430000" h="762000">
                <a:moveTo>
                  <a:pt x="114300" y="0"/>
                </a:moveTo>
                <a:lnTo>
                  <a:pt x="11315700" y="0"/>
                </a:lnTo>
                <a:cubicBezTo>
                  <a:pt x="11378826" y="0"/>
                  <a:pt x="11430000" y="51174"/>
                  <a:pt x="11430000" y="114300"/>
                </a:cubicBezTo>
                <a:lnTo>
                  <a:pt x="11430000" y="647700"/>
                </a:lnTo>
                <a:cubicBezTo>
                  <a:pt x="11430000" y="710826"/>
                  <a:pt x="11378826" y="762000"/>
                  <a:pt x="11315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gradFill>
            <a:gsLst>
              <a:gs pos="0">
                <a:srgbClr val="1A2D44">
                  <a:alpha val="80000"/>
                </a:srgbClr>
              </a:gs>
              <a:gs pos="100000">
                <a:srgbClr val="152638">
                  <a:alpha val="80000"/>
                </a:srgbClr>
              </a:gs>
            </a:gsLst>
            <a:lin ang="2700000" scaled="1"/>
          </a:gradFill>
          <a:ln>
            <a:noFill/>
          </a:ln>
          <a:effectLst>
            <a:outerShdw blurRad="152400" dist="38100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9" name="Freeform 9"/>
          <p:cNvSpPr/>
          <p:nvPr/>
        </p:nvSpPr>
        <p:spPr>
          <a:xfrm>
            <a:off x="381000" y="285750"/>
            <a:ext cx="57150" cy="762000"/>
          </a:xfrm>
          <a:custGeom>
            <a:avLst/>
            <a:gdLst/>
            <a:ahLst/>
            <a:cxnLst/>
            <a:rect l="l" t="t" r="r" b="b"/>
            <a:pathLst>
              <a:path w="57150" h="762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33425"/>
                </a:lnTo>
                <a:cubicBezTo>
                  <a:pt x="57150" y="749207"/>
                  <a:pt x="44357" y="762000"/>
                  <a:pt x="28575" y="762000"/>
                </a:cubicBezTo>
                <a:lnTo>
                  <a:pt x="28575" y="762000"/>
                </a:lnTo>
                <a:cubicBezTo>
                  <a:pt x="12793" y="762000"/>
                  <a:pt x="0" y="749207"/>
                  <a:pt x="0" y="733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gradFill>
            <a:gsLst>
              <a:gs pos="0">
                <a:srgbClr val="48CAE4"/>
              </a:gs>
              <a:gs pos="100000">
                <a:srgbClr val="0077B6"/>
              </a:gs>
            </a:gsLst>
            <a:lin ang="2700000" scaled="1"/>
          </a:gra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40080" y="516255"/>
            <a:ext cx="17734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📊 总结与结论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3415" y="858202"/>
            <a:ext cx="14828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0E0E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Summary &amp; Conclusion</a:t>
            </a:r>
          </a:p>
        </p:txBody>
      </p:sp>
      <p:sp>
        <p:nvSpPr>
          <p:cNvPr id="12" name="Freeform 12"/>
          <p:cNvSpPr/>
          <p:nvPr/>
        </p:nvSpPr>
        <p:spPr>
          <a:xfrm>
            <a:off x="11525250" y="5238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lnTo>
                  <a:pt x="142875" y="0"/>
                </a:lnTo>
                <a:cubicBezTo>
                  <a:pt x="221783" y="0"/>
                  <a:pt x="285750" y="63967"/>
                  <a:pt x="285750" y="142875"/>
                </a:cubicBezTo>
                <a:lnTo>
                  <a:pt x="285750" y="142875"/>
                </a:lnTo>
                <a:cubicBezTo>
                  <a:pt x="285750" y="221783"/>
                  <a:pt x="221783" y="285750"/>
                  <a:pt x="142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48CAE4">
              <a:alpha val="15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614360" y="601028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48CAE4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14" name="Freeform 14"/>
          <p:cNvSpPr/>
          <p:nvPr/>
        </p:nvSpPr>
        <p:spPr>
          <a:xfrm>
            <a:off x="381000" y="1285875"/>
            <a:ext cx="11430000" cy="1857375"/>
          </a:xfrm>
          <a:custGeom>
            <a:avLst/>
            <a:gdLst/>
            <a:ahLst/>
            <a:cxnLst/>
            <a:rect l="l" t="t" r="r" b="b"/>
            <a:pathLst>
              <a:path w="11430000" h="1857375">
                <a:moveTo>
                  <a:pt x="152400" y="0"/>
                </a:moveTo>
                <a:lnTo>
                  <a:pt x="11277600" y="0"/>
                </a:lnTo>
                <a:cubicBezTo>
                  <a:pt x="11361768" y="0"/>
                  <a:pt x="11430000" y="68232"/>
                  <a:pt x="11430000" y="152400"/>
                </a:cubicBezTo>
                <a:lnTo>
                  <a:pt x="11430000" y="1704975"/>
                </a:lnTo>
                <a:cubicBezTo>
                  <a:pt x="11430000" y="1789143"/>
                  <a:pt x="11361768" y="1857375"/>
                  <a:pt x="11277600" y="1857375"/>
                </a:cubicBezTo>
                <a:lnTo>
                  <a:pt x="152400" y="1857375"/>
                </a:lnTo>
                <a:cubicBezTo>
                  <a:pt x="68232" y="1857375"/>
                  <a:pt x="0" y="1789143"/>
                  <a:pt x="0" y="170497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gradFill>
            <a:gsLst>
              <a:gs pos="0">
                <a:srgbClr val="1A2D44">
                  <a:alpha val="90000"/>
                </a:srgbClr>
              </a:gs>
              <a:gs pos="100000">
                <a:srgbClr val="152638">
                  <a:alpha val="90000"/>
                </a:srgbClr>
              </a:gs>
            </a:gsLst>
            <a:lin ang="2700000" scaled="1"/>
          </a:gradFill>
          <a:ln>
            <a:noFill/>
          </a:ln>
          <a:effectLst>
            <a:outerShdw blurRad="228600" dist="57150" dir="5400000" algn="ctr" rotWithShape="0">
              <a:srgbClr val="000000">
                <a:alpha val="30000"/>
              </a:srgbClr>
            </a:outerShdw>
          </a:effectLst>
        </p:spPr>
      </p:sp>
      <p:sp>
        <p:nvSpPr>
          <p:cNvPr id="15" name="Freeform 15"/>
          <p:cNvSpPr/>
          <p:nvPr/>
        </p:nvSpPr>
        <p:spPr>
          <a:xfrm>
            <a:off x="381000" y="1285875"/>
            <a:ext cx="11430000" cy="1857375"/>
          </a:xfrm>
          <a:custGeom>
            <a:avLst/>
            <a:gdLst/>
            <a:ahLst/>
            <a:cxnLst/>
            <a:rect l="l" t="t" r="r" b="b"/>
            <a:pathLst>
              <a:path w="11430000" h="1857375">
                <a:moveTo>
                  <a:pt x="152400" y="0"/>
                </a:moveTo>
                <a:lnTo>
                  <a:pt x="11277600" y="0"/>
                </a:lnTo>
                <a:cubicBezTo>
                  <a:pt x="11361768" y="0"/>
                  <a:pt x="11430000" y="68232"/>
                  <a:pt x="11430000" y="152400"/>
                </a:cubicBezTo>
                <a:lnTo>
                  <a:pt x="11430000" y="1704975"/>
                </a:lnTo>
                <a:cubicBezTo>
                  <a:pt x="11430000" y="1789143"/>
                  <a:pt x="11361768" y="1857375"/>
                  <a:pt x="11277600" y="1857375"/>
                </a:cubicBezTo>
                <a:lnTo>
                  <a:pt x="152400" y="1857375"/>
                </a:lnTo>
                <a:cubicBezTo>
                  <a:pt x="68232" y="1857375"/>
                  <a:pt x="0" y="1789143"/>
                  <a:pt x="0" y="170497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noFill/>
          <a:ln w="9525">
            <a:solidFill>
              <a:srgbClr val="48CAE4">
                <a:alpha val="15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026795" y="153638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核心结论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3462" y="1831181"/>
            <a:ext cx="11537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0E0E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Core Conclusion</a:t>
            </a:r>
          </a:p>
        </p:txBody>
      </p:sp>
      <p:sp>
        <p:nvSpPr>
          <p:cNvPr id="18" name="Line 18"/>
          <p:cNvSpPr/>
          <p:nvPr/>
        </p:nvSpPr>
        <p:spPr>
          <a:xfrm>
            <a:off x="571500" y="20764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48CAE4">
                <a:alpha val="20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37210" y="2185035"/>
            <a:ext cx="606062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锐明技术</a:t>
            </a:r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 xml:space="preserve"> </a:t>
            </a:r>
            <a:r>
              <a:rPr lang="zh-CN" sz="2700" b="1" dirty="0">
                <a:solidFill>
                  <a:srgbClr val="48CAE4"/>
                </a:solidFill>
                <a:latin typeface="Arial"/>
                <a:ea typeface="Microsoft YaHei"/>
                <a:cs typeface="Arial"/>
              </a:rPr>
              <a:t xml:space="preserve"> — </a:t>
            </a:r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 xml:space="preserve"> </a:t>
            </a:r>
            <a:r>
              <a:rPr lang="zh-CN" sz="240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"表面风光，暗藏风险"</a:t>
            </a:r>
          </a:p>
        </p:txBody>
      </p:sp>
      <p:sp>
        <p:nvSpPr>
          <p:cNvPr id="20" name="Freeform 20"/>
          <p:cNvSpPr/>
          <p:nvPr/>
        </p:nvSpPr>
        <p:spPr>
          <a:xfrm>
            <a:off x="8763000" y="2190750"/>
            <a:ext cx="2095500" cy="762000"/>
          </a:xfrm>
          <a:custGeom>
            <a:avLst/>
            <a:gdLst/>
            <a:ahLst/>
            <a:cxnLst/>
            <a:rect l="l" t="t" r="r" b="b"/>
            <a:pathLst>
              <a:path w="2095500" h="762000">
                <a:moveTo>
                  <a:pt x="381000" y="0"/>
                </a:moveTo>
                <a:lnTo>
                  <a:pt x="1714500" y="0"/>
                </a:lnTo>
                <a:cubicBezTo>
                  <a:pt x="1924920" y="0"/>
                  <a:pt x="2095500" y="170580"/>
                  <a:pt x="2095500" y="381000"/>
                </a:cubicBezTo>
                <a:lnTo>
                  <a:pt x="2095500" y="381000"/>
                </a:lnTo>
                <a:cubicBezTo>
                  <a:pt x="2095500" y="591420"/>
                  <a:pt x="1924920" y="762000"/>
                  <a:pt x="17145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ubicBezTo>
                  <a:pt x="0" y="170580"/>
                  <a:pt x="170580" y="0"/>
                  <a:pt x="381000" y="0"/>
                </a:cubicBezTo>
                <a:close/>
              </a:path>
            </a:pathLst>
          </a:custGeom>
          <a:gradFill>
            <a:gsLst>
              <a:gs pos="0">
                <a:srgbClr val="E74C3C">
                  <a:alpha val="85000"/>
                </a:srgbClr>
              </a:gs>
              <a:gs pos="100000">
                <a:srgbClr val="C0392B">
                  <a:alpha val="85000"/>
                </a:srgbClr>
              </a:gs>
            </a:gsLst>
            <a:lin ang="2700000" scaled="1"/>
          </a:gradFill>
          <a:ln>
            <a:noFill/>
          </a:ln>
          <a:effectLst>
            <a:glow rad="57150">
              <a:srgbClr val="000000">
                <a:alpha val="30000"/>
              </a:srgbClr>
            </a:glow>
          </a:effectLst>
        </p:spPr>
      </p:sp>
      <p:sp>
        <p:nvSpPr>
          <p:cNvPr id="21" name="TextBox 21"/>
          <p:cNvSpPr txBox="1"/>
          <p:nvPr/>
        </p:nvSpPr>
        <p:spPr>
          <a:xfrm>
            <a:off x="9475470" y="2404110"/>
            <a:ext cx="670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综合评级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96911" y="2627948"/>
            <a:ext cx="82767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⚠ 警惕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4355" y="3330892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四维度综合评分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9118" y="3561874"/>
            <a:ext cx="12794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E0E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4-Dimension Scoring</a:t>
            </a:r>
          </a:p>
        </p:txBody>
      </p:sp>
      <p:sp>
        <p:nvSpPr>
          <p:cNvPr id="25" name="Freeform 25"/>
          <p:cNvSpPr/>
          <p:nvPr/>
        </p:nvSpPr>
        <p:spPr>
          <a:xfrm>
            <a:off x="381000" y="3857625"/>
            <a:ext cx="2667000" cy="1238250"/>
          </a:xfrm>
          <a:custGeom>
            <a:avLst/>
            <a:gdLst/>
            <a:ahLst/>
            <a:cxnLst/>
            <a:rect l="l" t="t" r="r" b="b"/>
            <a:pathLst>
              <a:path w="2667000" h="1238250">
                <a:moveTo>
                  <a:pt x="133350" y="0"/>
                </a:moveTo>
                <a:lnTo>
                  <a:pt x="2533650" y="0"/>
                </a:lnTo>
                <a:cubicBezTo>
                  <a:pt x="2607297" y="0"/>
                  <a:pt x="2667000" y="59703"/>
                  <a:pt x="2667000" y="133350"/>
                </a:cubicBezTo>
                <a:lnTo>
                  <a:pt x="2667000" y="1104900"/>
                </a:lnTo>
                <a:cubicBezTo>
                  <a:pt x="2667000" y="1178547"/>
                  <a:pt x="2607297" y="1238250"/>
                  <a:pt x="25336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gradFill>
            <a:gsLst>
              <a:gs pos="0">
                <a:srgbClr val="1A2D44">
                  <a:alpha val="85000"/>
                </a:srgbClr>
              </a:gs>
              <a:gs pos="100000">
                <a:srgbClr val="152638">
                  <a:alpha val="85000"/>
                </a:srgbClr>
              </a:gs>
            </a:gsLst>
            <a:lin ang="2700000" scaled="1"/>
          </a:gradFill>
          <a:ln>
            <a:noFill/>
          </a:ln>
          <a:effectLst>
            <a:outerShdw blurRad="152400" dist="38100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26" name="Freeform 26"/>
          <p:cNvSpPr/>
          <p:nvPr/>
        </p:nvSpPr>
        <p:spPr>
          <a:xfrm>
            <a:off x="381000" y="3857625"/>
            <a:ext cx="2667000" cy="1238250"/>
          </a:xfrm>
          <a:custGeom>
            <a:avLst/>
            <a:gdLst/>
            <a:ahLst/>
            <a:cxnLst/>
            <a:rect l="l" t="t" r="r" b="b"/>
            <a:pathLst>
              <a:path w="2667000" h="1238250">
                <a:moveTo>
                  <a:pt x="133350" y="0"/>
                </a:moveTo>
                <a:lnTo>
                  <a:pt x="2533650" y="0"/>
                </a:lnTo>
                <a:cubicBezTo>
                  <a:pt x="2607297" y="0"/>
                  <a:pt x="2667000" y="59703"/>
                  <a:pt x="2667000" y="133350"/>
                </a:cubicBezTo>
                <a:lnTo>
                  <a:pt x="2667000" y="1104900"/>
                </a:lnTo>
                <a:cubicBezTo>
                  <a:pt x="2667000" y="1178547"/>
                  <a:pt x="2607297" y="1238250"/>
                  <a:pt x="25336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noFill/>
          <a:ln w="14288">
            <a:solidFill>
              <a:srgbClr val="E74C3C">
                <a:alpha val="30000"/>
              </a:srgbClr>
            </a:solidFill>
          </a:ln>
        </p:spPr>
      </p:sp>
      <p:sp>
        <p:nvSpPr>
          <p:cNvPr id="27" name="Ellipse 27"/>
          <p:cNvSpPr/>
          <p:nvPr/>
        </p:nvSpPr>
        <p:spPr>
          <a:xfrm>
            <a:off x="542925" y="4019550"/>
            <a:ext cx="342900" cy="342900"/>
          </a:xfrm>
          <a:prstGeom prst="ellipse">
            <a:avLst/>
          </a:prstGeom>
          <a:solidFill>
            <a:srgbClr val="E74C3C">
              <a:alpha val="20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45249" y="41024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4885" y="4118610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现金保障性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8695" y="4341495"/>
            <a:ext cx="8209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E0E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Cash Security</a:t>
            </a:r>
          </a:p>
        </p:txBody>
      </p:sp>
      <p:sp>
        <p:nvSpPr>
          <p:cNvPr id="31" name="Line 31"/>
          <p:cNvSpPr/>
          <p:nvPr/>
        </p:nvSpPr>
        <p:spPr>
          <a:xfrm>
            <a:off x="571500" y="459105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9525">
            <a:solidFill>
              <a:srgbClr val="E74C3C">
                <a:alpha val="15000"/>
              </a:srgbClr>
            </a:solidFill>
          </a:ln>
        </p:spPr>
      </p:sp>
      <p:sp>
        <p:nvSpPr>
          <p:cNvPr id="32" name="Freeform 32"/>
          <p:cNvSpPr/>
          <p:nvPr/>
        </p:nvSpPr>
        <p:spPr>
          <a:xfrm>
            <a:off x="571500" y="4743450"/>
            <a:ext cx="2286000" cy="76200"/>
          </a:xfrm>
          <a:custGeom>
            <a:avLst/>
            <a:gdLst/>
            <a:ahLst/>
            <a:cxnLst/>
            <a:rect l="l" t="t" r="r" b="b"/>
            <a:pathLst>
              <a:path w="2286000" h="7620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8100"/>
                </a:lnTo>
                <a:cubicBezTo>
                  <a:pt x="2286000" y="59142"/>
                  <a:pt x="2268942" y="76200"/>
                  <a:pt x="2247900" y="76200"/>
                </a:cubicBezTo>
                <a:lnTo>
                  <a:pt x="38100" y="76200"/>
                </a:lnTo>
                <a:cubicBezTo>
                  <a:pt x="17058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2D44"/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571500" y="4743450"/>
            <a:ext cx="571500" cy="76200"/>
          </a:xfrm>
          <a:custGeom>
            <a:avLst/>
            <a:gdLst/>
            <a:ahLst/>
            <a:cxnLst/>
            <a:rect l="l" t="t" r="r" b="b"/>
            <a:pathLst>
              <a:path w="571500" h="76200">
                <a:moveTo>
                  <a:pt x="38100" y="0"/>
                </a:moveTo>
                <a:lnTo>
                  <a:pt x="533400" y="0"/>
                </a:lnTo>
                <a:cubicBezTo>
                  <a:pt x="554442" y="0"/>
                  <a:pt x="571500" y="17058"/>
                  <a:pt x="571500" y="38100"/>
                </a:cubicBezTo>
                <a:lnTo>
                  <a:pt x="571500" y="38100"/>
                </a:lnTo>
                <a:cubicBezTo>
                  <a:pt x="571500" y="59142"/>
                  <a:pt x="554442" y="76200"/>
                  <a:pt x="533400" y="76200"/>
                </a:cubicBezTo>
                <a:lnTo>
                  <a:pt x="38100" y="76200"/>
                </a:lnTo>
                <a:cubicBezTo>
                  <a:pt x="17058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74C3C">
              <a:alpha val="80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2190459" y="4847749"/>
            <a:ext cx="4889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1.2 / 10</a:t>
            </a:r>
          </a:p>
        </p:txBody>
      </p:sp>
      <p:sp>
        <p:nvSpPr>
          <p:cNvPr id="35" name="Freeform 35"/>
          <p:cNvSpPr/>
          <p:nvPr/>
        </p:nvSpPr>
        <p:spPr>
          <a:xfrm>
            <a:off x="3238500" y="3857625"/>
            <a:ext cx="2667000" cy="1238250"/>
          </a:xfrm>
          <a:custGeom>
            <a:avLst/>
            <a:gdLst/>
            <a:ahLst/>
            <a:cxnLst/>
            <a:rect l="l" t="t" r="r" b="b"/>
            <a:pathLst>
              <a:path w="2667000" h="1238250">
                <a:moveTo>
                  <a:pt x="133350" y="0"/>
                </a:moveTo>
                <a:lnTo>
                  <a:pt x="2533650" y="0"/>
                </a:lnTo>
                <a:cubicBezTo>
                  <a:pt x="2607297" y="0"/>
                  <a:pt x="2667000" y="59703"/>
                  <a:pt x="2667000" y="133350"/>
                </a:cubicBezTo>
                <a:lnTo>
                  <a:pt x="2667000" y="1104900"/>
                </a:lnTo>
                <a:cubicBezTo>
                  <a:pt x="2667000" y="1178547"/>
                  <a:pt x="2607297" y="1238250"/>
                  <a:pt x="25336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gradFill>
            <a:gsLst>
              <a:gs pos="0">
                <a:srgbClr val="1A2D44">
                  <a:alpha val="85000"/>
                </a:srgbClr>
              </a:gs>
              <a:gs pos="100000">
                <a:srgbClr val="152638">
                  <a:alpha val="85000"/>
                </a:srgbClr>
              </a:gs>
            </a:gsLst>
            <a:lin ang="2700000" scaled="1"/>
          </a:gradFill>
          <a:ln>
            <a:noFill/>
          </a:ln>
          <a:effectLst>
            <a:outerShdw blurRad="152400" dist="38100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36" name="Freeform 36"/>
          <p:cNvSpPr/>
          <p:nvPr/>
        </p:nvSpPr>
        <p:spPr>
          <a:xfrm>
            <a:off x="3238500" y="3857625"/>
            <a:ext cx="2667000" cy="1238250"/>
          </a:xfrm>
          <a:custGeom>
            <a:avLst/>
            <a:gdLst/>
            <a:ahLst/>
            <a:cxnLst/>
            <a:rect l="l" t="t" r="r" b="b"/>
            <a:pathLst>
              <a:path w="2667000" h="1238250">
                <a:moveTo>
                  <a:pt x="133350" y="0"/>
                </a:moveTo>
                <a:lnTo>
                  <a:pt x="2533650" y="0"/>
                </a:lnTo>
                <a:cubicBezTo>
                  <a:pt x="2607297" y="0"/>
                  <a:pt x="2667000" y="59703"/>
                  <a:pt x="2667000" y="133350"/>
                </a:cubicBezTo>
                <a:lnTo>
                  <a:pt x="2667000" y="1104900"/>
                </a:lnTo>
                <a:cubicBezTo>
                  <a:pt x="2667000" y="1178547"/>
                  <a:pt x="2607297" y="1238250"/>
                  <a:pt x="25336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noFill/>
          <a:ln w="14288">
            <a:solidFill>
              <a:srgbClr val="E74C3C">
                <a:alpha val="30000"/>
              </a:srgbClr>
            </a:solidFill>
          </a:ln>
        </p:spPr>
      </p:sp>
      <p:sp>
        <p:nvSpPr>
          <p:cNvPr id="37" name="Ellipse 37"/>
          <p:cNvSpPr/>
          <p:nvPr/>
        </p:nvSpPr>
        <p:spPr>
          <a:xfrm>
            <a:off x="3400425" y="4019550"/>
            <a:ext cx="342900" cy="342900"/>
          </a:xfrm>
          <a:prstGeom prst="ellipse">
            <a:avLst/>
          </a:prstGeom>
          <a:solidFill>
            <a:srgbClr val="E74C3C">
              <a:alpha val="20000"/>
            </a:srgbClr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3502749" y="41024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842385" y="411861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持续性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846195" y="4341495"/>
            <a:ext cx="8269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E0E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Sustainability</a:t>
            </a:r>
          </a:p>
        </p:txBody>
      </p:sp>
      <p:sp>
        <p:nvSpPr>
          <p:cNvPr id="41" name="Line 41"/>
          <p:cNvSpPr/>
          <p:nvPr/>
        </p:nvSpPr>
        <p:spPr>
          <a:xfrm>
            <a:off x="3429000" y="459105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9525">
            <a:solidFill>
              <a:srgbClr val="E74C3C">
                <a:alpha val="15000"/>
              </a:srgbClr>
            </a:solidFill>
          </a:ln>
        </p:spPr>
      </p:sp>
      <p:sp>
        <p:nvSpPr>
          <p:cNvPr id="42" name="Freeform 42"/>
          <p:cNvSpPr/>
          <p:nvPr/>
        </p:nvSpPr>
        <p:spPr>
          <a:xfrm>
            <a:off x="3429000" y="4743450"/>
            <a:ext cx="2286000" cy="76200"/>
          </a:xfrm>
          <a:custGeom>
            <a:avLst/>
            <a:gdLst/>
            <a:ahLst/>
            <a:cxnLst/>
            <a:rect l="l" t="t" r="r" b="b"/>
            <a:pathLst>
              <a:path w="2286000" h="7620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8100"/>
                </a:lnTo>
                <a:cubicBezTo>
                  <a:pt x="2286000" y="59142"/>
                  <a:pt x="2268942" y="76200"/>
                  <a:pt x="2247900" y="76200"/>
                </a:cubicBezTo>
                <a:lnTo>
                  <a:pt x="38100" y="76200"/>
                </a:lnTo>
                <a:cubicBezTo>
                  <a:pt x="17058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2D44"/>
          </a:solidFill>
          <a:ln>
            <a:noFill/>
          </a:ln>
        </p:spPr>
      </p:sp>
      <p:sp>
        <p:nvSpPr>
          <p:cNvPr id="43" name="Freeform 43"/>
          <p:cNvSpPr/>
          <p:nvPr/>
        </p:nvSpPr>
        <p:spPr>
          <a:xfrm>
            <a:off x="3429000" y="4743450"/>
            <a:ext cx="685800" cy="76200"/>
          </a:xfrm>
          <a:custGeom>
            <a:avLst/>
            <a:gdLst/>
            <a:ahLst/>
            <a:cxnLst/>
            <a:rect l="l" t="t" r="r" b="b"/>
            <a:pathLst>
              <a:path w="685800" h="76200">
                <a:moveTo>
                  <a:pt x="38100" y="0"/>
                </a:moveTo>
                <a:lnTo>
                  <a:pt x="647700" y="0"/>
                </a:lnTo>
                <a:cubicBezTo>
                  <a:pt x="668742" y="0"/>
                  <a:pt x="685800" y="17058"/>
                  <a:pt x="685800" y="38100"/>
                </a:cubicBezTo>
                <a:lnTo>
                  <a:pt x="685800" y="38100"/>
                </a:lnTo>
                <a:cubicBezTo>
                  <a:pt x="685800" y="59142"/>
                  <a:pt x="668742" y="76200"/>
                  <a:pt x="647700" y="76200"/>
                </a:cubicBezTo>
                <a:lnTo>
                  <a:pt x="38100" y="76200"/>
                </a:lnTo>
                <a:cubicBezTo>
                  <a:pt x="17058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74C3C">
              <a:alpha val="80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047959" y="4847749"/>
            <a:ext cx="4889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1.7 / 10</a:t>
            </a:r>
          </a:p>
        </p:txBody>
      </p:sp>
      <p:sp>
        <p:nvSpPr>
          <p:cNvPr id="45" name="Freeform 45"/>
          <p:cNvSpPr/>
          <p:nvPr/>
        </p:nvSpPr>
        <p:spPr>
          <a:xfrm>
            <a:off x="6096000" y="3857625"/>
            <a:ext cx="2667000" cy="1238250"/>
          </a:xfrm>
          <a:custGeom>
            <a:avLst/>
            <a:gdLst/>
            <a:ahLst/>
            <a:cxnLst/>
            <a:rect l="l" t="t" r="r" b="b"/>
            <a:pathLst>
              <a:path w="2667000" h="1238250">
                <a:moveTo>
                  <a:pt x="133350" y="0"/>
                </a:moveTo>
                <a:lnTo>
                  <a:pt x="2533650" y="0"/>
                </a:lnTo>
                <a:cubicBezTo>
                  <a:pt x="2607297" y="0"/>
                  <a:pt x="2667000" y="59703"/>
                  <a:pt x="2667000" y="133350"/>
                </a:cubicBezTo>
                <a:lnTo>
                  <a:pt x="2667000" y="1104900"/>
                </a:lnTo>
                <a:cubicBezTo>
                  <a:pt x="2667000" y="1178547"/>
                  <a:pt x="2607297" y="1238250"/>
                  <a:pt x="25336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gradFill>
            <a:gsLst>
              <a:gs pos="0">
                <a:srgbClr val="1A2D44">
                  <a:alpha val="85000"/>
                </a:srgbClr>
              </a:gs>
              <a:gs pos="100000">
                <a:srgbClr val="152638">
                  <a:alpha val="85000"/>
                </a:srgbClr>
              </a:gs>
            </a:gsLst>
            <a:lin ang="2700000" scaled="1"/>
          </a:gradFill>
          <a:ln>
            <a:noFill/>
          </a:ln>
          <a:effectLst>
            <a:outerShdw blurRad="152400" dist="38100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46" name="Freeform 46"/>
          <p:cNvSpPr/>
          <p:nvPr/>
        </p:nvSpPr>
        <p:spPr>
          <a:xfrm>
            <a:off x="6096000" y="3857625"/>
            <a:ext cx="2667000" cy="1238250"/>
          </a:xfrm>
          <a:custGeom>
            <a:avLst/>
            <a:gdLst/>
            <a:ahLst/>
            <a:cxnLst/>
            <a:rect l="l" t="t" r="r" b="b"/>
            <a:pathLst>
              <a:path w="2667000" h="1238250">
                <a:moveTo>
                  <a:pt x="133350" y="0"/>
                </a:moveTo>
                <a:lnTo>
                  <a:pt x="2533650" y="0"/>
                </a:lnTo>
                <a:cubicBezTo>
                  <a:pt x="2607297" y="0"/>
                  <a:pt x="2667000" y="59703"/>
                  <a:pt x="2667000" y="133350"/>
                </a:cubicBezTo>
                <a:lnTo>
                  <a:pt x="2667000" y="1104900"/>
                </a:lnTo>
                <a:cubicBezTo>
                  <a:pt x="2667000" y="1178547"/>
                  <a:pt x="2607297" y="1238250"/>
                  <a:pt x="25336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noFill/>
          <a:ln w="14288">
            <a:solidFill>
              <a:srgbClr val="2ECC71">
                <a:alpha val="30000"/>
              </a:srgbClr>
            </a:solidFill>
          </a:ln>
        </p:spPr>
      </p:sp>
      <p:sp>
        <p:nvSpPr>
          <p:cNvPr id="47" name="Ellipse 47"/>
          <p:cNvSpPr/>
          <p:nvPr/>
        </p:nvSpPr>
        <p:spPr>
          <a:xfrm>
            <a:off x="6257925" y="4019550"/>
            <a:ext cx="342900" cy="342900"/>
          </a:xfrm>
          <a:prstGeom prst="ellipse">
            <a:avLst/>
          </a:prstGeom>
          <a:solidFill>
            <a:srgbClr val="2ECC71">
              <a:alpha val="20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360249" y="41024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CC71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99885" y="411861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成长性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703695" y="4341495"/>
            <a:ext cx="4429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E0E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Growth</a:t>
            </a:r>
          </a:p>
        </p:txBody>
      </p:sp>
      <p:sp>
        <p:nvSpPr>
          <p:cNvPr id="51" name="Line 51"/>
          <p:cNvSpPr/>
          <p:nvPr/>
        </p:nvSpPr>
        <p:spPr>
          <a:xfrm>
            <a:off x="6286500" y="459105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9525">
            <a:solidFill>
              <a:srgbClr val="2ECC71">
                <a:alpha val="15000"/>
              </a:srgbClr>
            </a:solidFill>
          </a:ln>
        </p:spPr>
      </p:sp>
      <p:sp>
        <p:nvSpPr>
          <p:cNvPr id="52" name="Freeform 52"/>
          <p:cNvSpPr/>
          <p:nvPr/>
        </p:nvSpPr>
        <p:spPr>
          <a:xfrm>
            <a:off x="6286500" y="4743450"/>
            <a:ext cx="2286000" cy="76200"/>
          </a:xfrm>
          <a:custGeom>
            <a:avLst/>
            <a:gdLst/>
            <a:ahLst/>
            <a:cxnLst/>
            <a:rect l="l" t="t" r="r" b="b"/>
            <a:pathLst>
              <a:path w="2286000" h="7620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8100"/>
                </a:lnTo>
                <a:cubicBezTo>
                  <a:pt x="2286000" y="59142"/>
                  <a:pt x="2268942" y="76200"/>
                  <a:pt x="2247900" y="76200"/>
                </a:cubicBezTo>
                <a:lnTo>
                  <a:pt x="38100" y="76200"/>
                </a:lnTo>
                <a:cubicBezTo>
                  <a:pt x="17058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2D44"/>
          </a:solidFill>
          <a:ln>
            <a:noFill/>
          </a:ln>
        </p:spPr>
      </p:sp>
      <p:sp>
        <p:nvSpPr>
          <p:cNvPr id="53" name="Freeform 53"/>
          <p:cNvSpPr/>
          <p:nvPr/>
        </p:nvSpPr>
        <p:spPr>
          <a:xfrm>
            <a:off x="6286500" y="4743450"/>
            <a:ext cx="1600200" cy="76200"/>
          </a:xfrm>
          <a:custGeom>
            <a:avLst/>
            <a:gdLst/>
            <a:ahLst/>
            <a:cxnLst/>
            <a:rect l="l" t="t" r="r" b="b"/>
            <a:pathLst>
              <a:path w="1600200" h="76200">
                <a:moveTo>
                  <a:pt x="38100" y="0"/>
                </a:moveTo>
                <a:lnTo>
                  <a:pt x="1562100" y="0"/>
                </a:lnTo>
                <a:cubicBezTo>
                  <a:pt x="1583142" y="0"/>
                  <a:pt x="1600200" y="17058"/>
                  <a:pt x="1600200" y="38100"/>
                </a:cubicBezTo>
                <a:lnTo>
                  <a:pt x="1600200" y="38100"/>
                </a:lnTo>
                <a:cubicBezTo>
                  <a:pt x="1600200" y="59142"/>
                  <a:pt x="1583142" y="76200"/>
                  <a:pt x="1562100" y="76200"/>
                </a:cubicBezTo>
                <a:lnTo>
                  <a:pt x="38100" y="76200"/>
                </a:lnTo>
                <a:cubicBezTo>
                  <a:pt x="17058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2ECC71">
              <a:alpha val="80000"/>
            </a:srgbClr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871330" y="4847749"/>
            <a:ext cx="5230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2ECC71"/>
                </a:solidFill>
                <a:latin typeface="Arial"/>
                <a:ea typeface="Microsoft YaHei"/>
                <a:cs typeface="Arial"/>
              </a:rPr>
              <a:t>6.5 / 10</a:t>
            </a:r>
          </a:p>
        </p:txBody>
      </p:sp>
      <p:sp>
        <p:nvSpPr>
          <p:cNvPr id="55" name="Freeform 55"/>
          <p:cNvSpPr/>
          <p:nvPr/>
        </p:nvSpPr>
        <p:spPr>
          <a:xfrm>
            <a:off x="8953500" y="3857625"/>
            <a:ext cx="2857500" cy="1238250"/>
          </a:xfrm>
          <a:custGeom>
            <a:avLst/>
            <a:gdLst/>
            <a:ahLst/>
            <a:cxnLst/>
            <a:rect l="l" t="t" r="r" b="b"/>
            <a:pathLst>
              <a:path w="2857500" h="1238250">
                <a:moveTo>
                  <a:pt x="133350" y="0"/>
                </a:moveTo>
                <a:lnTo>
                  <a:pt x="2724150" y="0"/>
                </a:lnTo>
                <a:cubicBezTo>
                  <a:pt x="2797797" y="0"/>
                  <a:pt x="2857500" y="59703"/>
                  <a:pt x="2857500" y="133350"/>
                </a:cubicBezTo>
                <a:lnTo>
                  <a:pt x="2857500" y="1104900"/>
                </a:lnTo>
                <a:cubicBezTo>
                  <a:pt x="2857500" y="1178547"/>
                  <a:pt x="2797797" y="1238250"/>
                  <a:pt x="27241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gradFill>
            <a:gsLst>
              <a:gs pos="0">
                <a:srgbClr val="1A2D44">
                  <a:alpha val="85000"/>
                </a:srgbClr>
              </a:gs>
              <a:gs pos="100000">
                <a:srgbClr val="152638">
                  <a:alpha val="85000"/>
                </a:srgbClr>
              </a:gs>
            </a:gsLst>
            <a:lin ang="2700000" scaled="1"/>
          </a:gradFill>
          <a:ln>
            <a:noFill/>
          </a:ln>
          <a:effectLst>
            <a:outerShdw blurRad="152400" dist="38100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56" name="Freeform 56"/>
          <p:cNvSpPr/>
          <p:nvPr/>
        </p:nvSpPr>
        <p:spPr>
          <a:xfrm>
            <a:off x="8953500" y="3857625"/>
            <a:ext cx="2857500" cy="1238250"/>
          </a:xfrm>
          <a:custGeom>
            <a:avLst/>
            <a:gdLst/>
            <a:ahLst/>
            <a:cxnLst/>
            <a:rect l="l" t="t" r="r" b="b"/>
            <a:pathLst>
              <a:path w="2857500" h="1238250">
                <a:moveTo>
                  <a:pt x="133350" y="0"/>
                </a:moveTo>
                <a:lnTo>
                  <a:pt x="2724150" y="0"/>
                </a:lnTo>
                <a:cubicBezTo>
                  <a:pt x="2797797" y="0"/>
                  <a:pt x="2857500" y="59703"/>
                  <a:pt x="2857500" y="133350"/>
                </a:cubicBezTo>
                <a:lnTo>
                  <a:pt x="2857500" y="1104900"/>
                </a:lnTo>
                <a:cubicBezTo>
                  <a:pt x="2857500" y="1178547"/>
                  <a:pt x="2797797" y="1238250"/>
                  <a:pt x="27241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noFill/>
          <a:ln w="14288">
            <a:solidFill>
              <a:srgbClr val="E74C3C">
                <a:alpha val="30000"/>
              </a:srgbClr>
            </a:solidFill>
          </a:ln>
        </p:spPr>
      </p:sp>
      <p:sp>
        <p:nvSpPr>
          <p:cNvPr id="57" name="Ellipse 57"/>
          <p:cNvSpPr/>
          <p:nvPr/>
        </p:nvSpPr>
        <p:spPr>
          <a:xfrm>
            <a:off x="9115425" y="4019550"/>
            <a:ext cx="342900" cy="342900"/>
          </a:xfrm>
          <a:prstGeom prst="ellipse">
            <a:avLst/>
          </a:prstGeom>
          <a:solidFill>
            <a:srgbClr val="E74C3C">
              <a:alpha val="20000"/>
            </a:srgbClr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9217749" y="41024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557385" y="411861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安全性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561195" y="4341495"/>
            <a:ext cx="418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0E0E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Safety</a:t>
            </a:r>
          </a:p>
        </p:txBody>
      </p:sp>
      <p:sp>
        <p:nvSpPr>
          <p:cNvPr id="61" name="Line 61"/>
          <p:cNvSpPr/>
          <p:nvPr/>
        </p:nvSpPr>
        <p:spPr>
          <a:xfrm>
            <a:off x="9144000" y="4591050"/>
            <a:ext cx="2476500" cy="9525"/>
          </a:xfrm>
          <a:custGeom>
            <a:avLst/>
            <a:gdLst/>
            <a:ahLst/>
            <a:cxnLst/>
            <a:rect l="l" t="t" r="r" b="b"/>
            <a:pathLst>
              <a:path w="2476500" h="9525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9525">
            <a:solidFill>
              <a:srgbClr val="E74C3C">
                <a:alpha val="15000"/>
              </a:srgbClr>
            </a:solidFill>
          </a:ln>
        </p:spPr>
      </p:sp>
      <p:sp>
        <p:nvSpPr>
          <p:cNvPr id="62" name="Freeform 62"/>
          <p:cNvSpPr/>
          <p:nvPr/>
        </p:nvSpPr>
        <p:spPr>
          <a:xfrm>
            <a:off x="9144000" y="4743450"/>
            <a:ext cx="2476500" cy="76200"/>
          </a:xfrm>
          <a:custGeom>
            <a:avLst/>
            <a:gdLst/>
            <a:ahLst/>
            <a:cxnLst/>
            <a:rect l="l" t="t" r="r" b="b"/>
            <a:pathLst>
              <a:path w="2476500" h="76200">
                <a:moveTo>
                  <a:pt x="38100" y="0"/>
                </a:moveTo>
                <a:lnTo>
                  <a:pt x="2438400" y="0"/>
                </a:lnTo>
                <a:cubicBezTo>
                  <a:pt x="2459442" y="0"/>
                  <a:pt x="2476500" y="17058"/>
                  <a:pt x="2476500" y="38100"/>
                </a:cubicBezTo>
                <a:lnTo>
                  <a:pt x="2476500" y="38100"/>
                </a:lnTo>
                <a:cubicBezTo>
                  <a:pt x="2476500" y="59142"/>
                  <a:pt x="2459442" y="76200"/>
                  <a:pt x="2438400" y="76200"/>
                </a:cubicBezTo>
                <a:lnTo>
                  <a:pt x="38100" y="76200"/>
                </a:lnTo>
                <a:cubicBezTo>
                  <a:pt x="17058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2D44"/>
          </a:solidFill>
          <a:ln>
            <a:noFill/>
          </a:ln>
        </p:spPr>
      </p:sp>
      <p:sp>
        <p:nvSpPr>
          <p:cNvPr id="63" name="Freeform 63"/>
          <p:cNvSpPr/>
          <p:nvPr/>
        </p:nvSpPr>
        <p:spPr>
          <a:xfrm>
            <a:off x="9144000" y="4743450"/>
            <a:ext cx="742950" cy="76200"/>
          </a:xfrm>
          <a:custGeom>
            <a:avLst/>
            <a:gdLst/>
            <a:ahLst/>
            <a:cxnLst/>
            <a:rect l="l" t="t" r="r" b="b"/>
            <a:pathLst>
              <a:path w="742950" h="76200">
                <a:moveTo>
                  <a:pt x="38100" y="0"/>
                </a:moveTo>
                <a:lnTo>
                  <a:pt x="704850" y="0"/>
                </a:lnTo>
                <a:cubicBezTo>
                  <a:pt x="725892" y="0"/>
                  <a:pt x="742950" y="17058"/>
                  <a:pt x="742950" y="38100"/>
                </a:cubicBezTo>
                <a:lnTo>
                  <a:pt x="742950" y="38100"/>
                </a:lnTo>
                <a:cubicBezTo>
                  <a:pt x="742950" y="59142"/>
                  <a:pt x="725892" y="76200"/>
                  <a:pt x="704850" y="76200"/>
                </a:cubicBezTo>
                <a:lnTo>
                  <a:pt x="38100" y="76200"/>
                </a:lnTo>
                <a:cubicBezTo>
                  <a:pt x="17058" y="76200"/>
                  <a:pt x="0" y="59142"/>
                  <a:pt x="0" y="381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74C3C">
              <a:alpha val="80000"/>
            </a:srgbClr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10953459" y="4847749"/>
            <a:ext cx="4889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1.8 / 10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54355" y="53311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关键警示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59118" y="556212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E0E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Key Alerts</a:t>
            </a:r>
          </a:p>
        </p:txBody>
      </p:sp>
      <p:sp>
        <p:nvSpPr>
          <p:cNvPr id="67" name="Freeform 67"/>
          <p:cNvSpPr/>
          <p:nvPr/>
        </p:nvSpPr>
        <p:spPr>
          <a:xfrm>
            <a:off x="381000" y="5810250"/>
            <a:ext cx="3619500" cy="809625"/>
          </a:xfrm>
          <a:custGeom>
            <a:avLst/>
            <a:gdLst/>
            <a:ahLst/>
            <a:cxnLst/>
            <a:rect l="l" t="t" r="r" b="b"/>
            <a:pathLst>
              <a:path w="3619500" h="809625">
                <a:moveTo>
                  <a:pt x="114300" y="0"/>
                </a:moveTo>
                <a:lnTo>
                  <a:pt x="3505200" y="0"/>
                </a:lnTo>
                <a:cubicBezTo>
                  <a:pt x="3568326" y="0"/>
                  <a:pt x="3619500" y="51174"/>
                  <a:pt x="3619500" y="114300"/>
                </a:cubicBezTo>
                <a:lnTo>
                  <a:pt x="3619500" y="695325"/>
                </a:lnTo>
                <a:cubicBezTo>
                  <a:pt x="3619500" y="758451"/>
                  <a:pt x="3568326" y="809625"/>
                  <a:pt x="3505200" y="809625"/>
                </a:cubicBezTo>
                <a:lnTo>
                  <a:pt x="114300" y="809625"/>
                </a:lnTo>
                <a:cubicBezTo>
                  <a:pt x="51174" y="809625"/>
                  <a:pt x="0" y="758451"/>
                  <a:pt x="0" y="6953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gradFill>
            <a:gsLst>
              <a:gs pos="0">
                <a:srgbClr val="1A2D44">
                  <a:alpha val="85000"/>
                </a:srgbClr>
              </a:gs>
              <a:gs pos="100000">
                <a:srgbClr val="152638">
                  <a:alpha val="85000"/>
                </a:srgbClr>
              </a:gs>
            </a:gsLst>
            <a:lin ang="2700000" scaled="1"/>
          </a:gradFill>
          <a:ln>
            <a:noFill/>
          </a:ln>
          <a:effectLst>
            <a:outerShdw blurRad="152400" dist="38100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68" name="Freeform 68"/>
          <p:cNvSpPr/>
          <p:nvPr/>
        </p:nvSpPr>
        <p:spPr>
          <a:xfrm>
            <a:off x="381000" y="5810250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ECC71"/>
          </a:solidFill>
          <a:ln>
            <a:noFill/>
          </a:ln>
        </p:spPr>
      </p:sp>
      <p:sp>
        <p:nvSpPr>
          <p:cNvPr id="69" name="Ellipse 69"/>
          <p:cNvSpPr/>
          <p:nvPr/>
        </p:nvSpPr>
        <p:spPr>
          <a:xfrm>
            <a:off x="571500" y="5981700"/>
            <a:ext cx="342900" cy="342900"/>
          </a:xfrm>
          <a:prstGeom prst="ellipse">
            <a:avLst/>
          </a:prstGeom>
          <a:solidFill>
            <a:srgbClr val="2ECC71">
              <a:alpha val="15000"/>
            </a:srgbClr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1079182" y="5977414"/>
            <a:ext cx="89821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2ECC71"/>
                </a:solidFill>
                <a:latin typeface="Arial"/>
                <a:ea typeface="Microsoft YaHei"/>
                <a:cs typeface="Arial"/>
              </a:rPr>
              <a:t>✅ 营收增长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82992" y="6228874"/>
            <a:ext cx="22350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E0E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营业收入保持增长趋势，规模持续扩大</a:t>
            </a:r>
          </a:p>
        </p:txBody>
      </p:sp>
      <p:sp>
        <p:nvSpPr>
          <p:cNvPr id="72" name="Freeform 72"/>
          <p:cNvSpPr/>
          <p:nvPr/>
        </p:nvSpPr>
        <p:spPr>
          <a:xfrm>
            <a:off x="4286250" y="5810250"/>
            <a:ext cx="3619500" cy="809625"/>
          </a:xfrm>
          <a:custGeom>
            <a:avLst/>
            <a:gdLst/>
            <a:ahLst/>
            <a:cxnLst/>
            <a:rect l="l" t="t" r="r" b="b"/>
            <a:pathLst>
              <a:path w="3619500" h="809625">
                <a:moveTo>
                  <a:pt x="114300" y="0"/>
                </a:moveTo>
                <a:lnTo>
                  <a:pt x="3505200" y="0"/>
                </a:lnTo>
                <a:cubicBezTo>
                  <a:pt x="3568326" y="0"/>
                  <a:pt x="3619500" y="51174"/>
                  <a:pt x="3619500" y="114300"/>
                </a:cubicBezTo>
                <a:lnTo>
                  <a:pt x="3619500" y="695325"/>
                </a:lnTo>
                <a:cubicBezTo>
                  <a:pt x="3619500" y="758451"/>
                  <a:pt x="3568326" y="809625"/>
                  <a:pt x="3505200" y="809625"/>
                </a:cubicBezTo>
                <a:lnTo>
                  <a:pt x="114300" y="809625"/>
                </a:lnTo>
                <a:cubicBezTo>
                  <a:pt x="51174" y="809625"/>
                  <a:pt x="0" y="758451"/>
                  <a:pt x="0" y="6953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gradFill>
            <a:gsLst>
              <a:gs pos="0">
                <a:srgbClr val="1A2D44">
                  <a:alpha val="85000"/>
                </a:srgbClr>
              </a:gs>
              <a:gs pos="100000">
                <a:srgbClr val="152638">
                  <a:alpha val="85000"/>
                </a:srgbClr>
              </a:gs>
            </a:gsLst>
            <a:lin ang="2700000" scaled="1"/>
          </a:gradFill>
          <a:ln>
            <a:noFill/>
          </a:ln>
          <a:effectLst>
            <a:outerShdw blurRad="152400" dist="38100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73" name="Freeform 73"/>
          <p:cNvSpPr/>
          <p:nvPr/>
        </p:nvSpPr>
        <p:spPr>
          <a:xfrm>
            <a:off x="4286250" y="5810250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74C3C"/>
          </a:solidFill>
          <a:ln>
            <a:noFill/>
          </a:ln>
        </p:spPr>
      </p:sp>
      <p:sp>
        <p:nvSpPr>
          <p:cNvPr id="74" name="Ellipse 74"/>
          <p:cNvSpPr/>
          <p:nvPr/>
        </p:nvSpPr>
        <p:spPr>
          <a:xfrm>
            <a:off x="4476750" y="5981700"/>
            <a:ext cx="342900" cy="342900"/>
          </a:xfrm>
          <a:prstGeom prst="ellipse">
            <a:avLst/>
          </a:prstGeom>
          <a:solidFill>
            <a:srgbClr val="E74C3C">
              <a:alpha val="15000"/>
            </a:srgbClr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4984432" y="5977414"/>
            <a:ext cx="107674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❌ 现金流吃紧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988242" y="6228874"/>
            <a:ext cx="23650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E0E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经营现金流净额持续为负，造血能力堪忧</a:t>
            </a:r>
          </a:p>
        </p:txBody>
      </p:sp>
      <p:sp>
        <p:nvSpPr>
          <p:cNvPr id="77" name="Freeform 77"/>
          <p:cNvSpPr/>
          <p:nvPr/>
        </p:nvSpPr>
        <p:spPr>
          <a:xfrm>
            <a:off x="8191500" y="5810250"/>
            <a:ext cx="3619500" cy="809625"/>
          </a:xfrm>
          <a:custGeom>
            <a:avLst/>
            <a:gdLst/>
            <a:ahLst/>
            <a:cxnLst/>
            <a:rect l="l" t="t" r="r" b="b"/>
            <a:pathLst>
              <a:path w="3619500" h="809625">
                <a:moveTo>
                  <a:pt x="114300" y="0"/>
                </a:moveTo>
                <a:lnTo>
                  <a:pt x="3505200" y="0"/>
                </a:lnTo>
                <a:cubicBezTo>
                  <a:pt x="3568326" y="0"/>
                  <a:pt x="3619500" y="51174"/>
                  <a:pt x="3619500" y="114300"/>
                </a:cubicBezTo>
                <a:lnTo>
                  <a:pt x="3619500" y="695325"/>
                </a:lnTo>
                <a:cubicBezTo>
                  <a:pt x="3619500" y="758451"/>
                  <a:pt x="3568326" y="809625"/>
                  <a:pt x="3505200" y="809625"/>
                </a:cubicBezTo>
                <a:lnTo>
                  <a:pt x="114300" y="809625"/>
                </a:lnTo>
                <a:cubicBezTo>
                  <a:pt x="51174" y="809625"/>
                  <a:pt x="0" y="758451"/>
                  <a:pt x="0" y="6953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gradFill>
            <a:gsLst>
              <a:gs pos="0">
                <a:srgbClr val="1A2D44">
                  <a:alpha val="85000"/>
                </a:srgbClr>
              </a:gs>
              <a:gs pos="100000">
                <a:srgbClr val="152638">
                  <a:alpha val="85000"/>
                </a:srgbClr>
              </a:gs>
            </a:gsLst>
            <a:lin ang="2700000" scaled="1"/>
          </a:gradFill>
          <a:ln>
            <a:noFill/>
          </a:ln>
          <a:effectLst>
            <a:outerShdw blurRad="152400" dist="38100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78" name="Freeform 78"/>
          <p:cNvSpPr/>
          <p:nvPr/>
        </p:nvSpPr>
        <p:spPr>
          <a:xfrm>
            <a:off x="8191500" y="5810250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74C3C"/>
          </a:solidFill>
          <a:ln>
            <a:noFill/>
          </a:ln>
        </p:spPr>
      </p:sp>
      <p:sp>
        <p:nvSpPr>
          <p:cNvPr id="79" name="Ellipse 79"/>
          <p:cNvSpPr/>
          <p:nvPr/>
        </p:nvSpPr>
        <p:spPr>
          <a:xfrm>
            <a:off x="8382000" y="5981700"/>
            <a:ext cx="342900" cy="342900"/>
          </a:xfrm>
          <a:prstGeom prst="ellipse">
            <a:avLst/>
          </a:prstGeom>
          <a:solidFill>
            <a:srgbClr val="E74C3C">
              <a:alpha val="15000"/>
            </a:srgbClr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8889682" y="5977414"/>
            <a:ext cx="89821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❌ 利润虚高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8893492" y="6228874"/>
            <a:ext cx="23650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0E0E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净利润与现金流严重背离，盈利质量存疑</a:t>
            </a:r>
          </a:p>
        </p:txBody>
      </p:sp>
      <p:sp>
        <p:nvSpPr>
          <p:cNvPr id="82" name="Rectangle 8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48CAE4">
                  <a:alpha val="50000"/>
                </a:srgbClr>
              </a:gs>
              <a:gs pos="100000">
                <a:srgbClr val="0077B6">
                  <a:alpha val="50000"/>
                </a:srgbClr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