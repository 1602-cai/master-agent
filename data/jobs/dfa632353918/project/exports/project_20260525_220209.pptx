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大家好，欢迎参加今天的分享。今天我们将围绕公司的财务状况，重点探讨盈利核心指标、现金流情况，以及当前面临的关键风险与机遇。希望通过这次交流，能帮助大家对整体财务健康度有一个更清晰的认知。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我们来看盈利核心指标。这里展示了几个最关键的数据，包括毛利率、净利率和EBITDA利润率。大家可以注意到，近几个季度我们的毛利率保持在一个相对稳定的水平，但净利率因为运营成本的上升，出现了一些波动。这提示我们需要在成本控制方面投入更多关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深入到现金流层面。这一页重点分析了经营性现金流、投资性现金流和筹资性现金流的变化趋势。可以看到，经营性现金流依然保持了正向流入，这说明我们的主营业务造血能力是健康的。不过投资性现金流的流出有所加大，主要与我们近期的产能扩张项目有关，这一点需要结合后续的回报周期来综合评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来看关键风险与机遇。在风险方面，我们面临两个主要挑战：一是原材料价格波动可能挤压利润空间，二是行业竞争加剧导致获客成本上升。但与此同时，我们也有明显的机遇——新的产品线已经开始贡献收入，而且海外市场的拓展进展超出了预期。可以说，现在是风险和机会并存的阶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总结。整体来看，公司的财务基本面是稳健的，现金流和核心盈利指标都处于可控范围内。接下来的行动重点有三项：第一，推进成本优化项目，提升净利率水平；第二，加快海外布局，抓住市场窗口期；第三，建立更完善的风险预警机制，应对外部不确定性。希望大家会后能针对这些方向展开进一步讨论，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A33"/>
              </a:gs>
              <a:gs pos="50000">
                <a:srgbClr val="002952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>
                  <a:alpha val="60000"/>
                </a:srgbClr>
              </a:gs>
              <a:gs pos="100000">
                <a:srgbClr val="001A3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095500" y="381000"/>
            <a:ext cx="8001000" cy="6096000"/>
          </a:xfrm>
          <a:prstGeom prst="ellipse">
            <a:avLst/>
          </a:prstGeom>
          <a:gradFill>
            <a:gsLst>
              <a:gs pos="0">
                <a:srgbClr val="E67E22">
                  <a:alpha val="15000"/>
                </a:srgbClr>
              </a:gs>
              <a:gs pos="100000">
                <a:srgbClr val="E67E2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9334500" y="1190625"/>
            <a:ext cx="1809750" cy="714375"/>
            <a:chOff x="9334500" y="1190625"/>
            <a:chExt cx="1809750" cy="714375"/>
          </a:xfrm>
        </p:grpSpPr>
        <p:sp>
          <p:nvSpPr>
            <p:cNvPr id="6" name="Polyline 6"/>
            <p:cNvSpPr/>
            <p:nvPr/>
          </p:nvSpPr>
          <p:spPr>
            <a:xfrm>
              <a:off x="9334500" y="1190625"/>
              <a:ext cx="1809750" cy="714375"/>
            </a:xfrm>
            <a:custGeom>
              <a:avLst/>
              <a:gdLst/>
              <a:ahLst/>
              <a:cxnLst/>
              <a:rect l="l" t="t" r="r" b="b"/>
              <a:pathLst>
                <a:path w="1809750" h="714375">
                  <a:moveTo>
                    <a:pt x="0" y="714375"/>
                  </a:moveTo>
                  <a:lnTo>
                    <a:pt x="190500" y="571500"/>
                  </a:lnTo>
                  <a:lnTo>
                    <a:pt x="428625" y="619125"/>
                  </a:lnTo>
                  <a:lnTo>
                    <a:pt x="666750" y="333375"/>
                  </a:lnTo>
                  <a:lnTo>
                    <a:pt x="952500" y="428625"/>
                  </a:lnTo>
                  <a:lnTo>
                    <a:pt x="1238250" y="142875"/>
                  </a:lnTo>
                  <a:lnTo>
                    <a:pt x="1524000" y="190500"/>
                  </a:lnTo>
                  <a:lnTo>
                    <a:pt x="1809750" y="0"/>
                  </a:lnTo>
                </a:path>
              </a:pathLst>
            </a:custGeom>
            <a:noFill/>
            <a:ln w="19050" cap="rnd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7" name="Polyline 7"/>
            <p:cNvSpPr/>
            <p:nvPr/>
          </p:nvSpPr>
          <p:spPr>
            <a:xfrm>
              <a:off x="9334500" y="1285875"/>
              <a:ext cx="1809750" cy="619125"/>
            </a:xfrm>
            <a:custGeom>
              <a:avLst/>
              <a:gdLst/>
              <a:ahLst/>
              <a:cxnLst/>
              <a:rect l="l" t="t" r="r" b="b"/>
              <a:pathLst>
                <a:path w="1809750" h="619125">
                  <a:moveTo>
                    <a:pt x="0" y="619125"/>
                  </a:moveTo>
                  <a:lnTo>
                    <a:pt x="190500" y="542925"/>
                  </a:lnTo>
                  <a:lnTo>
                    <a:pt x="428625" y="571500"/>
                  </a:lnTo>
                  <a:lnTo>
                    <a:pt x="666750" y="381000"/>
                  </a:lnTo>
                  <a:lnTo>
                    <a:pt x="952500" y="428625"/>
                  </a:lnTo>
                  <a:lnTo>
                    <a:pt x="1238250" y="190500"/>
                  </a:lnTo>
                  <a:lnTo>
                    <a:pt x="1524000" y="238125"/>
                  </a:lnTo>
                  <a:lnTo>
                    <a:pt x="1809750" y="0"/>
                  </a:lnTo>
                </a:path>
              </a:pathLst>
            </a:custGeom>
            <a:noFill/>
            <a:ln w="9525" cap="rnd">
              <a:solidFill>
                <a:srgbClr val="FFFFFF">
                  <a:alpha val="5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715500" y="1524000"/>
            <a:ext cx="628650" cy="476250"/>
            <a:chOff x="9715500" y="1524000"/>
            <a:chExt cx="628650" cy="476250"/>
          </a:xfrm>
        </p:grpSpPr>
        <p:sp>
          <p:nvSpPr>
            <p:cNvPr id="9" name="Freeform 9"/>
            <p:cNvSpPr/>
            <p:nvPr/>
          </p:nvSpPr>
          <p:spPr>
            <a:xfrm>
              <a:off x="9715500" y="18097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14300" h="190500">
                  <a:moveTo>
                    <a:pt x="19050" y="0"/>
                  </a:moveTo>
                  <a:lnTo>
                    <a:pt x="95250" y="0"/>
                  </a:lnTo>
                  <a:cubicBezTo>
                    <a:pt x="105771" y="0"/>
                    <a:pt x="114300" y="8529"/>
                    <a:pt x="114300" y="19050"/>
                  </a:cubicBezTo>
                  <a:lnTo>
                    <a:pt x="114300" y="171450"/>
                  </a:lnTo>
                  <a:cubicBezTo>
                    <a:pt x="114300" y="181971"/>
                    <a:pt x="105771" y="190500"/>
                    <a:pt x="95250" y="190500"/>
                  </a:cubicBezTo>
                  <a:lnTo>
                    <a:pt x="19050" y="190500"/>
                  </a:lnTo>
                  <a:cubicBezTo>
                    <a:pt x="8529" y="190500"/>
                    <a:pt x="0" y="181971"/>
                    <a:pt x="0" y="171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886950" y="1666875"/>
              <a:ext cx="114300" cy="333375"/>
            </a:xfrm>
            <a:custGeom>
              <a:avLst/>
              <a:gdLst/>
              <a:ahLst/>
              <a:cxnLst/>
              <a:rect l="l" t="t" r="r" b="b"/>
              <a:pathLst>
                <a:path w="114300" h="333375">
                  <a:moveTo>
                    <a:pt x="19050" y="0"/>
                  </a:moveTo>
                  <a:lnTo>
                    <a:pt x="95250" y="0"/>
                  </a:lnTo>
                  <a:cubicBezTo>
                    <a:pt x="105771" y="0"/>
                    <a:pt x="114300" y="8529"/>
                    <a:pt x="114300" y="19050"/>
                  </a:cubicBezTo>
                  <a:lnTo>
                    <a:pt x="114300" y="314325"/>
                  </a:lnTo>
                  <a:cubicBezTo>
                    <a:pt x="114300" y="324846"/>
                    <a:pt x="105771" y="333375"/>
                    <a:pt x="95250" y="333375"/>
                  </a:cubicBezTo>
                  <a:lnTo>
                    <a:pt x="19050" y="333375"/>
                  </a:lnTo>
                  <a:cubicBezTo>
                    <a:pt x="8529" y="333375"/>
                    <a:pt x="0" y="324846"/>
                    <a:pt x="0" y="31432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058400" y="1524000"/>
              <a:ext cx="114300" cy="476250"/>
            </a:xfrm>
            <a:custGeom>
              <a:avLst/>
              <a:gdLst/>
              <a:ahLst/>
              <a:cxnLst/>
              <a:rect l="l" t="t" r="r" b="b"/>
              <a:pathLst>
                <a:path w="114300" h="476250">
                  <a:moveTo>
                    <a:pt x="19050" y="0"/>
                  </a:moveTo>
                  <a:lnTo>
                    <a:pt x="95250" y="0"/>
                  </a:lnTo>
                  <a:cubicBezTo>
                    <a:pt x="105771" y="0"/>
                    <a:pt x="114300" y="8529"/>
                    <a:pt x="114300" y="19050"/>
                  </a:cubicBezTo>
                  <a:lnTo>
                    <a:pt x="114300" y="457200"/>
                  </a:lnTo>
                  <a:cubicBezTo>
                    <a:pt x="114300" y="467721"/>
                    <a:pt x="105771" y="476250"/>
                    <a:pt x="95250" y="476250"/>
                  </a:cubicBezTo>
                  <a:lnTo>
                    <a:pt x="19050" y="476250"/>
                  </a:lnTo>
                  <a:cubicBezTo>
                    <a:pt x="8529" y="476250"/>
                    <a:pt x="0" y="467721"/>
                    <a:pt x="0" y="4572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229850" y="1714500"/>
              <a:ext cx="114300" cy="285750"/>
            </a:xfrm>
            <a:custGeom>
              <a:avLst/>
              <a:gdLst/>
              <a:ahLst/>
              <a:cxnLst/>
              <a:rect l="l" t="t" r="r" b="b"/>
              <a:pathLst>
                <a:path w="114300" h="285750">
                  <a:moveTo>
                    <a:pt x="19050" y="0"/>
                  </a:moveTo>
                  <a:lnTo>
                    <a:pt x="95250" y="0"/>
                  </a:lnTo>
                  <a:cubicBezTo>
                    <a:pt x="105771" y="0"/>
                    <a:pt x="114300" y="8529"/>
                    <a:pt x="114300" y="19050"/>
                  </a:cubicBezTo>
                  <a:lnTo>
                    <a:pt x="114300" y="266700"/>
                  </a:lnTo>
                  <a:cubicBezTo>
                    <a:pt x="114300" y="277221"/>
                    <a:pt x="105771" y="285750"/>
                    <a:pt x="95250" y="285750"/>
                  </a:cubicBezTo>
                  <a:lnTo>
                    <a:pt x="19050" y="285750"/>
                  </a:lnTo>
                  <a:cubicBezTo>
                    <a:pt x="8529" y="285750"/>
                    <a:pt x="0" y="277221"/>
                    <a:pt x="0" y="2667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23925" y="1019175"/>
            <a:ext cx="1200150" cy="485775"/>
            <a:chOff x="923925" y="1019175"/>
            <a:chExt cx="1200150" cy="485775"/>
          </a:xfrm>
        </p:grpSpPr>
        <p:sp>
          <p:nvSpPr>
            <p:cNvPr id="14" name="Ellipse 14"/>
            <p:cNvSpPr/>
            <p:nvPr/>
          </p:nvSpPr>
          <p:spPr>
            <a:xfrm>
              <a:off x="923925" y="120967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209675" y="106680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495425" y="130492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781175" y="101917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066925" y="116205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66800" y="140017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638300" y="144780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924050" y="135255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4953000"/>
            <a:ext cx="1914525" cy="581025"/>
            <a:chOff x="571500" y="4953000"/>
            <a:chExt cx="1914525" cy="581025"/>
          </a:xfrm>
        </p:grpSpPr>
        <p:sp>
          <p:nvSpPr>
            <p:cNvPr id="23" name="Line 23"/>
            <p:cNvSpPr/>
            <p:nvPr/>
          </p:nvSpPr>
          <p:spPr>
            <a:xfrm>
              <a:off x="571500" y="4953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71500" y="5143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71500" y="5334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71500" y="5524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71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52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333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714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95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476500" y="4953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715500" y="5067300"/>
            <a:ext cx="1743075" cy="457200"/>
            <a:chOff x="9715500" y="5067300"/>
            <a:chExt cx="1743075" cy="457200"/>
          </a:xfrm>
        </p:grpSpPr>
        <p:sp>
          <p:nvSpPr>
            <p:cNvPr id="34" name="Polyline 34"/>
            <p:cNvSpPr/>
            <p:nvPr/>
          </p:nvSpPr>
          <p:spPr>
            <a:xfrm>
              <a:off x="9715500" y="5095875"/>
              <a:ext cx="1714500" cy="428625"/>
            </a:xfrm>
            <a:custGeom>
              <a:avLst/>
              <a:gdLst/>
              <a:ahLst/>
              <a:cxnLst/>
              <a:rect l="l" t="t" r="r" b="b"/>
              <a:pathLst>
                <a:path w="1714500" h="428625">
                  <a:moveTo>
                    <a:pt x="0" y="428625"/>
                  </a:moveTo>
                  <a:lnTo>
                    <a:pt x="190500" y="381000"/>
                  </a:lnTo>
                  <a:lnTo>
                    <a:pt x="381000" y="409575"/>
                  </a:lnTo>
                  <a:lnTo>
                    <a:pt x="571500" y="238125"/>
                  </a:lnTo>
                  <a:lnTo>
                    <a:pt x="762000" y="285750"/>
                  </a:lnTo>
                  <a:lnTo>
                    <a:pt x="952500" y="95250"/>
                  </a:lnTo>
                  <a:lnTo>
                    <a:pt x="1143000" y="142875"/>
                  </a:lnTo>
                  <a:lnTo>
                    <a:pt x="1333500" y="47625"/>
                  </a:lnTo>
                  <a:lnTo>
                    <a:pt x="1524000" y="123825"/>
                  </a:lnTo>
                  <a:lnTo>
                    <a:pt x="1714500" y="0"/>
                  </a:lnTo>
                </a:path>
              </a:pathLst>
            </a:custGeom>
            <a:noFill/>
            <a:ln w="14288" cap="rnd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0258425" y="530542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639425" y="516255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020425" y="5114925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401425" y="5067300"/>
              <a:ext cx="57150" cy="571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</p:grpSp>
      <p:sp>
        <p:nvSpPr>
          <p:cNvPr id="40" name="Ellipse 40"/>
          <p:cNvSpPr/>
          <p:nvPr/>
        </p:nvSpPr>
        <p:spPr>
          <a:xfrm>
            <a:off x="1866900" y="1676400"/>
            <a:ext cx="76200" cy="76200"/>
          </a:xfrm>
          <a:prstGeom prst="ellipse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10420350" y="1847850"/>
            <a:ext cx="114300" cy="114300"/>
          </a:xfrm>
          <a:prstGeom prst="ellipse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1400175" y="4257675"/>
            <a:ext cx="57150" cy="57150"/>
          </a:xfrm>
          <a:prstGeom prst="ellipse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9953625" y="4714875"/>
            <a:ext cx="95250" cy="95250"/>
          </a:xfrm>
          <a:prstGeom prst="ellipse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191000" y="2047875"/>
            <a:ext cx="3810000" cy="9525"/>
          </a:xfrm>
          <a:prstGeom prst="rect">
            <a:avLst/>
          </a:prstGeom>
          <a:gradFill>
            <a:gsLst>
              <a:gs pos="0">
                <a:srgbClr val="E67E22">
                  <a:alpha val="0"/>
                </a:srgbClr>
              </a:gs>
              <a:gs pos="30000">
                <a:srgbClr val="E67E22">
                  <a:alpha val="80000"/>
                </a:srgbClr>
              </a:gs>
              <a:gs pos="70000">
                <a:srgbClr val="E67E22">
                  <a:alpha val="80000"/>
                </a:srgbClr>
              </a:gs>
              <a:gs pos="100000">
                <a:srgbClr val="E67E2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509260" y="2421255"/>
            <a:ext cx="11734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50000"/>
                  </a:srgbClr>
                </a:solidFill>
                <a:latin typeface="Montserrat"/>
                <a:ea typeface="Microsoft YaHei"/>
                <a:cs typeface="Montserrat"/>
              </a:rPr>
              <a:t>锐明技术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46704" y="2891790"/>
            <a:ext cx="54985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盈利质量分析报告</a:t>
            </a:r>
          </a:p>
        </p:txBody>
      </p:sp>
      <p:sp>
        <p:nvSpPr>
          <p:cNvPr id="47" name="Freeform 47"/>
          <p:cNvSpPr/>
          <p:nvPr/>
        </p:nvSpPr>
        <p:spPr>
          <a:xfrm>
            <a:off x="5619750" y="366712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301133" y="3950018"/>
            <a:ext cx="358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60000"/>
                  </a:srgbClr>
                </a:solidFill>
                <a:latin typeface="Montserrat"/>
                <a:ea typeface="Microsoft YaHei"/>
                <a:cs typeface="Montserrat"/>
              </a:rPr>
              <a:t>—— 基于2023-2024年度财务数据深度分析 ——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191000" y="4381500"/>
            <a:ext cx="3810000" cy="9525"/>
          </a:xfrm>
          <a:prstGeom prst="rect">
            <a:avLst/>
          </a:prstGeom>
          <a:gradFill>
            <a:gsLst>
              <a:gs pos="0">
                <a:srgbClr val="E67E22">
                  <a:alpha val="0"/>
                </a:srgbClr>
              </a:gs>
              <a:gs pos="30000">
                <a:srgbClr val="E67E22">
                  <a:alpha val="80000"/>
                </a:srgbClr>
              </a:gs>
              <a:gs pos="70000">
                <a:srgbClr val="E67E22">
                  <a:alpha val="80000"/>
                </a:srgbClr>
              </a:gs>
              <a:gs pos="100000">
                <a:srgbClr val="E67E2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0" y="6096000"/>
            <a:ext cx="12192000" cy="19050"/>
          </a:xfrm>
          <a:prstGeom prst="rect">
            <a:avLst/>
          </a:prstGeom>
          <a:gradFill>
            <a:gsLst>
              <a:gs pos="0">
                <a:srgbClr val="E67E22">
                  <a:alpha val="0"/>
                </a:srgbClr>
              </a:gs>
              <a:gs pos="15000">
                <a:srgbClr val="E67E22"/>
              </a:gs>
              <a:gs pos="85000">
                <a:srgbClr val="E67E22"/>
              </a:gs>
              <a:gs pos="100000">
                <a:srgbClr val="E67E2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49618" y="6295549"/>
            <a:ext cx="155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35000"/>
                  </a:srgbClr>
                </a:solidFill>
                <a:latin typeface="Calibri"/>
                <a:ea typeface="Microsoft YaHei"/>
                <a:cs typeface="Calibri"/>
              </a:rPr>
              <a:t>分类编号 · FIN-2024-R001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71549" y="62955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>
                    <a:alphaMod val="35000"/>
                  </a:srgbClr>
                </a:solidFill>
                <a:latin typeface="Calibri"/>
                <a:ea typeface="Microsoft YaHei"/>
                <a:cs typeface="Calibri"/>
              </a:rPr>
              <a:t>2024年度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285750" y="285750"/>
            <a:ext cx="381000" cy="381000"/>
            <a:chOff x="285750" y="285750"/>
            <a:chExt cx="381000" cy="381000"/>
          </a:xfrm>
        </p:grpSpPr>
        <p:sp>
          <p:nvSpPr>
            <p:cNvPr id="53" name="Rectangle 53"/>
            <p:cNvSpPr/>
            <p:nvPr/>
          </p:nvSpPr>
          <p:spPr>
            <a:xfrm>
              <a:off x="285750" y="285750"/>
              <a:ext cx="28575" cy="381000"/>
            </a:xfrm>
            <a:prstGeom prst="rect">
              <a:avLst/>
            </a:prstGeom>
            <a:solidFill>
              <a:srgbClr val="E67E22">
                <a:alpha val="60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85750" y="285750"/>
              <a:ext cx="381000" cy="28575"/>
            </a:xfrm>
            <a:prstGeom prst="rect">
              <a:avLst/>
            </a:prstGeom>
            <a:solidFill>
              <a:srgbClr val="E67E22">
                <a:alpha val="60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61950" y="361950"/>
              <a:ext cx="19050" cy="228600"/>
            </a:xfrm>
            <a:prstGeom prst="rect">
              <a:avLst/>
            </a:prstGeom>
            <a:solidFill>
              <a:srgbClr val="E67E22">
                <a:alpha val="30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61950" y="361950"/>
              <a:ext cx="228600" cy="19050"/>
            </a:xfrm>
            <a:prstGeom prst="rect">
              <a:avLst/>
            </a:prstGeom>
            <a:solidFill>
              <a:srgbClr val="E67E22">
                <a:alpha val="30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1811000" y="6191250"/>
            <a:ext cx="381000" cy="381000"/>
            <a:chOff x="11811000" y="6191250"/>
            <a:chExt cx="381000" cy="381000"/>
          </a:xfrm>
        </p:grpSpPr>
        <p:sp>
          <p:nvSpPr>
            <p:cNvPr id="58" name="Rectangle 58"/>
            <p:cNvSpPr/>
            <p:nvPr/>
          </p:nvSpPr>
          <p:spPr>
            <a:xfrm rot="10800000">
              <a:off x="11811000" y="6191250"/>
              <a:ext cx="28575" cy="381000"/>
            </a:xfrm>
            <a:prstGeom prst="rect">
              <a:avLst/>
            </a:prstGeom>
            <a:solidFill>
              <a:srgbClr val="E67E22">
                <a:alpha val="40000"/>
              </a:srgb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 rot="10800000">
              <a:off x="11811000" y="6191250"/>
              <a:ext cx="381000" cy="28575"/>
            </a:xfrm>
            <a:prstGeom prst="rect">
              <a:avLst/>
            </a:prstGeom>
            <a:solidFill>
              <a:srgbClr val="E67E22">
                <a:alpha val="40000"/>
              </a:srgbClr>
            </a:solidFill>
            <a:ln>
              <a:noFill/>
            </a:ln>
          </p:spPr>
        </p:sp>
      </p:grpSp>
      <p:sp>
        <p:nvSpPr>
          <p:cNvPr id="61" name="Freeform 61"/>
          <p:cNvSpPr/>
          <p:nvPr/>
        </p:nvSpPr>
        <p:spPr>
          <a:xfrm>
            <a:off x="6029325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lnTo>
                  <a:pt x="66675" y="133350"/>
                </a:lnTo>
                <a:moveTo>
                  <a:pt x="0" y="66675"/>
                </a:moveTo>
                <a:lnTo>
                  <a:pt x="66675" y="133350"/>
                </a:lnTo>
                <a:lnTo>
                  <a:pt x="133350" y="66675"/>
                </a:lnTo>
              </a:path>
            </a:pathLst>
          </a:custGeom>
          <a:noFill/>
          <a:ln w="19050" cap="rnd">
            <a:solidFill>
              <a:srgbClr val="E67E22">
                <a:alpha val="15000"/>
              </a:srgbClr>
            </a:solidFill>
            <a:round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5F5"/>
              </a:gs>
              <a:gs pos="100000">
                <a:srgbClr val="EEEEEE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4" name="Rectangle 4"/>
          <p:cNvSpPr/>
          <p:nvPr/>
        </p:nvSpPr>
        <p:spPr>
          <a:xfrm>
            <a:off x="0" y="723900"/>
            <a:ext cx="12192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38100" cy="72390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32435" y="246698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366"/>
                </a:solidFill>
                <a:latin typeface="Montserrat Bold"/>
                <a:ea typeface="Microsoft YaHei"/>
                <a:cs typeface="Montserrat Bold"/>
              </a:rPr>
              <a:t>盈利核心指标概览</a:t>
            </a:r>
          </a:p>
        </p:txBody>
      </p:sp>
      <p:sp>
        <p:nvSpPr>
          <p:cNvPr id="7" name="Freeform 7"/>
          <p:cNvSpPr/>
          <p:nvPr/>
        </p:nvSpPr>
        <p:spPr>
          <a:xfrm>
            <a:off x="4191000" y="266700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133350" y="0"/>
                </a:moveTo>
                <a:lnTo>
                  <a:pt x="1104900" y="0"/>
                </a:lnTo>
                <a:cubicBezTo>
                  <a:pt x="1178547" y="0"/>
                  <a:pt x="1238250" y="59703"/>
                  <a:pt x="1238250" y="133350"/>
                </a:cubicBezTo>
                <a:lnTo>
                  <a:pt x="1238250" y="133350"/>
                </a:lnTo>
                <a:cubicBezTo>
                  <a:pt x="1238250" y="206997"/>
                  <a:pt x="1178547" y="266700"/>
                  <a:pt x="1104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4349750" y="323850"/>
            <a:ext cx="101600" cy="114300"/>
            <a:chOff x="4349750" y="323850"/>
            <a:chExt cx="101600" cy="114300"/>
          </a:xfrm>
        </p:grpSpPr>
        <p:sp>
          <p:nvSpPr>
            <p:cNvPr id="8" name="Freeform 8"/>
            <p:cNvSpPr/>
            <p:nvPr/>
          </p:nvSpPr>
          <p:spPr>
            <a:xfrm>
              <a:off x="4349750" y="33655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12700"/>
                  </a:moveTo>
                  <a:cubicBezTo>
                    <a:pt x="0" y="5686"/>
                    <a:pt x="5686" y="0"/>
                    <a:pt x="12700" y="0"/>
                  </a:cubicBezTo>
                  <a:lnTo>
                    <a:pt x="88900" y="0"/>
                  </a:lnTo>
                  <a:cubicBezTo>
                    <a:pt x="95914" y="0"/>
                    <a:pt x="101600" y="5686"/>
                    <a:pt x="101600" y="12700"/>
                  </a:cubicBezTo>
                  <a:lnTo>
                    <a:pt x="101600" y="88900"/>
                  </a:lnTo>
                  <a:cubicBezTo>
                    <a:pt x="101600" y="95914"/>
                    <a:pt x="95914" y="101600"/>
                    <a:pt x="88900" y="101600"/>
                  </a:cubicBezTo>
                  <a:lnTo>
                    <a:pt x="12700" y="101600"/>
                  </a:lnTo>
                  <a:cubicBezTo>
                    <a:pt x="5686" y="101600"/>
                    <a:pt x="0" y="95914"/>
                    <a:pt x="0" y="88900"/>
                  </a:cubicBezTo>
                  <a:lnTo>
                    <a:pt x="0" y="127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425950" y="323850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9525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75150" y="323850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9525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349750" y="374650"/>
              <a:ext cx="101600" cy="9525"/>
            </a:xfrm>
            <a:custGeom>
              <a:avLst/>
              <a:gdLst/>
              <a:ahLst/>
              <a:cxnLst/>
              <a:rect l="l" t="t" r="r" b="b"/>
              <a:pathLst>
                <a:path w="101600" h="9525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75150" y="393700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9525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400550" y="393700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9525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25950" y="393700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9525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4521518" y="342424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2023-2024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19750" y="266700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133350" y="0"/>
                </a:moveTo>
                <a:lnTo>
                  <a:pt x="514350" y="0"/>
                </a:lnTo>
                <a:cubicBezTo>
                  <a:pt x="587997" y="0"/>
                  <a:pt x="647700" y="59703"/>
                  <a:pt x="647700" y="133350"/>
                </a:cubicBezTo>
                <a:lnTo>
                  <a:pt x="647700" y="133350"/>
                </a:lnTo>
                <a:cubicBezTo>
                  <a:pt x="647700" y="206997"/>
                  <a:pt x="587997" y="266700"/>
                  <a:pt x="5143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750242" y="34242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年度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62700" y="266700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133350" y="0"/>
                </a:moveTo>
                <a:lnTo>
                  <a:pt x="514350" y="0"/>
                </a:lnTo>
                <a:cubicBezTo>
                  <a:pt x="587997" y="0"/>
                  <a:pt x="647700" y="59703"/>
                  <a:pt x="647700" y="133350"/>
                </a:cubicBezTo>
                <a:lnTo>
                  <a:pt x="647700" y="133350"/>
                </a:lnTo>
                <a:cubicBezTo>
                  <a:pt x="647700" y="206997"/>
                  <a:pt x="587997" y="266700"/>
                  <a:pt x="5143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93192" y="342424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季度</a:t>
            </a:r>
          </a:p>
        </p:txBody>
      </p:sp>
      <p:sp>
        <p:nvSpPr>
          <p:cNvPr id="21" name="Freeform 21"/>
          <p:cNvSpPr/>
          <p:nvPr/>
        </p:nvSpPr>
        <p:spPr>
          <a:xfrm>
            <a:off x="457200" y="990600"/>
            <a:ext cx="3543300" cy="1676400"/>
          </a:xfrm>
          <a:custGeom>
            <a:avLst/>
            <a:gdLst/>
            <a:ahLst/>
            <a:cxnLst/>
            <a:rect l="l" t="t" r="r" b="b"/>
            <a:pathLst>
              <a:path w="3543300" h="1676400">
                <a:moveTo>
                  <a:pt x="114300" y="0"/>
                </a:moveTo>
                <a:lnTo>
                  <a:pt x="3429000" y="0"/>
                </a:lnTo>
                <a:cubicBezTo>
                  <a:pt x="3492126" y="0"/>
                  <a:pt x="3543300" y="51174"/>
                  <a:pt x="3543300" y="114300"/>
                </a:cubicBezTo>
                <a:lnTo>
                  <a:pt x="3543300" y="1562100"/>
                </a:lnTo>
                <a:cubicBezTo>
                  <a:pt x="3543300" y="1625226"/>
                  <a:pt x="3492126" y="1676400"/>
                  <a:pt x="3429000" y="1676400"/>
                </a:cubicBezTo>
                <a:lnTo>
                  <a:pt x="114300" y="1676400"/>
                </a:lnTo>
                <a:cubicBezTo>
                  <a:pt x="51174" y="1676400"/>
                  <a:pt x="0" y="1625226"/>
                  <a:pt x="0" y="1562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22" name="Freeform 22"/>
          <p:cNvSpPr/>
          <p:nvPr/>
        </p:nvSpPr>
        <p:spPr>
          <a:xfrm>
            <a:off x="457200" y="990600"/>
            <a:ext cx="3543300" cy="38100"/>
          </a:xfrm>
          <a:custGeom>
            <a:avLst/>
            <a:gdLst/>
            <a:ahLst/>
            <a:cxnLst/>
            <a:rect l="l" t="t" r="r" b="b"/>
            <a:pathLst>
              <a:path w="3543300" h="38100">
                <a:moveTo>
                  <a:pt x="19050" y="0"/>
                </a:moveTo>
                <a:lnTo>
                  <a:pt x="3524250" y="0"/>
                </a:lnTo>
                <a:cubicBezTo>
                  <a:pt x="3534771" y="0"/>
                  <a:pt x="3543300" y="8529"/>
                  <a:pt x="3543300" y="19050"/>
                </a:cubicBezTo>
                <a:lnTo>
                  <a:pt x="3543300" y="19050"/>
                </a:lnTo>
                <a:cubicBezTo>
                  <a:pt x="3543300" y="29571"/>
                  <a:pt x="3534771" y="38100"/>
                  <a:pt x="35242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711994" y="1245394"/>
            <a:ext cx="157162" cy="157162"/>
            <a:chOff x="711994" y="1245394"/>
            <a:chExt cx="157162" cy="157162"/>
          </a:xfrm>
        </p:grpSpPr>
        <p:sp>
          <p:nvSpPr>
            <p:cNvPr id="23" name="Freeform 23"/>
            <p:cNvSpPr/>
            <p:nvPr/>
          </p:nvSpPr>
          <p:spPr>
            <a:xfrm>
              <a:off x="711994" y="1245394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0" y="78581"/>
                  </a:moveTo>
                  <a:cubicBezTo>
                    <a:pt x="0" y="121980"/>
                    <a:pt x="35182" y="157162"/>
                    <a:pt x="78581" y="157162"/>
                  </a:cubicBezTo>
                  <a:cubicBezTo>
                    <a:pt x="121980" y="157162"/>
                    <a:pt x="157162" y="121980"/>
                    <a:pt x="157162" y="78581"/>
                  </a:cubicBezTo>
                  <a:cubicBezTo>
                    <a:pt x="157162" y="35182"/>
                    <a:pt x="121980" y="0"/>
                    <a:pt x="78581" y="0"/>
                  </a:cubicBezTo>
                  <a:cubicBezTo>
                    <a:pt x="35182" y="0"/>
                    <a:pt x="0" y="35182"/>
                    <a:pt x="0" y="78581"/>
                  </a:cubicBez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64381" y="1288833"/>
              <a:ext cx="52388" cy="70284"/>
            </a:xfrm>
            <a:custGeom>
              <a:avLst/>
              <a:gdLst/>
              <a:ahLst/>
              <a:cxnLst/>
              <a:rect l="l" t="t" r="r" b="b"/>
              <a:pathLst>
                <a:path w="52388" h="70284">
                  <a:moveTo>
                    <a:pt x="50641" y="8948"/>
                  </a:moveTo>
                  <a:cubicBezTo>
                    <a:pt x="47418" y="3358"/>
                    <a:pt x="41375" y="0"/>
                    <a:pt x="34925" y="217"/>
                  </a:cubicBezTo>
                  <a:lnTo>
                    <a:pt x="17462" y="217"/>
                  </a:lnTo>
                  <a:cubicBezTo>
                    <a:pt x="7818" y="217"/>
                    <a:pt x="0" y="8035"/>
                    <a:pt x="0" y="17680"/>
                  </a:cubicBezTo>
                  <a:cubicBezTo>
                    <a:pt x="0" y="27324"/>
                    <a:pt x="7818" y="35142"/>
                    <a:pt x="17462" y="35142"/>
                  </a:cubicBezTo>
                  <a:lnTo>
                    <a:pt x="34925" y="35142"/>
                  </a:lnTo>
                  <a:cubicBezTo>
                    <a:pt x="44569" y="35142"/>
                    <a:pt x="52388" y="42960"/>
                    <a:pt x="52388" y="52605"/>
                  </a:cubicBezTo>
                  <a:cubicBezTo>
                    <a:pt x="52388" y="62249"/>
                    <a:pt x="44569" y="70067"/>
                    <a:pt x="34925" y="70067"/>
                  </a:cubicBezTo>
                  <a:lnTo>
                    <a:pt x="17462" y="70067"/>
                  </a:lnTo>
                  <a:cubicBezTo>
                    <a:pt x="11013" y="70284"/>
                    <a:pt x="4969" y="66927"/>
                    <a:pt x="1746" y="61336"/>
                  </a:cubicBez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90575" y="1280319"/>
              <a:ext cx="9525" cy="87313"/>
            </a:xfrm>
            <a:custGeom>
              <a:avLst/>
              <a:gdLst/>
              <a:ahLst/>
              <a:cxnLst/>
              <a:rect l="l" t="t" r="r" b="b"/>
              <a:pathLst>
                <a:path w="9525" h="87313">
                  <a:moveTo>
                    <a:pt x="0" y="0"/>
                  </a:moveTo>
                  <a:lnTo>
                    <a:pt x="0" y="87313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76312" y="12596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营业总收入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9605" y="1692592"/>
            <a:ext cx="13265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03366"/>
                </a:solidFill>
                <a:latin typeface="Montserrat Bold"/>
                <a:ea typeface="Microsoft YaHei"/>
                <a:cs typeface="Montserrat Bold"/>
              </a:rPr>
              <a:t>286.49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5010" y="1870710"/>
            <a:ext cx="350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亿元</a:t>
            </a:r>
          </a:p>
        </p:txBody>
      </p:sp>
      <p:sp>
        <p:nvSpPr>
          <p:cNvPr id="30" name="Freeform 30"/>
          <p:cNvSpPr/>
          <p:nvPr/>
        </p:nvSpPr>
        <p:spPr>
          <a:xfrm>
            <a:off x="685800" y="2209800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114300" y="0"/>
                </a:moveTo>
                <a:lnTo>
                  <a:pt x="457200" y="0"/>
                </a:lnTo>
                <a:cubicBezTo>
                  <a:pt x="520326" y="0"/>
                  <a:pt x="571500" y="51174"/>
                  <a:pt x="571500" y="114300"/>
                </a:cubicBezTo>
                <a:lnTo>
                  <a:pt x="571500" y="114300"/>
                </a:lnTo>
                <a:cubicBezTo>
                  <a:pt x="571500" y="177426"/>
                  <a:pt x="520326" y="228600"/>
                  <a:pt x="457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778669" y="2286794"/>
            <a:ext cx="100013" cy="55562"/>
            <a:chOff x="778669" y="2286794"/>
            <a:chExt cx="100013" cy="55562"/>
          </a:xfrm>
        </p:grpSpPr>
        <p:sp>
          <p:nvSpPr>
            <p:cNvPr id="31" name="Freeform 31"/>
            <p:cNvSpPr/>
            <p:nvPr/>
          </p:nvSpPr>
          <p:spPr>
            <a:xfrm>
              <a:off x="778669" y="2286794"/>
              <a:ext cx="100012" cy="55562"/>
            </a:xfrm>
            <a:custGeom>
              <a:avLst/>
              <a:gdLst/>
              <a:ahLst/>
              <a:cxnLst/>
              <a:rect l="l" t="t" r="r" b="b"/>
              <a:pathLst>
                <a:path w="100012" h="55562">
                  <a:moveTo>
                    <a:pt x="0" y="55562"/>
                  </a:moveTo>
                  <a:lnTo>
                    <a:pt x="33338" y="22225"/>
                  </a:lnTo>
                  <a:lnTo>
                    <a:pt x="55562" y="44450"/>
                  </a:lnTo>
                  <a:lnTo>
                    <a:pt x="100012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39788" y="2286794"/>
              <a:ext cx="38894" cy="38894"/>
            </a:xfrm>
            <a:custGeom>
              <a:avLst/>
              <a:gdLst/>
              <a:ahLst/>
              <a:cxnLst/>
              <a:rect l="l" t="t" r="r" b="b"/>
              <a:pathLst>
                <a:path w="38894" h="38894">
                  <a:moveTo>
                    <a:pt x="0" y="0"/>
                  </a:moveTo>
                  <a:lnTo>
                    <a:pt x="38894" y="0"/>
                  </a:lnTo>
                  <a:lnTo>
                    <a:pt x="38894" y="38894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22020" y="2274570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7D32"/>
                </a:solidFill>
                <a:latin typeface="Calibri"/>
                <a:ea typeface="Microsoft YaHei"/>
                <a:cs typeface="Calibri"/>
              </a:rPr>
              <a:t>+12.8%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9222" y="22826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同比</a:t>
            </a:r>
          </a:p>
        </p:txBody>
      </p:sp>
      <p:sp>
        <p:nvSpPr>
          <p:cNvPr id="36" name="Freeform 36"/>
          <p:cNvSpPr/>
          <p:nvPr/>
        </p:nvSpPr>
        <p:spPr>
          <a:xfrm>
            <a:off x="4324350" y="990600"/>
            <a:ext cx="3543300" cy="1676400"/>
          </a:xfrm>
          <a:custGeom>
            <a:avLst/>
            <a:gdLst/>
            <a:ahLst/>
            <a:cxnLst/>
            <a:rect l="l" t="t" r="r" b="b"/>
            <a:pathLst>
              <a:path w="3543300" h="1676400">
                <a:moveTo>
                  <a:pt x="114300" y="0"/>
                </a:moveTo>
                <a:lnTo>
                  <a:pt x="3429000" y="0"/>
                </a:lnTo>
                <a:cubicBezTo>
                  <a:pt x="3492126" y="0"/>
                  <a:pt x="3543300" y="51174"/>
                  <a:pt x="3543300" y="114300"/>
                </a:cubicBezTo>
                <a:lnTo>
                  <a:pt x="3543300" y="1562100"/>
                </a:lnTo>
                <a:cubicBezTo>
                  <a:pt x="3543300" y="1625226"/>
                  <a:pt x="3492126" y="1676400"/>
                  <a:pt x="3429000" y="1676400"/>
                </a:cubicBezTo>
                <a:lnTo>
                  <a:pt x="114300" y="1676400"/>
                </a:lnTo>
                <a:cubicBezTo>
                  <a:pt x="51174" y="1676400"/>
                  <a:pt x="0" y="1625226"/>
                  <a:pt x="0" y="1562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37" name="Freeform 37"/>
          <p:cNvSpPr/>
          <p:nvPr/>
        </p:nvSpPr>
        <p:spPr>
          <a:xfrm>
            <a:off x="4324350" y="990600"/>
            <a:ext cx="3543300" cy="38100"/>
          </a:xfrm>
          <a:custGeom>
            <a:avLst/>
            <a:gdLst/>
            <a:ahLst/>
            <a:cxnLst/>
            <a:rect l="l" t="t" r="r" b="b"/>
            <a:pathLst>
              <a:path w="3543300" h="38100">
                <a:moveTo>
                  <a:pt x="19050" y="0"/>
                </a:moveTo>
                <a:lnTo>
                  <a:pt x="3524250" y="0"/>
                </a:lnTo>
                <a:cubicBezTo>
                  <a:pt x="3534771" y="0"/>
                  <a:pt x="3543300" y="8529"/>
                  <a:pt x="3543300" y="19050"/>
                </a:cubicBezTo>
                <a:lnTo>
                  <a:pt x="3543300" y="19050"/>
                </a:lnTo>
                <a:cubicBezTo>
                  <a:pt x="3543300" y="29571"/>
                  <a:pt x="3534771" y="38100"/>
                  <a:pt x="35242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4596606" y="1245394"/>
            <a:ext cx="122238" cy="157162"/>
            <a:chOff x="4596606" y="1245394"/>
            <a:chExt cx="122238" cy="157162"/>
          </a:xfrm>
        </p:grpSpPr>
        <p:sp>
          <p:nvSpPr>
            <p:cNvPr id="38" name="Freeform 38"/>
            <p:cNvSpPr/>
            <p:nvPr/>
          </p:nvSpPr>
          <p:spPr>
            <a:xfrm>
              <a:off x="4675188" y="1245394"/>
              <a:ext cx="43656" cy="43656"/>
            </a:xfrm>
            <a:custGeom>
              <a:avLst/>
              <a:gdLst/>
              <a:ahLst/>
              <a:cxnLst/>
              <a:rect l="l" t="t" r="r" b="b"/>
              <a:pathLst>
                <a:path w="43656" h="43656">
                  <a:moveTo>
                    <a:pt x="0" y="0"/>
                  </a:moveTo>
                  <a:lnTo>
                    <a:pt x="0" y="34925"/>
                  </a:lnTo>
                  <a:cubicBezTo>
                    <a:pt x="0" y="39747"/>
                    <a:pt x="3909" y="43656"/>
                    <a:pt x="8731" y="43656"/>
                  </a:cubicBezTo>
                  <a:lnTo>
                    <a:pt x="43656" y="43656"/>
                  </a:ln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596606" y="1245394"/>
              <a:ext cx="122238" cy="157162"/>
            </a:xfrm>
            <a:custGeom>
              <a:avLst/>
              <a:gdLst/>
              <a:ahLst/>
              <a:cxnLst/>
              <a:rect l="l" t="t" r="r" b="b"/>
              <a:pathLst>
                <a:path w="122238" h="157162">
                  <a:moveTo>
                    <a:pt x="104775" y="157162"/>
                  </a:moveTo>
                  <a:lnTo>
                    <a:pt x="17463" y="157162"/>
                  </a:lnTo>
                  <a:cubicBezTo>
                    <a:pt x="7818" y="157162"/>
                    <a:pt x="0" y="149344"/>
                    <a:pt x="0" y="139700"/>
                  </a:cubicBezTo>
                  <a:lnTo>
                    <a:pt x="0" y="17463"/>
                  </a:lnTo>
                  <a:cubicBezTo>
                    <a:pt x="0" y="7818"/>
                    <a:pt x="7818" y="0"/>
                    <a:pt x="17463" y="0"/>
                  </a:cubicBezTo>
                  <a:lnTo>
                    <a:pt x="78581" y="0"/>
                  </a:lnTo>
                  <a:lnTo>
                    <a:pt x="122238" y="43656"/>
                  </a:lnTo>
                  <a:lnTo>
                    <a:pt x="122238" y="139700"/>
                  </a:lnTo>
                  <a:cubicBezTo>
                    <a:pt x="122238" y="149344"/>
                    <a:pt x="114419" y="157162"/>
                    <a:pt x="104775" y="157162"/>
                  </a:cubicBez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640262" y="1315244"/>
              <a:ext cx="34925" cy="52388"/>
            </a:xfrm>
            <a:custGeom>
              <a:avLst/>
              <a:gdLst/>
              <a:ahLst/>
              <a:cxnLst/>
              <a:rect l="l" t="t" r="r" b="b"/>
              <a:pathLst>
                <a:path w="34925" h="52388">
                  <a:moveTo>
                    <a:pt x="34925" y="0"/>
                  </a:moveTo>
                  <a:lnTo>
                    <a:pt x="13097" y="0"/>
                  </a:lnTo>
                  <a:cubicBezTo>
                    <a:pt x="5864" y="0"/>
                    <a:pt x="0" y="5864"/>
                    <a:pt x="0" y="13097"/>
                  </a:cubicBezTo>
                  <a:cubicBezTo>
                    <a:pt x="0" y="20330"/>
                    <a:pt x="5864" y="26194"/>
                    <a:pt x="13097" y="26194"/>
                  </a:cubicBezTo>
                  <a:lnTo>
                    <a:pt x="21828" y="26194"/>
                  </a:lnTo>
                  <a:cubicBezTo>
                    <a:pt x="29061" y="26194"/>
                    <a:pt x="34925" y="32057"/>
                    <a:pt x="34925" y="39291"/>
                  </a:cubicBezTo>
                  <a:cubicBezTo>
                    <a:pt x="34925" y="46524"/>
                    <a:pt x="29061" y="52388"/>
                    <a:pt x="21828" y="52388"/>
                  </a:cubicBezTo>
                  <a:lnTo>
                    <a:pt x="0" y="52388"/>
                  </a:ln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657725" y="1306512"/>
              <a:ext cx="9525" cy="69850"/>
            </a:xfrm>
            <a:custGeom>
              <a:avLst/>
              <a:gdLst/>
              <a:ahLst/>
              <a:cxnLst/>
              <a:rect l="l" t="t" r="r" b="b"/>
              <a:pathLst>
                <a:path w="9525" h="69850">
                  <a:moveTo>
                    <a:pt x="0" y="61119"/>
                  </a:moveTo>
                  <a:lnTo>
                    <a:pt x="0" y="69850"/>
                  </a:lnTo>
                  <a:moveTo>
                    <a:pt x="0" y="0"/>
                  </a:moveTo>
                  <a:lnTo>
                    <a:pt x="0" y="8731"/>
                  </a:ln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4843462" y="12596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归母净利润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6755" y="1692592"/>
            <a:ext cx="111752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03366"/>
                </a:solidFill>
                <a:latin typeface="Montserrat Bold"/>
                <a:ea typeface="Microsoft YaHei"/>
                <a:cs typeface="Montserrat Bold"/>
              </a:rPr>
              <a:t>42.37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33110" y="1870710"/>
            <a:ext cx="350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亿元</a:t>
            </a:r>
          </a:p>
        </p:txBody>
      </p:sp>
      <p:sp>
        <p:nvSpPr>
          <p:cNvPr id="46" name="Freeform 46"/>
          <p:cNvSpPr/>
          <p:nvPr/>
        </p:nvSpPr>
        <p:spPr>
          <a:xfrm>
            <a:off x="4552950" y="2209800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114300" y="0"/>
                </a:moveTo>
                <a:lnTo>
                  <a:pt x="457200" y="0"/>
                </a:lnTo>
                <a:cubicBezTo>
                  <a:pt x="520326" y="0"/>
                  <a:pt x="571500" y="51174"/>
                  <a:pt x="571500" y="114300"/>
                </a:cubicBezTo>
                <a:lnTo>
                  <a:pt x="571500" y="114300"/>
                </a:lnTo>
                <a:cubicBezTo>
                  <a:pt x="571500" y="177426"/>
                  <a:pt x="520326" y="228600"/>
                  <a:pt x="457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4645819" y="2286794"/>
            <a:ext cx="100013" cy="55562"/>
            <a:chOff x="4645819" y="2286794"/>
            <a:chExt cx="100013" cy="55562"/>
          </a:xfrm>
        </p:grpSpPr>
        <p:sp>
          <p:nvSpPr>
            <p:cNvPr id="47" name="Freeform 47"/>
            <p:cNvSpPr/>
            <p:nvPr/>
          </p:nvSpPr>
          <p:spPr>
            <a:xfrm>
              <a:off x="4645819" y="2286794"/>
              <a:ext cx="100012" cy="55562"/>
            </a:xfrm>
            <a:custGeom>
              <a:avLst/>
              <a:gdLst/>
              <a:ahLst/>
              <a:cxnLst/>
              <a:rect l="l" t="t" r="r" b="b"/>
              <a:pathLst>
                <a:path w="100012" h="55562">
                  <a:moveTo>
                    <a:pt x="0" y="55562"/>
                  </a:moveTo>
                  <a:lnTo>
                    <a:pt x="33338" y="22225"/>
                  </a:lnTo>
                  <a:lnTo>
                    <a:pt x="55562" y="44450"/>
                  </a:lnTo>
                  <a:lnTo>
                    <a:pt x="100012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4706938" y="2286794"/>
              <a:ext cx="38894" cy="38894"/>
            </a:xfrm>
            <a:custGeom>
              <a:avLst/>
              <a:gdLst/>
              <a:ahLst/>
              <a:cxnLst/>
              <a:rect l="l" t="t" r="r" b="b"/>
              <a:pathLst>
                <a:path w="38894" h="38894">
                  <a:moveTo>
                    <a:pt x="0" y="0"/>
                  </a:moveTo>
                  <a:lnTo>
                    <a:pt x="38894" y="0"/>
                  </a:lnTo>
                  <a:lnTo>
                    <a:pt x="38894" y="38894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4789170" y="2274570"/>
            <a:ext cx="3694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7D32"/>
                </a:solidFill>
                <a:latin typeface="Calibri"/>
                <a:ea typeface="Microsoft YaHei"/>
                <a:cs typeface="Calibri"/>
              </a:rPr>
              <a:t>+8.3%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66372" y="22826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同比</a:t>
            </a:r>
          </a:p>
        </p:txBody>
      </p:sp>
      <p:sp>
        <p:nvSpPr>
          <p:cNvPr id="52" name="Freeform 52"/>
          <p:cNvSpPr/>
          <p:nvPr/>
        </p:nvSpPr>
        <p:spPr>
          <a:xfrm>
            <a:off x="8191500" y="990600"/>
            <a:ext cx="3543300" cy="1676400"/>
          </a:xfrm>
          <a:custGeom>
            <a:avLst/>
            <a:gdLst/>
            <a:ahLst/>
            <a:cxnLst/>
            <a:rect l="l" t="t" r="r" b="b"/>
            <a:pathLst>
              <a:path w="3543300" h="1676400">
                <a:moveTo>
                  <a:pt x="114300" y="0"/>
                </a:moveTo>
                <a:lnTo>
                  <a:pt x="3429000" y="0"/>
                </a:lnTo>
                <a:cubicBezTo>
                  <a:pt x="3492126" y="0"/>
                  <a:pt x="3543300" y="51174"/>
                  <a:pt x="3543300" y="114300"/>
                </a:cubicBezTo>
                <a:lnTo>
                  <a:pt x="3543300" y="1562100"/>
                </a:lnTo>
                <a:cubicBezTo>
                  <a:pt x="3543300" y="1625226"/>
                  <a:pt x="3492126" y="1676400"/>
                  <a:pt x="3429000" y="1676400"/>
                </a:cubicBezTo>
                <a:lnTo>
                  <a:pt x="114300" y="1676400"/>
                </a:lnTo>
                <a:cubicBezTo>
                  <a:pt x="51174" y="1676400"/>
                  <a:pt x="0" y="1625226"/>
                  <a:pt x="0" y="1562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53" name="Freeform 53"/>
          <p:cNvSpPr/>
          <p:nvPr/>
        </p:nvSpPr>
        <p:spPr>
          <a:xfrm>
            <a:off x="8191500" y="990600"/>
            <a:ext cx="3543300" cy="38100"/>
          </a:xfrm>
          <a:custGeom>
            <a:avLst/>
            <a:gdLst/>
            <a:ahLst/>
            <a:cxnLst/>
            <a:rect l="l" t="t" r="r" b="b"/>
            <a:pathLst>
              <a:path w="3543300" h="38100">
                <a:moveTo>
                  <a:pt x="19050" y="0"/>
                </a:moveTo>
                <a:lnTo>
                  <a:pt x="3524250" y="0"/>
                </a:lnTo>
                <a:cubicBezTo>
                  <a:pt x="3534771" y="0"/>
                  <a:pt x="3543300" y="8529"/>
                  <a:pt x="3543300" y="19050"/>
                </a:cubicBezTo>
                <a:lnTo>
                  <a:pt x="3543300" y="19050"/>
                </a:lnTo>
                <a:cubicBezTo>
                  <a:pt x="3543300" y="29571"/>
                  <a:pt x="3534771" y="38100"/>
                  <a:pt x="35242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8472488" y="1271588"/>
            <a:ext cx="104775" cy="104775"/>
            <a:chOff x="8472488" y="1271588"/>
            <a:chExt cx="104775" cy="104775"/>
          </a:xfrm>
        </p:grpSpPr>
        <p:sp>
          <p:nvSpPr>
            <p:cNvPr id="54" name="Freeform 54"/>
            <p:cNvSpPr/>
            <p:nvPr/>
          </p:nvSpPr>
          <p:spPr>
            <a:xfrm>
              <a:off x="8559800" y="1358900"/>
              <a:ext cx="17463" cy="17463"/>
            </a:xfrm>
            <a:custGeom>
              <a:avLst/>
              <a:gdLst/>
              <a:ahLst/>
              <a:cxnLst/>
              <a:rect l="l" t="t" r="r" b="b"/>
              <a:pathLst>
                <a:path w="17463" h="17463">
                  <a:moveTo>
                    <a:pt x="0" y="8731"/>
                  </a:moveTo>
                  <a:cubicBezTo>
                    <a:pt x="0" y="13553"/>
                    <a:pt x="3909" y="17463"/>
                    <a:pt x="8731" y="17463"/>
                  </a:cubicBezTo>
                  <a:cubicBezTo>
                    <a:pt x="13553" y="17463"/>
                    <a:pt x="17463" y="13553"/>
                    <a:pt x="17463" y="8731"/>
                  </a:cubicBezTo>
                  <a:cubicBezTo>
                    <a:pt x="17463" y="3909"/>
                    <a:pt x="13553" y="0"/>
                    <a:pt x="8731" y="0"/>
                  </a:cubicBezTo>
                  <a:cubicBezTo>
                    <a:pt x="3909" y="0"/>
                    <a:pt x="0" y="3909"/>
                    <a:pt x="0" y="8731"/>
                  </a:cubicBez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472488" y="1271588"/>
              <a:ext cx="17463" cy="17463"/>
            </a:xfrm>
            <a:custGeom>
              <a:avLst/>
              <a:gdLst/>
              <a:ahLst/>
              <a:cxnLst/>
              <a:rect l="l" t="t" r="r" b="b"/>
              <a:pathLst>
                <a:path w="17463" h="17463">
                  <a:moveTo>
                    <a:pt x="0" y="8731"/>
                  </a:moveTo>
                  <a:cubicBezTo>
                    <a:pt x="0" y="13553"/>
                    <a:pt x="3909" y="17463"/>
                    <a:pt x="8731" y="17463"/>
                  </a:cubicBezTo>
                  <a:cubicBezTo>
                    <a:pt x="13553" y="17463"/>
                    <a:pt x="17463" y="13553"/>
                    <a:pt x="17463" y="8731"/>
                  </a:cubicBezTo>
                  <a:cubicBezTo>
                    <a:pt x="17463" y="3909"/>
                    <a:pt x="13553" y="0"/>
                    <a:pt x="8731" y="0"/>
                  </a:cubicBezTo>
                  <a:cubicBezTo>
                    <a:pt x="3909" y="0"/>
                    <a:pt x="0" y="3909"/>
                    <a:pt x="0" y="8731"/>
                  </a:cubicBez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472488" y="12715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104775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8710612" y="125968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毛利率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383905" y="1692592"/>
            <a:ext cx="90849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03366"/>
                </a:solidFill>
                <a:latin typeface="Montserrat Bold"/>
                <a:ea typeface="Microsoft YaHei"/>
                <a:cs typeface="Montserrat Bold"/>
              </a:rPr>
              <a:t>32.6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700260" y="187071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%</a:t>
            </a:r>
          </a:p>
        </p:txBody>
      </p:sp>
      <p:sp>
        <p:nvSpPr>
          <p:cNvPr id="61" name="Freeform 61"/>
          <p:cNvSpPr/>
          <p:nvPr/>
        </p:nvSpPr>
        <p:spPr>
          <a:xfrm>
            <a:off x="8420100" y="2209800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114300" y="0"/>
                </a:moveTo>
                <a:lnTo>
                  <a:pt x="457200" y="0"/>
                </a:lnTo>
                <a:cubicBezTo>
                  <a:pt x="520326" y="0"/>
                  <a:pt x="571500" y="51174"/>
                  <a:pt x="571500" y="114300"/>
                </a:cubicBezTo>
                <a:lnTo>
                  <a:pt x="571500" y="114300"/>
                </a:lnTo>
                <a:cubicBezTo>
                  <a:pt x="571500" y="177426"/>
                  <a:pt x="520326" y="228600"/>
                  <a:pt x="457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grpSp>
        <p:nvGrpSpPr>
          <p:cNvPr id="64" name="Group 64"/>
          <p:cNvGrpSpPr/>
          <p:nvPr/>
        </p:nvGrpSpPr>
        <p:grpSpPr>
          <a:xfrm>
            <a:off x="8512969" y="2286794"/>
            <a:ext cx="100013" cy="55562"/>
            <a:chOff x="8512969" y="2286794"/>
            <a:chExt cx="100013" cy="55562"/>
          </a:xfrm>
        </p:grpSpPr>
        <p:sp>
          <p:nvSpPr>
            <p:cNvPr id="62" name="Freeform 62"/>
            <p:cNvSpPr/>
            <p:nvPr/>
          </p:nvSpPr>
          <p:spPr>
            <a:xfrm>
              <a:off x="8512969" y="2286794"/>
              <a:ext cx="100012" cy="55562"/>
            </a:xfrm>
            <a:custGeom>
              <a:avLst/>
              <a:gdLst/>
              <a:ahLst/>
              <a:cxnLst/>
              <a:rect l="l" t="t" r="r" b="b"/>
              <a:pathLst>
                <a:path w="100012" h="55562">
                  <a:moveTo>
                    <a:pt x="0" y="0"/>
                  </a:moveTo>
                  <a:lnTo>
                    <a:pt x="33338" y="33338"/>
                  </a:lnTo>
                  <a:lnTo>
                    <a:pt x="55563" y="11112"/>
                  </a:lnTo>
                  <a:lnTo>
                    <a:pt x="100012" y="55562"/>
                  </a:lnTo>
                </a:path>
              </a:pathLst>
            </a:custGeom>
            <a:noFill/>
            <a:ln w="19050">
              <a:solidFill>
                <a:srgbClr val="C62828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574088" y="2303462"/>
              <a:ext cx="38894" cy="38894"/>
            </a:xfrm>
            <a:custGeom>
              <a:avLst/>
              <a:gdLst/>
              <a:ahLst/>
              <a:cxnLst/>
              <a:rect l="l" t="t" r="r" b="b"/>
              <a:pathLst>
                <a:path w="38894" h="38894">
                  <a:moveTo>
                    <a:pt x="38894" y="0"/>
                  </a:moveTo>
                  <a:lnTo>
                    <a:pt x="38894" y="38894"/>
                  </a:lnTo>
                  <a:lnTo>
                    <a:pt x="0" y="38894"/>
                  </a:lnTo>
                </a:path>
              </a:pathLst>
            </a:custGeom>
            <a:noFill/>
            <a:ln w="19050">
              <a:solidFill>
                <a:srgbClr val="C62828"/>
              </a:solidFill>
            </a:ln>
          </p:spPr>
        </p:sp>
      </p:grpSp>
      <p:sp>
        <p:nvSpPr>
          <p:cNvPr id="65" name="TextBox 65"/>
          <p:cNvSpPr txBox="1"/>
          <p:nvPr/>
        </p:nvSpPr>
        <p:spPr>
          <a:xfrm>
            <a:off x="8656320" y="2274570"/>
            <a:ext cx="337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62828"/>
                </a:solidFill>
                <a:latin typeface="Calibri"/>
                <a:ea typeface="Microsoft YaHei"/>
                <a:cs typeface="Calibri"/>
              </a:rPr>
              <a:t>-1.2%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133522" y="22826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同比</a:t>
            </a:r>
          </a:p>
        </p:txBody>
      </p:sp>
      <p:sp>
        <p:nvSpPr>
          <p:cNvPr id="67" name="Freeform 67"/>
          <p:cNvSpPr/>
          <p:nvPr/>
        </p:nvSpPr>
        <p:spPr>
          <a:xfrm>
            <a:off x="457200" y="2933700"/>
            <a:ext cx="5619750" cy="3657600"/>
          </a:xfrm>
          <a:custGeom>
            <a:avLst/>
            <a:gdLst/>
            <a:ahLst/>
            <a:cxnLst/>
            <a:rect l="l" t="t" r="r" b="b"/>
            <a:pathLst>
              <a:path w="5619750" h="3657600">
                <a:moveTo>
                  <a:pt x="114300" y="0"/>
                </a:moveTo>
                <a:lnTo>
                  <a:pt x="5505450" y="0"/>
                </a:lnTo>
                <a:cubicBezTo>
                  <a:pt x="5568576" y="0"/>
                  <a:pt x="5619750" y="51174"/>
                  <a:pt x="5619750" y="114300"/>
                </a:cubicBezTo>
                <a:lnTo>
                  <a:pt x="5619750" y="3543300"/>
                </a:lnTo>
                <a:cubicBezTo>
                  <a:pt x="5619750" y="3606426"/>
                  <a:pt x="5568576" y="3657600"/>
                  <a:pt x="5505450" y="3657600"/>
                </a:cubicBezTo>
                <a:lnTo>
                  <a:pt x="114300" y="3657600"/>
                </a:lnTo>
                <a:cubicBezTo>
                  <a:pt x="51174" y="3657600"/>
                  <a:pt x="0" y="3606426"/>
                  <a:pt x="0" y="3543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68" name="Rectangle 68"/>
          <p:cNvSpPr/>
          <p:nvPr/>
        </p:nvSpPr>
        <p:spPr>
          <a:xfrm>
            <a:off x="457200" y="2933700"/>
            <a:ext cx="5619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68655" y="3092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营收结构分析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418" y="3323749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按业务板块划分（2024年度）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2465" y="36966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智慧终端业务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840367" y="3696652"/>
            <a:ext cx="4117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45.2%</a:t>
            </a:r>
          </a:p>
        </p:txBody>
      </p:sp>
      <p:sp>
        <p:nvSpPr>
          <p:cNvPr id="73" name="Freeform 73"/>
          <p:cNvSpPr/>
          <p:nvPr/>
        </p:nvSpPr>
        <p:spPr>
          <a:xfrm>
            <a:off x="685800" y="3905250"/>
            <a:ext cx="4857750" cy="76200"/>
          </a:xfrm>
          <a:custGeom>
            <a:avLst/>
            <a:gdLst/>
            <a:ahLst/>
            <a:cxnLst/>
            <a:rect l="l" t="t" r="r" b="b"/>
            <a:pathLst>
              <a:path w="4857750" h="76200">
                <a:moveTo>
                  <a:pt x="38100" y="0"/>
                </a:moveTo>
                <a:lnTo>
                  <a:pt x="4819650" y="0"/>
                </a:lnTo>
                <a:cubicBezTo>
                  <a:pt x="4840692" y="0"/>
                  <a:pt x="4857750" y="17058"/>
                  <a:pt x="4857750" y="38100"/>
                </a:cubicBezTo>
                <a:lnTo>
                  <a:pt x="4857750" y="38100"/>
                </a:lnTo>
                <a:cubicBezTo>
                  <a:pt x="4857750" y="59142"/>
                  <a:pt x="4840692" y="76200"/>
                  <a:pt x="48196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74" name="Freeform 74"/>
          <p:cNvSpPr/>
          <p:nvPr/>
        </p:nvSpPr>
        <p:spPr>
          <a:xfrm>
            <a:off x="685800" y="3905250"/>
            <a:ext cx="2200275" cy="76200"/>
          </a:xfrm>
          <a:custGeom>
            <a:avLst/>
            <a:gdLst/>
            <a:ahLst/>
            <a:cxnLst/>
            <a:rect l="l" t="t" r="r" b="b"/>
            <a:pathLst>
              <a:path w="2200275" h="76200">
                <a:moveTo>
                  <a:pt x="38100" y="0"/>
                </a:moveTo>
                <a:lnTo>
                  <a:pt x="2162175" y="0"/>
                </a:lnTo>
                <a:cubicBezTo>
                  <a:pt x="2183217" y="0"/>
                  <a:pt x="2200275" y="17058"/>
                  <a:pt x="2200275" y="38100"/>
                </a:cubicBezTo>
                <a:lnTo>
                  <a:pt x="2200275" y="38100"/>
                </a:lnTo>
                <a:cubicBezTo>
                  <a:pt x="2200275" y="59142"/>
                  <a:pt x="2183217" y="76200"/>
                  <a:pt x="2162175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672465" y="41729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云计算与AI服务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840367" y="4172902"/>
            <a:ext cx="4117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28.7%</a:t>
            </a:r>
          </a:p>
        </p:txBody>
      </p:sp>
      <p:sp>
        <p:nvSpPr>
          <p:cNvPr id="77" name="Freeform 77"/>
          <p:cNvSpPr/>
          <p:nvPr/>
        </p:nvSpPr>
        <p:spPr>
          <a:xfrm>
            <a:off x="685800" y="4381500"/>
            <a:ext cx="4857750" cy="76200"/>
          </a:xfrm>
          <a:custGeom>
            <a:avLst/>
            <a:gdLst/>
            <a:ahLst/>
            <a:cxnLst/>
            <a:rect l="l" t="t" r="r" b="b"/>
            <a:pathLst>
              <a:path w="4857750" h="76200">
                <a:moveTo>
                  <a:pt x="38100" y="0"/>
                </a:moveTo>
                <a:lnTo>
                  <a:pt x="4819650" y="0"/>
                </a:lnTo>
                <a:cubicBezTo>
                  <a:pt x="4840692" y="0"/>
                  <a:pt x="4857750" y="17058"/>
                  <a:pt x="4857750" y="38100"/>
                </a:cubicBezTo>
                <a:lnTo>
                  <a:pt x="4857750" y="38100"/>
                </a:lnTo>
                <a:cubicBezTo>
                  <a:pt x="4857750" y="59142"/>
                  <a:pt x="4840692" y="76200"/>
                  <a:pt x="48196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78" name="Freeform 78"/>
          <p:cNvSpPr/>
          <p:nvPr/>
        </p:nvSpPr>
        <p:spPr>
          <a:xfrm>
            <a:off x="685800" y="4381500"/>
            <a:ext cx="1400175" cy="76200"/>
          </a:xfrm>
          <a:custGeom>
            <a:avLst/>
            <a:gdLst/>
            <a:ahLst/>
            <a:cxnLst/>
            <a:rect l="l" t="t" r="r" b="b"/>
            <a:pathLst>
              <a:path w="1400175" h="76200">
                <a:moveTo>
                  <a:pt x="38100" y="0"/>
                </a:moveTo>
                <a:lnTo>
                  <a:pt x="1362075" y="0"/>
                </a:lnTo>
                <a:cubicBezTo>
                  <a:pt x="1383117" y="0"/>
                  <a:pt x="1400175" y="17058"/>
                  <a:pt x="1400175" y="38100"/>
                </a:cubicBezTo>
                <a:lnTo>
                  <a:pt x="1400175" y="38100"/>
                </a:lnTo>
                <a:cubicBezTo>
                  <a:pt x="1400175" y="59142"/>
                  <a:pt x="1383117" y="76200"/>
                  <a:pt x="1362075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672465" y="46491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企业软件服务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875371" y="4649152"/>
            <a:ext cx="3767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16.3%</a:t>
            </a:r>
          </a:p>
        </p:txBody>
      </p:sp>
      <p:sp>
        <p:nvSpPr>
          <p:cNvPr id="81" name="Freeform 81"/>
          <p:cNvSpPr/>
          <p:nvPr/>
        </p:nvSpPr>
        <p:spPr>
          <a:xfrm>
            <a:off x="685800" y="4857750"/>
            <a:ext cx="4857750" cy="76200"/>
          </a:xfrm>
          <a:custGeom>
            <a:avLst/>
            <a:gdLst/>
            <a:ahLst/>
            <a:cxnLst/>
            <a:rect l="l" t="t" r="r" b="b"/>
            <a:pathLst>
              <a:path w="4857750" h="76200">
                <a:moveTo>
                  <a:pt x="38100" y="0"/>
                </a:moveTo>
                <a:lnTo>
                  <a:pt x="4819650" y="0"/>
                </a:lnTo>
                <a:cubicBezTo>
                  <a:pt x="4840692" y="0"/>
                  <a:pt x="4857750" y="17058"/>
                  <a:pt x="4857750" y="38100"/>
                </a:cubicBezTo>
                <a:lnTo>
                  <a:pt x="4857750" y="38100"/>
                </a:lnTo>
                <a:cubicBezTo>
                  <a:pt x="4857750" y="59142"/>
                  <a:pt x="4840692" y="76200"/>
                  <a:pt x="48196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82" name="Freeform 82"/>
          <p:cNvSpPr/>
          <p:nvPr/>
        </p:nvSpPr>
        <p:spPr>
          <a:xfrm>
            <a:off x="685800" y="4857750"/>
            <a:ext cx="800100" cy="76200"/>
          </a:xfrm>
          <a:custGeom>
            <a:avLst/>
            <a:gdLst/>
            <a:ahLst/>
            <a:cxnLst/>
            <a:rect l="l" t="t" r="r" b="b"/>
            <a:pathLst>
              <a:path w="800100" h="76200">
                <a:moveTo>
                  <a:pt x="38100" y="0"/>
                </a:moveTo>
                <a:lnTo>
                  <a:pt x="762000" y="0"/>
                </a:lnTo>
                <a:cubicBezTo>
                  <a:pt x="783042" y="0"/>
                  <a:pt x="800100" y="17058"/>
                  <a:pt x="800100" y="38100"/>
                </a:cubicBezTo>
                <a:lnTo>
                  <a:pt x="800100" y="38100"/>
                </a:lnTo>
                <a:cubicBezTo>
                  <a:pt x="800100" y="59142"/>
                  <a:pt x="783042" y="76200"/>
                  <a:pt x="7620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72465" y="5125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其他业务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917376" y="5125402"/>
            <a:ext cx="334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9.8%</a:t>
            </a:r>
          </a:p>
        </p:txBody>
      </p:sp>
      <p:sp>
        <p:nvSpPr>
          <p:cNvPr id="85" name="Freeform 85"/>
          <p:cNvSpPr/>
          <p:nvPr/>
        </p:nvSpPr>
        <p:spPr>
          <a:xfrm>
            <a:off x="685800" y="5334000"/>
            <a:ext cx="4857750" cy="76200"/>
          </a:xfrm>
          <a:custGeom>
            <a:avLst/>
            <a:gdLst/>
            <a:ahLst/>
            <a:cxnLst/>
            <a:rect l="l" t="t" r="r" b="b"/>
            <a:pathLst>
              <a:path w="4857750" h="76200">
                <a:moveTo>
                  <a:pt x="38100" y="0"/>
                </a:moveTo>
                <a:lnTo>
                  <a:pt x="4819650" y="0"/>
                </a:lnTo>
                <a:cubicBezTo>
                  <a:pt x="4840692" y="0"/>
                  <a:pt x="4857750" y="17058"/>
                  <a:pt x="4857750" y="38100"/>
                </a:cubicBezTo>
                <a:lnTo>
                  <a:pt x="4857750" y="38100"/>
                </a:lnTo>
                <a:cubicBezTo>
                  <a:pt x="4857750" y="59142"/>
                  <a:pt x="4840692" y="76200"/>
                  <a:pt x="48196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86" name="Freeform 86"/>
          <p:cNvSpPr/>
          <p:nvPr/>
        </p:nvSpPr>
        <p:spPr>
          <a:xfrm>
            <a:off x="685800" y="5334000"/>
            <a:ext cx="476250" cy="76200"/>
          </a:xfrm>
          <a:custGeom>
            <a:avLst/>
            <a:gdLst/>
            <a:ahLst/>
            <a:cxnLst/>
            <a:rect l="l" t="t" r="r" b="b"/>
            <a:pathLst>
              <a:path w="476250" h="762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38100"/>
                </a:lnTo>
                <a:cubicBezTo>
                  <a:pt x="476250" y="59142"/>
                  <a:pt x="459192" y="76200"/>
                  <a:pt x="4381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87" name="Rectangle 87"/>
          <p:cNvSpPr/>
          <p:nvPr/>
        </p:nvSpPr>
        <p:spPr>
          <a:xfrm>
            <a:off x="685800" y="5619750"/>
            <a:ext cx="4857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grpSp>
        <p:nvGrpSpPr>
          <p:cNvPr id="90" name="Group 90"/>
          <p:cNvGrpSpPr/>
          <p:nvPr/>
        </p:nvGrpSpPr>
        <p:grpSpPr>
          <a:xfrm>
            <a:off x="704850" y="5861050"/>
            <a:ext cx="114300" cy="82550"/>
            <a:chOff x="704850" y="5861050"/>
            <a:chExt cx="114300" cy="82550"/>
          </a:xfrm>
        </p:grpSpPr>
        <p:sp>
          <p:nvSpPr>
            <p:cNvPr id="88" name="Freeform 88"/>
            <p:cNvSpPr/>
            <p:nvPr/>
          </p:nvSpPr>
          <p:spPr>
            <a:xfrm>
              <a:off x="800100" y="5861050"/>
              <a:ext cx="19050" cy="38100"/>
            </a:xfrm>
            <a:custGeom>
              <a:avLst/>
              <a:gdLst/>
              <a:ahLst/>
              <a:cxnLst/>
              <a:rect l="l" t="t" r="r" b="b"/>
              <a:pathLst>
                <a:path w="19050" h="38100">
                  <a:moveTo>
                    <a:pt x="0" y="0"/>
                  </a:moveTo>
                  <a:lnTo>
                    <a:pt x="19050" y="19050"/>
                  </a:ln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704850" y="5880100"/>
              <a:ext cx="114300" cy="63500"/>
            </a:xfrm>
            <a:custGeom>
              <a:avLst/>
              <a:gdLst/>
              <a:ahLst/>
              <a:cxnLst/>
              <a:rect l="l" t="t" r="r" b="b"/>
              <a:pathLst>
                <a:path w="114300" h="63500">
                  <a:moveTo>
                    <a:pt x="0" y="63500"/>
                  </a:moveTo>
                  <a:lnTo>
                    <a:pt x="31750" y="63500"/>
                  </a:lnTo>
                  <a:lnTo>
                    <a:pt x="76200" y="0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91" name="TextBox 91"/>
          <p:cNvSpPr txBox="1"/>
          <p:nvPr/>
        </p:nvSpPr>
        <p:spPr>
          <a:xfrm>
            <a:off x="902970" y="58559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智慧终端业务同比增长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179320" y="5855970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7D32"/>
                </a:solidFill>
                <a:latin typeface="Montserrat SemiBold"/>
                <a:ea typeface="Microsoft YaHei"/>
                <a:cs typeface="Montserrat SemiBold"/>
              </a:rPr>
              <a:t>+15.6%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807970" y="5855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，驱动整体营收增长</a:t>
            </a:r>
          </a:p>
        </p:txBody>
      </p:sp>
      <p:sp>
        <p:nvSpPr>
          <p:cNvPr id="94" name="Freeform 94"/>
          <p:cNvSpPr/>
          <p:nvPr/>
        </p:nvSpPr>
        <p:spPr>
          <a:xfrm>
            <a:off x="6305550" y="2933700"/>
            <a:ext cx="5429250" cy="3657600"/>
          </a:xfrm>
          <a:custGeom>
            <a:avLst/>
            <a:gdLst/>
            <a:ahLst/>
            <a:cxnLst/>
            <a:rect l="l" t="t" r="r" b="b"/>
            <a:pathLst>
              <a:path w="5429250" h="3657600">
                <a:moveTo>
                  <a:pt x="114300" y="0"/>
                </a:moveTo>
                <a:lnTo>
                  <a:pt x="5314950" y="0"/>
                </a:lnTo>
                <a:cubicBezTo>
                  <a:pt x="5378076" y="0"/>
                  <a:pt x="5429250" y="51174"/>
                  <a:pt x="5429250" y="114300"/>
                </a:cubicBezTo>
                <a:lnTo>
                  <a:pt x="5429250" y="3543300"/>
                </a:lnTo>
                <a:cubicBezTo>
                  <a:pt x="5429250" y="3606426"/>
                  <a:pt x="5378076" y="3657600"/>
                  <a:pt x="5314950" y="3657600"/>
                </a:cubicBezTo>
                <a:lnTo>
                  <a:pt x="114300" y="3657600"/>
                </a:lnTo>
                <a:cubicBezTo>
                  <a:pt x="51174" y="3657600"/>
                  <a:pt x="0" y="3606426"/>
                  <a:pt x="0" y="3543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400000" algn="ctr" rotWithShape="0">
              <a:srgbClr val="003366">
                <a:alpha val="6000"/>
              </a:srgbClr>
            </a:outerShdw>
          </a:effectLst>
        </p:spPr>
      </p:sp>
      <p:sp>
        <p:nvSpPr>
          <p:cNvPr id="95" name="Rectangle 95"/>
          <p:cNvSpPr/>
          <p:nvPr/>
        </p:nvSpPr>
        <p:spPr>
          <a:xfrm>
            <a:off x="6305550" y="2933700"/>
            <a:ext cx="5429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6517005" y="3092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盈利能力趋势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521768" y="3323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近四个季度核心指标变化</a:t>
            </a:r>
          </a:p>
        </p:txBody>
      </p:sp>
      <p:sp>
        <p:nvSpPr>
          <p:cNvPr id="98" name="Freeform 98"/>
          <p:cNvSpPr/>
          <p:nvPr/>
        </p:nvSpPr>
        <p:spPr>
          <a:xfrm>
            <a:off x="6534150" y="3619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6694170" y="36271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毛利率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7334250" y="3619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7494270" y="3627120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净利率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57022" y="41971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40%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657022" y="463534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30%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657022" y="50734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20%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657022" y="551164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10%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657022" y="59497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0%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6838950" y="4210050"/>
            <a:ext cx="4667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08" name="Rectangle 108"/>
          <p:cNvSpPr/>
          <p:nvPr/>
        </p:nvSpPr>
        <p:spPr>
          <a:xfrm>
            <a:off x="6838950" y="4648200"/>
            <a:ext cx="4667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09" name="Rectangle 109"/>
          <p:cNvSpPr/>
          <p:nvPr/>
        </p:nvSpPr>
        <p:spPr>
          <a:xfrm>
            <a:off x="6838950" y="5086350"/>
            <a:ext cx="4667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10" name="Rectangle 110"/>
          <p:cNvSpPr/>
          <p:nvPr/>
        </p:nvSpPr>
        <p:spPr>
          <a:xfrm>
            <a:off x="6838950" y="5524500"/>
            <a:ext cx="4667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11" name="Rectangle 111"/>
          <p:cNvSpPr/>
          <p:nvPr/>
        </p:nvSpPr>
        <p:spPr>
          <a:xfrm>
            <a:off x="6838950" y="5962650"/>
            <a:ext cx="46672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7038022" y="6178391"/>
            <a:ext cx="1364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Q1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8066722" y="6178391"/>
            <a:ext cx="1639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Q2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095422" y="6178391"/>
            <a:ext cx="1639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Q3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124122" y="6178391"/>
            <a:ext cx="1639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Q4</a:t>
            </a:r>
          </a:p>
        </p:txBody>
      </p:sp>
      <p:sp>
        <p:nvSpPr>
          <p:cNvPr id="116" name="Polyline 116"/>
          <p:cNvSpPr/>
          <p:nvPr/>
        </p:nvSpPr>
        <p:spPr>
          <a:xfrm>
            <a:off x="7067550" y="4533900"/>
            <a:ext cx="3086100" cy="47625"/>
          </a:xfrm>
          <a:custGeom>
            <a:avLst/>
            <a:gdLst/>
            <a:ahLst/>
            <a:cxnLst/>
            <a:rect l="l" t="t" r="r" b="b"/>
            <a:pathLst>
              <a:path w="3086100" h="47625">
                <a:moveTo>
                  <a:pt x="0" y="9525"/>
                </a:moveTo>
                <a:lnTo>
                  <a:pt x="1028700" y="0"/>
                </a:lnTo>
                <a:lnTo>
                  <a:pt x="2057400" y="19050"/>
                </a:lnTo>
                <a:lnTo>
                  <a:pt x="3086100" y="47625"/>
                </a:lnTo>
              </a:path>
            </a:pathLst>
          </a:custGeom>
          <a:noFill/>
          <a:ln w="23812" cap="rnd">
            <a:solidFill>
              <a:srgbClr val="003366"/>
            </a:solidFill>
            <a:round/>
          </a:ln>
        </p:spPr>
      </p:sp>
      <p:sp>
        <p:nvSpPr>
          <p:cNvPr id="117" name="Ellipse 117"/>
          <p:cNvSpPr/>
          <p:nvPr/>
        </p:nvSpPr>
        <p:spPr>
          <a:xfrm>
            <a:off x="7029450" y="4505325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8" name="Ellipse 118"/>
          <p:cNvSpPr/>
          <p:nvPr/>
        </p:nvSpPr>
        <p:spPr>
          <a:xfrm>
            <a:off x="8058150" y="449580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9" name="Ellipse 119"/>
          <p:cNvSpPr/>
          <p:nvPr/>
        </p:nvSpPr>
        <p:spPr>
          <a:xfrm>
            <a:off x="9086850" y="451485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0" name="Ellipse 120"/>
          <p:cNvSpPr/>
          <p:nvPr/>
        </p:nvSpPr>
        <p:spPr>
          <a:xfrm>
            <a:off x="10115550" y="4543425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6920508" y="4395788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3366"/>
                </a:solidFill>
                <a:latin typeface="Calibri"/>
                <a:ea typeface="Microsoft YaHei"/>
                <a:cs typeface="Calibri"/>
              </a:rPr>
              <a:t>32.8%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961709" y="437673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3366"/>
                </a:solidFill>
                <a:latin typeface="Calibri"/>
                <a:ea typeface="Microsoft YaHei"/>
                <a:cs typeface="Calibri"/>
              </a:rPr>
              <a:t>33.1%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977908" y="4395788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3366"/>
                </a:solidFill>
                <a:latin typeface="Calibri"/>
                <a:ea typeface="Microsoft YaHei"/>
                <a:cs typeface="Calibri"/>
              </a:rPr>
              <a:t>32.6%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006608" y="44243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3366"/>
                </a:solidFill>
                <a:latin typeface="Calibri"/>
                <a:ea typeface="Microsoft YaHei"/>
                <a:cs typeface="Calibri"/>
              </a:rPr>
              <a:t>32.0%</a:t>
            </a:r>
          </a:p>
        </p:txBody>
      </p:sp>
      <p:sp>
        <p:nvSpPr>
          <p:cNvPr id="125" name="Polyline 125"/>
          <p:cNvSpPr/>
          <p:nvPr/>
        </p:nvSpPr>
        <p:spPr>
          <a:xfrm>
            <a:off x="7067550" y="5305425"/>
            <a:ext cx="3086100" cy="38100"/>
          </a:xfrm>
          <a:custGeom>
            <a:avLst/>
            <a:gdLst/>
            <a:ahLst/>
            <a:cxnLst/>
            <a:rect l="l" t="t" r="r" b="b"/>
            <a:pathLst>
              <a:path w="3086100" h="38100">
                <a:moveTo>
                  <a:pt x="0" y="38100"/>
                </a:moveTo>
                <a:lnTo>
                  <a:pt x="1028700" y="9525"/>
                </a:lnTo>
                <a:lnTo>
                  <a:pt x="2057400" y="0"/>
                </a:lnTo>
                <a:lnTo>
                  <a:pt x="3086100" y="19050"/>
                </a:lnTo>
              </a:path>
            </a:pathLst>
          </a:custGeom>
          <a:noFill/>
          <a:ln w="23812" cap="rnd">
            <a:solidFill>
              <a:srgbClr val="E67E22"/>
            </a:solidFill>
            <a:round/>
          </a:ln>
        </p:spPr>
      </p:sp>
      <p:sp>
        <p:nvSpPr>
          <p:cNvPr id="126" name="Ellipse 126"/>
          <p:cNvSpPr/>
          <p:nvPr/>
        </p:nvSpPr>
        <p:spPr>
          <a:xfrm>
            <a:off x="7029450" y="5305425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127" name="Ellipse 127"/>
          <p:cNvSpPr/>
          <p:nvPr/>
        </p:nvSpPr>
        <p:spPr>
          <a:xfrm>
            <a:off x="8058150" y="52768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128" name="Ellipse 128"/>
          <p:cNvSpPr/>
          <p:nvPr/>
        </p:nvSpPr>
        <p:spPr>
          <a:xfrm>
            <a:off x="9086850" y="5267325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129" name="Ellipse 129"/>
          <p:cNvSpPr/>
          <p:nvPr/>
        </p:nvSpPr>
        <p:spPr>
          <a:xfrm>
            <a:off x="10115550" y="5286375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130" name="TextBox 130"/>
          <p:cNvSpPr txBox="1"/>
          <p:nvPr/>
        </p:nvSpPr>
        <p:spPr>
          <a:xfrm>
            <a:off x="6933009" y="538638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14.2%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7961709" y="5357812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14.8%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002911" y="5348288"/>
            <a:ext cx="244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15.1%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019109" y="536733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14.6%</a:t>
            </a:r>
          </a:p>
        </p:txBody>
      </p:sp>
      <p:sp>
        <p:nvSpPr>
          <p:cNvPr id="134" name="Freeform 134"/>
          <p:cNvSpPr/>
          <p:nvPr/>
        </p:nvSpPr>
        <p:spPr>
          <a:xfrm>
            <a:off x="6534150" y="6381750"/>
            <a:ext cx="4972050" cy="133350"/>
          </a:xfrm>
          <a:custGeom>
            <a:avLst/>
            <a:gdLst/>
            <a:ahLst/>
            <a:cxnLst/>
            <a:rect l="l" t="t" r="r" b="b"/>
            <a:pathLst>
              <a:path w="4972050" h="133350">
                <a:moveTo>
                  <a:pt x="19050" y="0"/>
                </a:moveTo>
                <a:lnTo>
                  <a:pt x="4953000" y="0"/>
                </a:lnTo>
                <a:cubicBezTo>
                  <a:pt x="4963521" y="0"/>
                  <a:pt x="4972050" y="8529"/>
                  <a:pt x="4972050" y="19050"/>
                </a:cubicBezTo>
                <a:lnTo>
                  <a:pt x="4972050" y="114300"/>
                </a:lnTo>
                <a:cubicBezTo>
                  <a:pt x="4972050" y="124821"/>
                  <a:pt x="4963521" y="133350"/>
                  <a:pt x="49530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5F5F5">
              <a:alpha val="60000"/>
            </a:srgbClr>
          </a:solidFill>
          <a:ln>
            <a:noFill/>
          </a:ln>
        </p:spPr>
      </p:sp>
      <p:sp>
        <p:nvSpPr>
          <p:cNvPr id="135" name="TextBox 135"/>
          <p:cNvSpPr txBox="1"/>
          <p:nvPr/>
        </p:nvSpPr>
        <p:spPr>
          <a:xfrm>
            <a:off x="6581775" y="6396038"/>
            <a:ext cx="25993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数据来源：公司年度财报 | 统计截止日期：2024年12月31日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1A4A6E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6750"/>
            <a:ext cx="12192000" cy="190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23850" y="266700"/>
            <a:ext cx="228600" cy="152400"/>
            <a:chOff x="323850" y="266700"/>
            <a:chExt cx="228600" cy="152400"/>
          </a:xfrm>
        </p:grpSpPr>
        <p:sp>
          <p:nvSpPr>
            <p:cNvPr id="5" name="Freeform 5"/>
            <p:cNvSpPr/>
            <p:nvPr/>
          </p:nvSpPr>
          <p:spPr>
            <a:xfrm>
              <a:off x="400050" y="304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cubicBezTo>
                    <a:pt x="0" y="59142"/>
                    <a:pt x="17058" y="76200"/>
                    <a:pt x="38100" y="76200"/>
                  </a:cubicBezTo>
                  <a:cubicBezTo>
                    <a:pt x="59142" y="76200"/>
                    <a:pt x="76200" y="59142"/>
                    <a:pt x="76200" y="38100"/>
                  </a:cubicBezTo>
                  <a:cubicBezTo>
                    <a:pt x="76200" y="17058"/>
                    <a:pt x="59142" y="0"/>
                    <a:pt x="38100" y="0"/>
                  </a:cubicBezTo>
                  <a:cubicBezTo>
                    <a:pt x="17058" y="0"/>
                    <a:pt x="0" y="17058"/>
                    <a:pt x="0" y="3810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323850" y="2667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203200" y="0"/>
                  </a:lnTo>
                  <a:cubicBezTo>
                    <a:pt x="217228" y="0"/>
                    <a:pt x="228600" y="11372"/>
                    <a:pt x="228600" y="25400"/>
                  </a:cubicBezTo>
                  <a:lnTo>
                    <a:pt x="228600" y="127000"/>
                  </a:lnTo>
                  <a:cubicBezTo>
                    <a:pt x="228600" y="141028"/>
                    <a:pt x="217228" y="152400"/>
                    <a:pt x="203200" y="152400"/>
                  </a:cubicBezTo>
                  <a:lnTo>
                    <a:pt x="25400" y="152400"/>
                  </a:lnTo>
                  <a:cubicBezTo>
                    <a:pt x="11372" y="152400"/>
                    <a:pt x="0" y="141028"/>
                    <a:pt x="0" y="127000"/>
                  </a:cubicBezTo>
                  <a:lnTo>
                    <a:pt x="0" y="2540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14350" y="342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27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950" y="342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27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681990" y="1676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现金流深度剖析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3420" y="45529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EEEEE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经营现金流 vs 净利润 · 趋势差异分析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0" y="152400"/>
            <a:ext cx="1619250" cy="381000"/>
          </a:xfrm>
          <a:custGeom>
            <a:avLst/>
            <a:gdLst/>
            <a:ahLst/>
            <a:cxnLst/>
            <a:rect l="l" t="t" r="r" b="b"/>
            <a:pathLst>
              <a:path w="1619250" h="381000">
                <a:moveTo>
                  <a:pt x="190500" y="0"/>
                </a:moveTo>
                <a:lnTo>
                  <a:pt x="1428750" y="0"/>
                </a:lnTo>
                <a:cubicBezTo>
                  <a:pt x="1533960" y="0"/>
                  <a:pt x="1619250" y="85290"/>
                  <a:pt x="1619250" y="190500"/>
                </a:cubicBezTo>
                <a:lnTo>
                  <a:pt x="1619250" y="190500"/>
                </a:lnTo>
                <a:cubicBezTo>
                  <a:pt x="1619250" y="295710"/>
                  <a:pt x="1533960" y="381000"/>
                  <a:pt x="142875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E67E22">
              <a:alpha val="95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0420350" y="257175"/>
            <a:ext cx="180975" cy="171450"/>
            <a:chOff x="10420350" y="257175"/>
            <a:chExt cx="180975" cy="171450"/>
          </a:xfrm>
        </p:grpSpPr>
        <p:sp>
          <p:nvSpPr>
            <p:cNvPr id="13" name="Freeform 13"/>
            <p:cNvSpPr/>
            <p:nvPr/>
          </p:nvSpPr>
          <p:spPr>
            <a:xfrm>
              <a:off x="10420350" y="257175"/>
              <a:ext cx="180975" cy="104775"/>
            </a:xfrm>
            <a:custGeom>
              <a:avLst/>
              <a:gdLst/>
              <a:ahLst/>
              <a:cxnLst/>
              <a:rect l="l" t="t" r="r" b="b"/>
              <a:pathLst>
                <a:path w="180975" h="104775">
                  <a:moveTo>
                    <a:pt x="0" y="104775"/>
                  </a:moveTo>
                  <a:lnTo>
                    <a:pt x="57150" y="47625"/>
                  </a:lnTo>
                  <a:lnTo>
                    <a:pt x="95250" y="85725"/>
                  </a:lnTo>
                  <a:lnTo>
                    <a:pt x="18097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544175" y="2571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544175" y="3714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57150" y="57150"/>
                  </a:ln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544175" y="3714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57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674668" y="2947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核心矛盾</a:t>
            </a:r>
          </a:p>
        </p:txBody>
      </p:sp>
      <p:sp>
        <p:nvSpPr>
          <p:cNvPr id="19" name="Freeform 19"/>
          <p:cNvSpPr/>
          <p:nvPr/>
        </p:nvSpPr>
        <p:spPr>
          <a:xfrm>
            <a:off x="285750" y="876300"/>
            <a:ext cx="7048500" cy="3619500"/>
          </a:xfrm>
          <a:custGeom>
            <a:avLst/>
            <a:gdLst/>
            <a:ahLst/>
            <a:cxnLst/>
            <a:rect l="l" t="t" r="r" b="b"/>
            <a:pathLst>
              <a:path w="7048500" h="3619500">
                <a:moveTo>
                  <a:pt x="76200" y="0"/>
                </a:moveTo>
                <a:lnTo>
                  <a:pt x="6972300" y="0"/>
                </a:lnTo>
                <a:cubicBezTo>
                  <a:pt x="7014384" y="0"/>
                  <a:pt x="7048500" y="34116"/>
                  <a:pt x="7048500" y="76200"/>
                </a:cubicBezTo>
                <a:lnTo>
                  <a:pt x="7048500" y="3543300"/>
                </a:lnTo>
                <a:cubicBezTo>
                  <a:pt x="7048500" y="3585384"/>
                  <a:pt x="7014384" y="3619500"/>
                  <a:pt x="6972300" y="3619500"/>
                </a:cubicBezTo>
                <a:lnTo>
                  <a:pt x="76200" y="3619500"/>
                </a:lnTo>
                <a:cubicBezTo>
                  <a:pt x="34116" y="3619500"/>
                  <a:pt x="0" y="3585384"/>
                  <a:pt x="0" y="3543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20" name="Freeform 20"/>
          <p:cNvSpPr/>
          <p:nvPr/>
        </p:nvSpPr>
        <p:spPr>
          <a:xfrm>
            <a:off x="285750" y="876300"/>
            <a:ext cx="7048500" cy="419100"/>
          </a:xfrm>
          <a:custGeom>
            <a:avLst/>
            <a:gdLst/>
            <a:ahLst/>
            <a:cxnLst/>
            <a:rect l="l" t="t" r="r" b="b"/>
            <a:pathLst>
              <a:path w="7048500" h="419100">
                <a:moveTo>
                  <a:pt x="76200" y="0"/>
                </a:moveTo>
                <a:lnTo>
                  <a:pt x="6972300" y="0"/>
                </a:lnTo>
                <a:cubicBezTo>
                  <a:pt x="7014384" y="0"/>
                  <a:pt x="7048500" y="34116"/>
                  <a:pt x="7048500" y="76200"/>
                </a:cubicBezTo>
                <a:lnTo>
                  <a:pt x="7048500" y="342900"/>
                </a:lnTo>
                <a:cubicBezTo>
                  <a:pt x="7048500" y="384984"/>
                  <a:pt x="7014384" y="419100"/>
                  <a:pt x="69723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285750" y="1123950"/>
            <a:ext cx="7048500" cy="1714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61962" y="1021556"/>
            <a:ext cx="36665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经营现金流 vs 净利润 趋势对比</a:t>
            </a:r>
            <a:r>
              <a:rPr lang="zh-CN" sz="1125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 xml:space="preserve"> </a:t>
            </a:r>
            <a:r>
              <a:rPr lang="zh-CN" sz="825" dirty="0">
                <a:solidFill>
                  <a:srgbClr val="EEEEEE"/>
                </a:solidFill>
                <a:latin typeface="Montserrat SemiBold"/>
                <a:ea typeface="Microsoft YaHei"/>
                <a:cs typeface="Montserrat SemiBold"/>
              </a:rPr>
              <a:t xml:space="preserve"> （2021Q1 — 2024Q2）</a:t>
            </a:r>
          </a:p>
        </p:txBody>
      </p:sp>
      <p:sp>
        <p:nvSpPr>
          <p:cNvPr id="23" name="Freeform 23"/>
          <p:cNvSpPr/>
          <p:nvPr/>
        </p:nvSpPr>
        <p:spPr>
          <a:xfrm>
            <a:off x="5048250" y="990600"/>
            <a:ext cx="133350" cy="28575"/>
          </a:xfrm>
          <a:custGeom>
            <a:avLst/>
            <a:gdLst/>
            <a:ahLst/>
            <a:cxnLst/>
            <a:rect l="l" t="t" r="r" b="b"/>
            <a:pathLst>
              <a:path w="133350" h="28575">
                <a:moveTo>
                  <a:pt x="14288" y="0"/>
                </a:moveTo>
                <a:lnTo>
                  <a:pt x="119062" y="0"/>
                </a:lnTo>
                <a:cubicBezTo>
                  <a:pt x="126953" y="0"/>
                  <a:pt x="133350" y="6397"/>
                  <a:pt x="133350" y="14288"/>
                </a:cubicBezTo>
                <a:lnTo>
                  <a:pt x="133350" y="14288"/>
                </a:lnTo>
                <a:cubicBezTo>
                  <a:pt x="133350" y="22178"/>
                  <a:pt x="126953" y="28575"/>
                  <a:pt x="1190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29225" y="938212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经营现金流</a:t>
            </a:r>
          </a:p>
        </p:txBody>
      </p:sp>
      <p:sp>
        <p:nvSpPr>
          <p:cNvPr id="25" name="Freeform 25"/>
          <p:cNvSpPr/>
          <p:nvPr/>
        </p:nvSpPr>
        <p:spPr>
          <a:xfrm>
            <a:off x="6000750" y="990600"/>
            <a:ext cx="133350" cy="28575"/>
          </a:xfrm>
          <a:custGeom>
            <a:avLst/>
            <a:gdLst/>
            <a:ahLst/>
            <a:cxnLst/>
            <a:rect l="l" t="t" r="r" b="b"/>
            <a:pathLst>
              <a:path w="133350" h="28575">
                <a:moveTo>
                  <a:pt x="14288" y="0"/>
                </a:moveTo>
                <a:lnTo>
                  <a:pt x="119062" y="0"/>
                </a:lnTo>
                <a:cubicBezTo>
                  <a:pt x="126953" y="0"/>
                  <a:pt x="133350" y="6397"/>
                  <a:pt x="133350" y="14288"/>
                </a:cubicBezTo>
                <a:lnTo>
                  <a:pt x="133350" y="14288"/>
                </a:lnTo>
                <a:cubicBezTo>
                  <a:pt x="133350" y="22178"/>
                  <a:pt x="126953" y="28575"/>
                  <a:pt x="1190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181725" y="93821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净利润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409700"/>
            <a:ext cx="6572250" cy="2638425"/>
            <a:chOff x="571500" y="1409700"/>
            <a:chExt cx="6572250" cy="2638425"/>
          </a:xfrm>
        </p:grpSpPr>
        <p:sp>
          <p:nvSpPr>
            <p:cNvPr id="27" name="Line 27"/>
            <p:cNvSpPr/>
            <p:nvPr/>
          </p:nvSpPr>
          <p:spPr>
            <a:xfrm>
              <a:off x="571500" y="140970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71500" y="18478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71500" y="228600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71500" y="27241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71500" y="316230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71500" y="36004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71500" y="403860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7620">
              <a:solidFill>
                <a:srgbClr val="EEEEEE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290274" y="1365409"/>
            <a:ext cx="242174" cy="2766060"/>
            <a:chOff x="290274" y="1365409"/>
            <a:chExt cx="242174" cy="2766060"/>
          </a:xfrm>
        </p:grpSpPr>
        <p:sp>
          <p:nvSpPr>
            <p:cNvPr id="35" name="TextBox 35"/>
            <p:cNvSpPr txBox="1"/>
            <p:nvPr/>
          </p:nvSpPr>
          <p:spPr>
            <a:xfrm>
              <a:off x="290274" y="1365409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+150%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0274" y="1803559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+100%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7278" y="2241709"/>
              <a:ext cx="21517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+50%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6290" y="2679859"/>
              <a:ext cx="11615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7278" y="3118009"/>
              <a:ext cx="21517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-50%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0274" y="3556159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-100%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0274" y="3994309"/>
              <a:ext cx="24217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-150%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9817" y="4165759"/>
            <a:ext cx="5011269" cy="137160"/>
            <a:chOff x="629817" y="4165759"/>
            <a:chExt cx="5011269" cy="137160"/>
          </a:xfrm>
        </p:grpSpPr>
        <p:sp>
          <p:nvSpPr>
            <p:cNvPr id="43" name="TextBox 43"/>
            <p:cNvSpPr txBox="1"/>
            <p:nvPr/>
          </p:nvSpPr>
          <p:spPr>
            <a:xfrm>
              <a:off x="629817" y="4165759"/>
              <a:ext cx="18816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21Q1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0515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21Q2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51990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21Q3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23465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21Q4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94940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22Q1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45639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22Q2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17114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22Q3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88589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22Q4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71315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23Q1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31539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23Q2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93489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23Q3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64964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23Q4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47690" y="4165759"/>
              <a:ext cx="21066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24Q1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407914" y="4165759"/>
              <a:ext cx="23317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99999"/>
                  </a:solidFill>
                  <a:latin typeface="Calibri"/>
                  <a:ea typeface="Microsoft YaHei"/>
                  <a:cs typeface="Calibri"/>
                </a:rPr>
                <a:t>24Q2</a:t>
              </a:r>
            </a:p>
          </p:txBody>
        </p:sp>
      </p:grpSp>
      <p:sp>
        <p:nvSpPr>
          <p:cNvPr id="58" name="Line 58"/>
          <p:cNvSpPr/>
          <p:nvPr/>
        </p:nvSpPr>
        <p:spPr>
          <a:xfrm>
            <a:off x="571500" y="2724150"/>
            <a:ext cx="6572250" cy="9525"/>
          </a:xfrm>
          <a:custGeom>
            <a:avLst/>
            <a:gdLst/>
            <a:ahLst/>
            <a:cxnLst/>
            <a:rect l="l" t="t" r="r" b="b"/>
            <a:pathLst>
              <a:path w="6572250" h="9525">
                <a:moveTo>
                  <a:pt x="0" y="0"/>
                </a:moveTo>
                <a:lnTo>
                  <a:pt x="6572250" y="0"/>
                </a:lnTo>
              </a:path>
            </a:pathLst>
          </a:custGeom>
          <a:noFill/>
          <a:ln w="9525">
            <a:solidFill>
              <a:srgbClr val="CCCCCC"/>
            </a:solidFill>
            <a:custDash>
              <a:ds d="400000" sp="300000"/>
            </a:custDash>
          </a:ln>
        </p:spPr>
      </p:sp>
      <p:sp>
        <p:nvSpPr>
          <p:cNvPr id="59" name="Polyline 59"/>
          <p:cNvSpPr/>
          <p:nvPr/>
        </p:nvSpPr>
        <p:spPr>
          <a:xfrm>
            <a:off x="723900" y="1409700"/>
            <a:ext cx="4800600" cy="1162050"/>
          </a:xfrm>
          <a:custGeom>
            <a:avLst/>
            <a:gdLst/>
            <a:ahLst/>
            <a:cxnLst/>
            <a:rect l="l" t="t" r="r" b="b"/>
            <a:pathLst>
              <a:path w="4800600" h="1162050">
                <a:moveTo>
                  <a:pt x="0" y="1162050"/>
                </a:moveTo>
                <a:lnTo>
                  <a:pt x="361950" y="971550"/>
                </a:lnTo>
                <a:lnTo>
                  <a:pt x="733425" y="781050"/>
                </a:lnTo>
                <a:lnTo>
                  <a:pt x="1104900" y="876300"/>
                </a:lnTo>
                <a:lnTo>
                  <a:pt x="1476375" y="1066800"/>
                </a:lnTo>
                <a:lnTo>
                  <a:pt x="1838325" y="990600"/>
                </a:lnTo>
                <a:lnTo>
                  <a:pt x="2209800" y="781050"/>
                </a:lnTo>
                <a:lnTo>
                  <a:pt x="2581275" y="666750"/>
                </a:lnTo>
                <a:lnTo>
                  <a:pt x="2952750" y="457200"/>
                </a:lnTo>
                <a:lnTo>
                  <a:pt x="3324225" y="266700"/>
                </a:lnTo>
                <a:lnTo>
                  <a:pt x="3686175" y="171450"/>
                </a:lnTo>
                <a:lnTo>
                  <a:pt x="4057650" y="95250"/>
                </a:lnTo>
                <a:lnTo>
                  <a:pt x="4429125" y="0"/>
                </a:lnTo>
                <a:lnTo>
                  <a:pt x="4800600" y="38100"/>
                </a:lnTo>
              </a:path>
            </a:pathLst>
          </a:custGeom>
          <a:noFill/>
          <a:ln w="23812" cap="rnd">
            <a:solidFill>
              <a:srgbClr val="E67E22"/>
            </a:solidFill>
            <a:round/>
          </a:ln>
        </p:spPr>
      </p:sp>
      <p:sp>
        <p:nvSpPr>
          <p:cNvPr id="60" name="Polygon 60"/>
          <p:cNvSpPr/>
          <p:nvPr/>
        </p:nvSpPr>
        <p:spPr>
          <a:xfrm>
            <a:off x="723900" y="1409700"/>
            <a:ext cx="4800600" cy="1314450"/>
          </a:xfrm>
          <a:custGeom>
            <a:avLst/>
            <a:gdLst/>
            <a:ahLst/>
            <a:cxnLst/>
            <a:rect l="l" t="t" r="r" b="b"/>
            <a:pathLst>
              <a:path w="4800600" h="1314450">
                <a:moveTo>
                  <a:pt x="0" y="1162050"/>
                </a:moveTo>
                <a:lnTo>
                  <a:pt x="361950" y="971550"/>
                </a:lnTo>
                <a:lnTo>
                  <a:pt x="733425" y="781050"/>
                </a:lnTo>
                <a:lnTo>
                  <a:pt x="1104900" y="876300"/>
                </a:lnTo>
                <a:lnTo>
                  <a:pt x="1476375" y="1066800"/>
                </a:lnTo>
                <a:lnTo>
                  <a:pt x="1838325" y="990600"/>
                </a:lnTo>
                <a:lnTo>
                  <a:pt x="2209800" y="781050"/>
                </a:lnTo>
                <a:lnTo>
                  <a:pt x="2581275" y="666750"/>
                </a:lnTo>
                <a:lnTo>
                  <a:pt x="2952750" y="457200"/>
                </a:lnTo>
                <a:lnTo>
                  <a:pt x="3324225" y="266700"/>
                </a:lnTo>
                <a:lnTo>
                  <a:pt x="3686175" y="171450"/>
                </a:lnTo>
                <a:lnTo>
                  <a:pt x="4057650" y="95250"/>
                </a:lnTo>
                <a:lnTo>
                  <a:pt x="4429125" y="0"/>
                </a:lnTo>
                <a:lnTo>
                  <a:pt x="4800600" y="38100"/>
                </a:lnTo>
                <a:lnTo>
                  <a:pt x="4800600" y="1314450"/>
                </a:lnTo>
                <a:lnTo>
                  <a:pt x="4429125" y="1314450"/>
                </a:lnTo>
                <a:lnTo>
                  <a:pt x="4057650" y="1314450"/>
                </a:lnTo>
                <a:lnTo>
                  <a:pt x="3686175" y="1314450"/>
                </a:lnTo>
                <a:lnTo>
                  <a:pt x="3324225" y="1314450"/>
                </a:lnTo>
                <a:lnTo>
                  <a:pt x="2952750" y="1314450"/>
                </a:lnTo>
                <a:lnTo>
                  <a:pt x="2581275" y="1314450"/>
                </a:lnTo>
                <a:lnTo>
                  <a:pt x="2209800" y="1314450"/>
                </a:lnTo>
                <a:lnTo>
                  <a:pt x="1838325" y="1314450"/>
                </a:lnTo>
                <a:lnTo>
                  <a:pt x="1476375" y="1314450"/>
                </a:lnTo>
                <a:lnTo>
                  <a:pt x="1104900" y="1314450"/>
                </a:lnTo>
                <a:lnTo>
                  <a:pt x="733425" y="1314450"/>
                </a:lnTo>
                <a:lnTo>
                  <a:pt x="361950" y="1314450"/>
                </a:lnTo>
                <a:lnTo>
                  <a:pt x="0" y="1314450"/>
                </a:lnTo>
                <a:close/>
              </a:path>
            </a:pathLst>
          </a:custGeom>
          <a:solidFill>
            <a:srgbClr val="E67E22">
              <a:alpha val="6000"/>
            </a:srgbClr>
          </a:solidFill>
          <a:ln>
            <a:noFill/>
          </a:ln>
        </p:spPr>
      </p:sp>
      <p:grpSp>
        <p:nvGrpSpPr>
          <p:cNvPr id="75" name="Group 75"/>
          <p:cNvGrpSpPr/>
          <p:nvPr/>
        </p:nvGrpSpPr>
        <p:grpSpPr>
          <a:xfrm>
            <a:off x="690562" y="1376362"/>
            <a:ext cx="4867275" cy="1228725"/>
            <a:chOff x="690562" y="1376362"/>
            <a:chExt cx="4867275" cy="1228725"/>
          </a:xfrm>
        </p:grpSpPr>
        <p:sp>
          <p:nvSpPr>
            <p:cNvPr id="61" name="Ellipse 61"/>
            <p:cNvSpPr/>
            <p:nvPr/>
          </p:nvSpPr>
          <p:spPr>
            <a:xfrm>
              <a:off x="690562" y="25384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052512" y="23479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423988" y="21574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795462" y="22526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166938" y="24431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528888" y="23669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2900362" y="21574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271838" y="20431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643312" y="18335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014788" y="16430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4376738" y="15478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748212" y="147161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119688" y="13763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5491162" y="1414462"/>
              <a:ext cx="66675" cy="66675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</p:grpSp>
      <p:sp>
        <p:nvSpPr>
          <p:cNvPr id="76" name="Polyline 76"/>
          <p:cNvSpPr/>
          <p:nvPr/>
        </p:nvSpPr>
        <p:spPr>
          <a:xfrm>
            <a:off x="723900" y="2438400"/>
            <a:ext cx="4800600" cy="228600"/>
          </a:xfrm>
          <a:custGeom>
            <a:avLst/>
            <a:gdLst/>
            <a:ahLst/>
            <a:cxnLst/>
            <a:rect l="l" t="t" r="r" b="b"/>
            <a:pathLst>
              <a:path w="4800600" h="228600">
                <a:moveTo>
                  <a:pt x="0" y="209550"/>
                </a:moveTo>
                <a:lnTo>
                  <a:pt x="361950" y="152400"/>
                </a:lnTo>
                <a:lnTo>
                  <a:pt x="733425" y="114300"/>
                </a:lnTo>
                <a:lnTo>
                  <a:pt x="1104900" y="38100"/>
                </a:lnTo>
                <a:lnTo>
                  <a:pt x="1476375" y="0"/>
                </a:lnTo>
                <a:lnTo>
                  <a:pt x="1838325" y="57150"/>
                </a:lnTo>
                <a:lnTo>
                  <a:pt x="2209800" y="133350"/>
                </a:lnTo>
                <a:lnTo>
                  <a:pt x="2581275" y="190500"/>
                </a:lnTo>
                <a:lnTo>
                  <a:pt x="2952750" y="228600"/>
                </a:lnTo>
                <a:lnTo>
                  <a:pt x="3324225" y="209550"/>
                </a:lnTo>
                <a:lnTo>
                  <a:pt x="3686175" y="152400"/>
                </a:lnTo>
                <a:lnTo>
                  <a:pt x="4057650" y="76200"/>
                </a:lnTo>
                <a:lnTo>
                  <a:pt x="4429125" y="38100"/>
                </a:lnTo>
                <a:lnTo>
                  <a:pt x="4800600" y="19050"/>
                </a:lnTo>
              </a:path>
            </a:pathLst>
          </a:custGeom>
          <a:noFill/>
          <a:ln w="23812" cap="rnd">
            <a:solidFill>
              <a:srgbClr val="003366"/>
            </a:solidFill>
            <a:prstDash val="dash"/>
            <a:round/>
          </a:ln>
        </p:spPr>
      </p:sp>
      <p:grpSp>
        <p:nvGrpSpPr>
          <p:cNvPr id="91" name="Group 91"/>
          <p:cNvGrpSpPr/>
          <p:nvPr/>
        </p:nvGrpSpPr>
        <p:grpSpPr>
          <a:xfrm>
            <a:off x="695325" y="2409825"/>
            <a:ext cx="4857750" cy="285750"/>
            <a:chOff x="695325" y="2409825"/>
            <a:chExt cx="4857750" cy="285750"/>
          </a:xfrm>
        </p:grpSpPr>
        <p:sp>
          <p:nvSpPr>
            <p:cNvPr id="77" name="Ellipse 77"/>
            <p:cNvSpPr/>
            <p:nvPr/>
          </p:nvSpPr>
          <p:spPr>
            <a:xfrm>
              <a:off x="695325" y="261937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57275" y="25622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428750" y="25241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800225" y="24479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171700" y="24098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533650" y="246697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2905125" y="254317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3276600" y="26003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3648075" y="26384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4019550" y="261937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4381500" y="25622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4752975" y="24860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5124450" y="244792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5495925" y="2428875"/>
              <a:ext cx="57150" cy="5715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</p:sp>
      </p:grpSp>
      <p:sp>
        <p:nvSpPr>
          <p:cNvPr id="92" name="Rectangle 92"/>
          <p:cNvSpPr/>
          <p:nvPr/>
        </p:nvSpPr>
        <p:spPr>
          <a:xfrm>
            <a:off x="3571875" y="1333500"/>
            <a:ext cx="2038350" cy="1428750"/>
          </a:xfrm>
          <a:prstGeom prst="rect">
            <a:avLst/>
          </a:prstGeom>
          <a:noFill/>
          <a:ln w="14288">
            <a:solidFill>
              <a:srgbClr val="E67E22">
                <a:alpha val="60000"/>
              </a:srgbClr>
            </a:solidFill>
            <a:custDash>
              <a:ds d="266666" sp="200000"/>
            </a:custDash>
          </a:ln>
        </p:spPr>
      </p:sp>
      <p:sp>
        <p:nvSpPr>
          <p:cNvPr id="93" name="TextBox 93"/>
          <p:cNvSpPr txBox="1"/>
          <p:nvPr/>
        </p:nvSpPr>
        <p:spPr>
          <a:xfrm>
            <a:off x="4251686" y="4261009"/>
            <a:ext cx="67872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剪刀差持续扩大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66725" y="4414838"/>
            <a:ext cx="3019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* 经营现金流同比增幅持续高于净利润增幅，23Q1后剪刀差显著扩大</a:t>
            </a:r>
          </a:p>
        </p:txBody>
      </p:sp>
      <p:sp>
        <p:nvSpPr>
          <p:cNvPr id="95" name="Freeform 95"/>
          <p:cNvSpPr/>
          <p:nvPr/>
        </p:nvSpPr>
        <p:spPr>
          <a:xfrm>
            <a:off x="7524750" y="876300"/>
            <a:ext cx="4381500" cy="1066800"/>
          </a:xfrm>
          <a:custGeom>
            <a:avLst/>
            <a:gdLst/>
            <a:ahLst/>
            <a:cxnLst/>
            <a:rect l="l" t="t" r="r" b="b"/>
            <a:pathLst>
              <a:path w="4381500" h="1066800">
                <a:moveTo>
                  <a:pt x="76200" y="0"/>
                </a:moveTo>
                <a:lnTo>
                  <a:pt x="4305300" y="0"/>
                </a:lnTo>
                <a:cubicBezTo>
                  <a:pt x="4347384" y="0"/>
                  <a:pt x="4381500" y="34116"/>
                  <a:pt x="4381500" y="76200"/>
                </a:cubicBezTo>
                <a:lnTo>
                  <a:pt x="4381500" y="990600"/>
                </a:lnTo>
                <a:cubicBezTo>
                  <a:pt x="4381500" y="1032684"/>
                  <a:pt x="4347384" y="1066800"/>
                  <a:pt x="4305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96" name="Freeform 96"/>
          <p:cNvSpPr/>
          <p:nvPr/>
        </p:nvSpPr>
        <p:spPr>
          <a:xfrm>
            <a:off x="7524750" y="876300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gradFill>
            <a:gsLst>
              <a:gs pos="0">
                <a:srgbClr val="E67E22"/>
              </a:gs>
              <a:gs pos="100000">
                <a:srgbClr val="D4691E"/>
              </a:gs>
            </a:gsLst>
            <a:lin ang="5400000" scaled="1"/>
          </a:gradFill>
          <a:ln>
            <a:noFill/>
          </a:ln>
        </p:spPr>
      </p:sp>
      <p:grpSp>
        <p:nvGrpSpPr>
          <p:cNvPr id="99" name="Group 99"/>
          <p:cNvGrpSpPr/>
          <p:nvPr/>
        </p:nvGrpSpPr>
        <p:grpSpPr>
          <a:xfrm>
            <a:off x="7748588" y="1103312"/>
            <a:ext cx="200025" cy="144463"/>
            <a:chOff x="7748588" y="1103312"/>
            <a:chExt cx="200025" cy="144463"/>
          </a:xfrm>
        </p:grpSpPr>
        <p:sp>
          <p:nvSpPr>
            <p:cNvPr id="97" name="Freeform 97"/>
            <p:cNvSpPr/>
            <p:nvPr/>
          </p:nvSpPr>
          <p:spPr>
            <a:xfrm>
              <a:off x="7915275" y="1103312"/>
              <a:ext cx="33338" cy="66675"/>
            </a:xfrm>
            <a:custGeom>
              <a:avLst/>
              <a:gdLst/>
              <a:ahLst/>
              <a:cxnLst/>
              <a:rect l="l" t="t" r="r" b="b"/>
              <a:pathLst>
                <a:path w="33338" h="66675">
                  <a:moveTo>
                    <a:pt x="0" y="0"/>
                  </a:moveTo>
                  <a:lnTo>
                    <a:pt x="33338" y="33338"/>
                  </a:ln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7748588" y="1136650"/>
              <a:ext cx="200025" cy="111125"/>
            </a:xfrm>
            <a:custGeom>
              <a:avLst/>
              <a:gdLst/>
              <a:ahLst/>
              <a:cxnLst/>
              <a:rect l="l" t="t" r="r" b="b"/>
              <a:pathLst>
                <a:path w="200025" h="111125">
                  <a:moveTo>
                    <a:pt x="0" y="111125"/>
                  </a:moveTo>
                  <a:lnTo>
                    <a:pt x="55563" y="111125"/>
                  </a:lnTo>
                  <a:lnTo>
                    <a:pt x="133350" y="0"/>
                  </a:lnTo>
                  <a:lnTo>
                    <a:pt x="200025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100" name="TextBox 100"/>
          <p:cNvSpPr txBox="1"/>
          <p:nvPr/>
        </p:nvSpPr>
        <p:spPr>
          <a:xfrm>
            <a:off x="8064818" y="1056799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经营现金流同比增长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067675" y="1271588"/>
            <a:ext cx="15792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Operating Cash Flow YoY Growth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183978" y="998220"/>
            <a:ext cx="8002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400" b="1" dirty="0">
                <a:solidFill>
                  <a:srgbClr val="E67E22"/>
                </a:solidFill>
                <a:latin typeface="Montserrat Bold"/>
                <a:ea typeface="Microsoft YaHei"/>
                <a:cs typeface="Montserrat Bold"/>
              </a:rPr>
              <a:t>+82%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414111" y="1403509"/>
            <a:ext cx="54821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vs 上期 +32%</a:t>
            </a:r>
          </a:p>
        </p:txBody>
      </p:sp>
      <p:sp>
        <p:nvSpPr>
          <p:cNvPr id="104" name="Polyline 104"/>
          <p:cNvSpPr/>
          <p:nvPr/>
        </p:nvSpPr>
        <p:spPr>
          <a:xfrm>
            <a:off x="7715250" y="1409700"/>
            <a:ext cx="1428750" cy="352425"/>
          </a:xfrm>
          <a:custGeom>
            <a:avLst/>
            <a:gdLst/>
            <a:ahLst/>
            <a:cxnLst/>
            <a:rect l="l" t="t" r="r" b="b"/>
            <a:pathLst>
              <a:path w="1428750" h="352425">
                <a:moveTo>
                  <a:pt x="0" y="352425"/>
                </a:moveTo>
                <a:lnTo>
                  <a:pt x="238125" y="257175"/>
                </a:lnTo>
                <a:lnTo>
                  <a:pt x="476250" y="285750"/>
                </a:lnTo>
                <a:lnTo>
                  <a:pt x="714375" y="190500"/>
                </a:lnTo>
                <a:lnTo>
                  <a:pt x="952500" y="114300"/>
                </a:lnTo>
                <a:lnTo>
                  <a:pt x="1190625" y="38100"/>
                </a:ln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E67E22"/>
            </a:solidFill>
          </a:ln>
        </p:spPr>
      </p:sp>
      <p:sp>
        <p:nvSpPr>
          <p:cNvPr id="105" name="Freeform 105"/>
          <p:cNvSpPr/>
          <p:nvPr/>
        </p:nvSpPr>
        <p:spPr>
          <a:xfrm>
            <a:off x="7524750" y="2038350"/>
            <a:ext cx="4381500" cy="1066800"/>
          </a:xfrm>
          <a:custGeom>
            <a:avLst/>
            <a:gdLst/>
            <a:ahLst/>
            <a:cxnLst/>
            <a:rect l="l" t="t" r="r" b="b"/>
            <a:pathLst>
              <a:path w="4381500" h="1066800">
                <a:moveTo>
                  <a:pt x="76200" y="0"/>
                </a:moveTo>
                <a:lnTo>
                  <a:pt x="4305300" y="0"/>
                </a:lnTo>
                <a:cubicBezTo>
                  <a:pt x="4347384" y="0"/>
                  <a:pt x="4381500" y="34116"/>
                  <a:pt x="4381500" y="76200"/>
                </a:cubicBezTo>
                <a:lnTo>
                  <a:pt x="4381500" y="990600"/>
                </a:lnTo>
                <a:cubicBezTo>
                  <a:pt x="4381500" y="1032684"/>
                  <a:pt x="4347384" y="1066800"/>
                  <a:pt x="4305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106" name="Freeform 106"/>
          <p:cNvSpPr/>
          <p:nvPr/>
        </p:nvSpPr>
        <p:spPr>
          <a:xfrm>
            <a:off x="7524750" y="2038350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grpSp>
        <p:nvGrpSpPr>
          <p:cNvPr id="109" name="Group 109"/>
          <p:cNvGrpSpPr/>
          <p:nvPr/>
        </p:nvGrpSpPr>
        <p:grpSpPr>
          <a:xfrm>
            <a:off x="7748588" y="2287588"/>
            <a:ext cx="200025" cy="111125"/>
            <a:chOff x="7748588" y="2287588"/>
            <a:chExt cx="200025" cy="111125"/>
          </a:xfrm>
        </p:grpSpPr>
        <p:sp>
          <p:nvSpPr>
            <p:cNvPr id="107" name="Freeform 107"/>
            <p:cNvSpPr/>
            <p:nvPr/>
          </p:nvSpPr>
          <p:spPr>
            <a:xfrm>
              <a:off x="7748588" y="2287588"/>
              <a:ext cx="200025" cy="111125"/>
            </a:xfrm>
            <a:custGeom>
              <a:avLst/>
              <a:gdLst/>
              <a:ahLst/>
              <a:cxnLst/>
              <a:rect l="l" t="t" r="r" b="b"/>
              <a:pathLst>
                <a:path w="200025" h="111125">
                  <a:moveTo>
                    <a:pt x="0" y="111125"/>
                  </a:moveTo>
                  <a:lnTo>
                    <a:pt x="66675" y="44450"/>
                  </a:lnTo>
                  <a:lnTo>
                    <a:pt x="111125" y="88900"/>
                  </a:lnTo>
                  <a:lnTo>
                    <a:pt x="200025" y="0"/>
                  </a:ln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7870825" y="2287588"/>
              <a:ext cx="77787" cy="77788"/>
            </a:xfrm>
            <a:custGeom>
              <a:avLst/>
              <a:gdLst/>
              <a:ahLst/>
              <a:cxnLst/>
              <a:rect l="l" t="t" r="r" b="b"/>
              <a:pathLst>
                <a:path w="77787" h="77788">
                  <a:moveTo>
                    <a:pt x="0" y="0"/>
                  </a:moveTo>
                  <a:lnTo>
                    <a:pt x="77787" y="0"/>
                  </a:lnTo>
                  <a:lnTo>
                    <a:pt x="77787" y="77788"/>
                  </a:lnTo>
                </a:path>
              </a:pathLst>
            </a:custGeom>
            <a:noFill/>
            <a:ln w="19050">
              <a:solidFill>
                <a:srgbClr val="003366"/>
              </a:solidFill>
            </a:ln>
          </p:spPr>
        </p:sp>
      </p:grpSp>
      <p:sp>
        <p:nvSpPr>
          <p:cNvPr id="110" name="TextBox 110"/>
          <p:cNvSpPr txBox="1"/>
          <p:nvPr/>
        </p:nvSpPr>
        <p:spPr>
          <a:xfrm>
            <a:off x="8064818" y="22188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净利润同比增长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067675" y="2433638"/>
            <a:ext cx="10941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Net Profit YoY Growth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183978" y="2160270"/>
            <a:ext cx="8002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400" b="1" dirty="0">
                <a:solidFill>
                  <a:srgbClr val="003366"/>
                </a:solidFill>
                <a:latin typeface="Montserrat Bold"/>
                <a:ea typeface="Microsoft YaHei"/>
                <a:cs typeface="Montserrat Bold"/>
              </a:rPr>
              <a:t>+28%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414111" y="2565559"/>
            <a:ext cx="54821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vs 上期 +35%</a:t>
            </a:r>
          </a:p>
        </p:txBody>
      </p:sp>
      <p:sp>
        <p:nvSpPr>
          <p:cNvPr id="114" name="Polyline 114"/>
          <p:cNvSpPr/>
          <p:nvPr/>
        </p:nvSpPr>
        <p:spPr>
          <a:xfrm>
            <a:off x="7715250" y="2762250"/>
            <a:ext cx="1428750" cy="161925"/>
          </a:xfrm>
          <a:custGeom>
            <a:avLst/>
            <a:gdLst/>
            <a:ahLst/>
            <a:cxnLst/>
            <a:rect l="l" t="t" r="r" b="b"/>
            <a:pathLst>
              <a:path w="1428750" h="161925">
                <a:moveTo>
                  <a:pt x="0" y="161925"/>
                </a:moveTo>
                <a:lnTo>
                  <a:pt x="238125" y="95250"/>
                </a:lnTo>
                <a:lnTo>
                  <a:pt x="476250" y="133350"/>
                </a:lnTo>
                <a:lnTo>
                  <a:pt x="714375" y="57150"/>
                </a:lnTo>
                <a:lnTo>
                  <a:pt x="952500" y="19050"/>
                </a:lnTo>
                <a:lnTo>
                  <a:pt x="1190625" y="38100"/>
                </a:ln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003366"/>
            </a:solidFill>
          </a:ln>
        </p:spPr>
      </p:sp>
      <p:sp>
        <p:nvSpPr>
          <p:cNvPr id="115" name="Freeform 115"/>
          <p:cNvSpPr/>
          <p:nvPr/>
        </p:nvSpPr>
        <p:spPr>
          <a:xfrm>
            <a:off x="7524750" y="3200400"/>
            <a:ext cx="4381500" cy="1066800"/>
          </a:xfrm>
          <a:custGeom>
            <a:avLst/>
            <a:gdLst/>
            <a:ahLst/>
            <a:cxnLst/>
            <a:rect l="l" t="t" r="r" b="b"/>
            <a:pathLst>
              <a:path w="4381500" h="1066800">
                <a:moveTo>
                  <a:pt x="76200" y="0"/>
                </a:moveTo>
                <a:lnTo>
                  <a:pt x="4305300" y="0"/>
                </a:lnTo>
                <a:cubicBezTo>
                  <a:pt x="4347384" y="0"/>
                  <a:pt x="4381500" y="34116"/>
                  <a:pt x="4381500" y="76200"/>
                </a:cubicBezTo>
                <a:lnTo>
                  <a:pt x="4381500" y="990600"/>
                </a:lnTo>
                <a:cubicBezTo>
                  <a:pt x="4381500" y="1032684"/>
                  <a:pt x="4347384" y="1066800"/>
                  <a:pt x="430530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116" name="Freeform 116"/>
          <p:cNvSpPr/>
          <p:nvPr/>
        </p:nvSpPr>
        <p:spPr>
          <a:xfrm>
            <a:off x="7524750" y="3200400"/>
            <a:ext cx="57150" cy="1066800"/>
          </a:xfrm>
          <a:custGeom>
            <a:avLst/>
            <a:gdLst/>
            <a:ahLst/>
            <a:cxnLst/>
            <a:rect l="l" t="t" r="r" b="b"/>
            <a:pathLst>
              <a:path w="57150" h="10668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038225"/>
                </a:lnTo>
                <a:cubicBezTo>
                  <a:pt x="57150" y="1054007"/>
                  <a:pt x="44357" y="1066800"/>
                  <a:pt x="28575" y="1066800"/>
                </a:cubicBezTo>
                <a:lnTo>
                  <a:pt x="28575" y="1066800"/>
                </a:lnTo>
                <a:cubicBezTo>
                  <a:pt x="12793" y="1066800"/>
                  <a:pt x="0" y="1054007"/>
                  <a:pt x="0" y="10382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121" name="Group 121"/>
          <p:cNvGrpSpPr/>
          <p:nvPr/>
        </p:nvGrpSpPr>
        <p:grpSpPr>
          <a:xfrm>
            <a:off x="7737475" y="3405188"/>
            <a:ext cx="211138" cy="200025"/>
            <a:chOff x="7737475" y="3405188"/>
            <a:chExt cx="211138" cy="200025"/>
          </a:xfrm>
        </p:grpSpPr>
        <p:sp>
          <p:nvSpPr>
            <p:cNvPr id="117" name="Freeform 117"/>
            <p:cNvSpPr/>
            <p:nvPr/>
          </p:nvSpPr>
          <p:spPr>
            <a:xfrm>
              <a:off x="7737475" y="3405188"/>
              <a:ext cx="211137" cy="122237"/>
            </a:xfrm>
            <a:custGeom>
              <a:avLst/>
              <a:gdLst/>
              <a:ahLst/>
              <a:cxnLst/>
              <a:rect l="l" t="t" r="r" b="b"/>
              <a:pathLst>
                <a:path w="211137" h="122237">
                  <a:moveTo>
                    <a:pt x="0" y="122237"/>
                  </a:moveTo>
                  <a:lnTo>
                    <a:pt x="66675" y="55562"/>
                  </a:lnTo>
                  <a:lnTo>
                    <a:pt x="111125" y="100012"/>
                  </a:lnTo>
                  <a:lnTo>
                    <a:pt x="211137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7881938" y="34051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7881938" y="35385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66675"/>
                  </a:moveTo>
                  <a:lnTo>
                    <a:pt x="66675" y="66675"/>
                  </a:ln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7881938" y="35385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122" name="TextBox 122"/>
          <p:cNvSpPr txBox="1"/>
          <p:nvPr/>
        </p:nvSpPr>
        <p:spPr>
          <a:xfrm>
            <a:off x="8064818" y="338089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现金流-利润剪刀差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067675" y="3595688"/>
            <a:ext cx="1349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Cash Flow vs Net Profit Gap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183978" y="3322320"/>
            <a:ext cx="8002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400" b="1" dirty="0">
                <a:solidFill>
                  <a:srgbClr val="E67E22"/>
                </a:solidFill>
                <a:latin typeface="Montserrat Bold"/>
                <a:ea typeface="Microsoft YaHei"/>
                <a:cs typeface="Montserrat Bold"/>
              </a:rPr>
              <a:t>+54%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0270093" y="3727609"/>
            <a:ext cx="6922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较上期扩大 +22%</a:t>
            </a:r>
          </a:p>
        </p:txBody>
      </p:sp>
      <p:sp>
        <p:nvSpPr>
          <p:cNvPr id="126" name="Line 126"/>
          <p:cNvSpPr/>
          <p:nvPr/>
        </p:nvSpPr>
        <p:spPr>
          <a:xfrm>
            <a:off x="7715250" y="4191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14288">
            <a:solidFill>
              <a:srgbClr val="E67E22"/>
            </a:solidFill>
            <a:custDash>
              <a:ds d="200000" sp="133333"/>
            </a:custDash>
          </a:ln>
        </p:spPr>
      </p:sp>
      <p:sp>
        <p:nvSpPr>
          <p:cNvPr id="127" name="Polygon 127"/>
          <p:cNvSpPr/>
          <p:nvPr/>
        </p:nvSpPr>
        <p:spPr>
          <a:xfrm>
            <a:off x="9144000" y="4152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128" name="Freeform 128"/>
          <p:cNvSpPr/>
          <p:nvPr/>
        </p:nvSpPr>
        <p:spPr>
          <a:xfrm>
            <a:off x="285750" y="4667250"/>
            <a:ext cx="11620500" cy="762000"/>
          </a:xfrm>
          <a:custGeom>
            <a:avLst/>
            <a:gdLst/>
            <a:ahLst/>
            <a:cxnLst/>
            <a:rect l="l" t="t" r="r" b="b"/>
            <a:pathLst>
              <a:path w="11620500" h="762000">
                <a:moveTo>
                  <a:pt x="76200" y="0"/>
                </a:moveTo>
                <a:lnTo>
                  <a:pt x="11544300" y="0"/>
                </a:lnTo>
                <a:cubicBezTo>
                  <a:pt x="11586384" y="0"/>
                  <a:pt x="11620500" y="34116"/>
                  <a:pt x="11620500" y="76200"/>
                </a:cubicBezTo>
                <a:lnTo>
                  <a:pt x="11620500" y="685800"/>
                </a:lnTo>
                <a:cubicBezTo>
                  <a:pt x="11620500" y="727884"/>
                  <a:pt x="11586384" y="762000"/>
                  <a:pt x="115443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129" name="Freeform 129"/>
          <p:cNvSpPr/>
          <p:nvPr/>
        </p:nvSpPr>
        <p:spPr>
          <a:xfrm>
            <a:off x="285750" y="4667250"/>
            <a:ext cx="1714500" cy="762000"/>
          </a:xfrm>
          <a:custGeom>
            <a:avLst/>
            <a:gdLst/>
            <a:ahLst/>
            <a:cxnLst/>
            <a:rect l="l" t="t" r="r" b="b"/>
            <a:pathLst>
              <a:path w="1714500" h="76200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685800"/>
                </a:lnTo>
                <a:cubicBezTo>
                  <a:pt x="1714500" y="727884"/>
                  <a:pt x="1680384" y="762000"/>
                  <a:pt x="16383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30" name="Rectangle 130"/>
          <p:cNvSpPr/>
          <p:nvPr/>
        </p:nvSpPr>
        <p:spPr>
          <a:xfrm>
            <a:off x="1847850" y="4667250"/>
            <a:ext cx="152400" cy="76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grpSp>
        <p:nvGrpSpPr>
          <p:cNvPr id="135" name="Group 135"/>
          <p:cNvGrpSpPr/>
          <p:nvPr/>
        </p:nvGrpSpPr>
        <p:grpSpPr>
          <a:xfrm>
            <a:off x="742950" y="4914900"/>
            <a:ext cx="171450" cy="114300"/>
            <a:chOff x="742950" y="4914900"/>
            <a:chExt cx="171450" cy="114300"/>
          </a:xfrm>
        </p:grpSpPr>
        <p:sp>
          <p:nvSpPr>
            <p:cNvPr id="131" name="Freeform 131"/>
            <p:cNvSpPr/>
            <p:nvPr/>
          </p:nvSpPr>
          <p:spPr>
            <a:xfrm>
              <a:off x="800100" y="49434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742950" y="4914900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152400" y="0"/>
                  </a:lnTo>
                  <a:cubicBezTo>
                    <a:pt x="162921" y="0"/>
                    <a:pt x="171450" y="8529"/>
                    <a:pt x="171450" y="19050"/>
                  </a:cubicBezTo>
                  <a:lnTo>
                    <a:pt x="171450" y="95250"/>
                  </a:lnTo>
                  <a:cubicBezTo>
                    <a:pt x="171450" y="105771"/>
                    <a:pt x="162921" y="114300"/>
                    <a:pt x="152400" y="114300"/>
                  </a:cubicBezTo>
                  <a:lnTo>
                    <a:pt x="19050" y="114300"/>
                  </a:lnTo>
                  <a:cubicBezTo>
                    <a:pt x="8529" y="114300"/>
                    <a:pt x="0" y="105771"/>
                    <a:pt x="0" y="95250"/>
                  </a:cubicBezTo>
                  <a:lnTo>
                    <a:pt x="0" y="190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885825" y="49720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771525" y="49720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136" name="TextBox 136"/>
          <p:cNvSpPr txBox="1"/>
          <p:nvPr/>
        </p:nvSpPr>
        <p:spPr>
          <a:xfrm>
            <a:off x="1006792" y="4942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核心洞察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009650" y="5138738"/>
            <a:ext cx="6041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EEEEE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Key Insights</a:t>
            </a:r>
          </a:p>
        </p:txBody>
      </p:sp>
      <p:grpSp>
        <p:nvGrpSpPr>
          <p:cNvPr id="144" name="Group 144"/>
          <p:cNvGrpSpPr/>
          <p:nvPr/>
        </p:nvGrpSpPr>
        <p:grpSpPr>
          <a:xfrm>
            <a:off x="2200275" y="4941570"/>
            <a:ext cx="8139208" cy="449580"/>
            <a:chOff x="2200275" y="4941570"/>
            <a:chExt cx="8139208" cy="449580"/>
          </a:xfrm>
        </p:grpSpPr>
        <p:sp>
          <p:nvSpPr>
            <p:cNvPr id="138" name="Ellipse 138"/>
            <p:cNvSpPr/>
            <p:nvPr/>
          </p:nvSpPr>
          <p:spPr>
            <a:xfrm>
              <a:off x="2200275" y="4962525"/>
              <a:ext cx="76200" cy="7620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2350770" y="4941570"/>
              <a:ext cx="46794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3333"/>
                  </a:solidFill>
                  <a:latin typeface="Montserrat SemiBold"/>
                  <a:ea typeface="Microsoft YaHei"/>
                  <a:cs typeface="Montserrat SemiBold"/>
                </a:rPr>
                <a:t>盈利质量改善：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 xml:space="preserve"> 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>经营现金流增速 (82%) 远超净利润增速 (28%)，利润"含金量"显著提升</a:t>
              </a:r>
            </a:p>
          </p:txBody>
        </p:sp>
        <p:sp>
          <p:nvSpPr>
            <p:cNvPr id="140" name="Ellipse 140"/>
            <p:cNvSpPr/>
            <p:nvPr/>
          </p:nvSpPr>
          <p:spPr>
            <a:xfrm>
              <a:off x="6343650" y="4962525"/>
              <a:ext cx="76200" cy="7620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6494145" y="4941570"/>
              <a:ext cx="38453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3333"/>
                  </a:solidFill>
                  <a:latin typeface="Montserrat SemiBold"/>
                  <a:ea typeface="Microsoft YaHei"/>
                  <a:cs typeface="Montserrat SemiBold"/>
                </a:rPr>
                <a:t>营运效率优化：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 xml:space="preserve"> 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>应收周转加速+库存去化，营运资本释放驱动现金流增长</a:t>
              </a:r>
            </a:p>
          </p:txBody>
        </p:sp>
        <p:sp>
          <p:nvSpPr>
            <p:cNvPr id="142" name="Ellipse 142"/>
            <p:cNvSpPr/>
            <p:nvPr/>
          </p:nvSpPr>
          <p:spPr>
            <a:xfrm>
              <a:off x="2200275" y="5229225"/>
              <a:ext cx="76200" cy="7620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2350770" y="5208270"/>
              <a:ext cx="3899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3333"/>
                  </a:solidFill>
                  <a:latin typeface="Montserrat SemiBold"/>
                  <a:ea typeface="Microsoft YaHei"/>
                  <a:cs typeface="Montserrat SemiBold"/>
                </a:rPr>
                <a:t>潜在风险：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 xml:space="preserve"> </a:t>
              </a:r>
              <a:r>
                <a:rPr lang="zh-CN" sz="900" dirty="0">
                  <a:solidFill>
                    <a:srgbClr val="333333"/>
                  </a:solidFill>
                  <a:latin typeface="Calibri"/>
                  <a:ea typeface="Microsoft YaHei"/>
                  <a:cs typeface="Calibri"/>
                </a:rPr>
                <a:t>若净利润持续滞后，需警惕利润调节或非经常性损益占比过高</a:t>
              </a:r>
            </a:p>
          </p:txBody>
        </p:sp>
      </p:grpSp>
      <p:sp>
        <p:nvSpPr>
          <p:cNvPr id="145" name="TextBox 145"/>
          <p:cNvSpPr txBox="1"/>
          <p:nvPr/>
        </p:nvSpPr>
        <p:spPr>
          <a:xfrm>
            <a:off x="11466433" y="668178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99999"/>
                </a:solidFill>
                <a:latin typeface="Calibri"/>
                <a:ea typeface="Microsoft YaHei"/>
                <a:cs typeface="Calibri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76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852" y="0"/>
                  <a:pt x="457200" y="102348"/>
                  <a:pt x="457200" y="228600"/>
                </a:cubicBezTo>
                <a:lnTo>
                  <a:pt x="457200" y="228600"/>
                </a:lnTo>
                <a:cubicBezTo>
                  <a:pt x="457200" y="354852"/>
                  <a:pt x="354852" y="457200"/>
                  <a:pt x="2286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04039" y="901711"/>
            <a:ext cx="192114" cy="165051"/>
            <a:chOff x="704039" y="901711"/>
            <a:chExt cx="192114" cy="165051"/>
          </a:xfrm>
        </p:grpSpPr>
        <p:sp>
          <p:nvSpPr>
            <p:cNvPr id="6" name="Freeform 6"/>
            <p:cNvSpPr/>
            <p:nvPr/>
          </p:nvSpPr>
          <p:spPr>
            <a:xfrm>
              <a:off x="800100" y="96202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04039" y="901711"/>
              <a:ext cx="192114" cy="165051"/>
            </a:xfrm>
            <a:custGeom>
              <a:avLst/>
              <a:gdLst/>
              <a:ahLst/>
              <a:cxnLst/>
              <a:rect l="l" t="t" r="r" b="b"/>
              <a:pathLst>
                <a:path w="192114" h="165051">
                  <a:moveTo>
                    <a:pt x="80468" y="8794"/>
                  </a:moveTo>
                  <a:lnTo>
                    <a:pt x="3259" y="137705"/>
                  </a:lnTo>
                  <a:cubicBezTo>
                    <a:pt x="20" y="143314"/>
                    <a:pt x="0" y="150220"/>
                    <a:pt x="3207" y="155848"/>
                  </a:cubicBezTo>
                  <a:cubicBezTo>
                    <a:pt x="6413" y="161475"/>
                    <a:pt x="12365" y="164979"/>
                    <a:pt x="18842" y="165051"/>
                  </a:cubicBezTo>
                  <a:lnTo>
                    <a:pt x="173280" y="165051"/>
                  </a:lnTo>
                  <a:cubicBezTo>
                    <a:pt x="179753" y="164977"/>
                    <a:pt x="185702" y="161474"/>
                    <a:pt x="188908" y="155850"/>
                  </a:cubicBezTo>
                  <a:cubicBezTo>
                    <a:pt x="192114" y="150226"/>
                    <a:pt x="192097" y="143323"/>
                    <a:pt x="188863" y="137715"/>
                  </a:cubicBezTo>
                  <a:lnTo>
                    <a:pt x="111653" y="8784"/>
                  </a:lnTo>
                  <a:cubicBezTo>
                    <a:pt x="108349" y="3331"/>
                    <a:pt x="102437" y="0"/>
                    <a:pt x="96061" y="0"/>
                  </a:cubicBezTo>
                  <a:cubicBezTo>
                    <a:pt x="89685" y="0"/>
                    <a:pt x="83772" y="3331"/>
                    <a:pt x="80468" y="8784"/>
                  </a:cubicBez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00100" y="10287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5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54430" y="840105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风险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7765" y="118205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RISK FACTORS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524000"/>
            <a:ext cx="4953000" cy="1905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571500" y="1905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57150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866775" y="2219325"/>
            <a:ext cx="171450" cy="95250"/>
            <a:chOff x="866775" y="2219325"/>
            <a:chExt cx="171450" cy="95250"/>
          </a:xfrm>
        </p:grpSpPr>
        <p:sp>
          <p:nvSpPr>
            <p:cNvPr id="15" name="Freeform 15"/>
            <p:cNvSpPr/>
            <p:nvPr/>
          </p:nvSpPr>
          <p:spPr>
            <a:xfrm>
              <a:off x="866775" y="22193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0"/>
                  </a:moveTo>
                  <a:lnTo>
                    <a:pt x="57150" y="57150"/>
                  </a:lnTo>
                  <a:lnTo>
                    <a:pt x="95250" y="19050"/>
                  </a:lnTo>
                  <a:lnTo>
                    <a:pt x="171450" y="9525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71550" y="22479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66675" y="66675"/>
                  </a:ln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00150" y="210502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应收账款压力增大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3912" y="2469356"/>
            <a:ext cx="21888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应收账款周转天数同比上升15%，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3912" y="26979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回款周期延长，资金占用加剧。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2385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571500" y="3238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866775" y="3552825"/>
            <a:ext cx="171450" cy="95250"/>
            <a:chOff x="866775" y="3552825"/>
            <a:chExt cx="171450" cy="95250"/>
          </a:xfrm>
        </p:grpSpPr>
        <p:sp>
          <p:nvSpPr>
            <p:cNvPr id="23" name="Freeform 23"/>
            <p:cNvSpPr/>
            <p:nvPr/>
          </p:nvSpPr>
          <p:spPr>
            <a:xfrm>
              <a:off x="866775" y="35528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0"/>
                  </a:moveTo>
                  <a:lnTo>
                    <a:pt x="57150" y="57150"/>
                  </a:lnTo>
                  <a:lnTo>
                    <a:pt x="95250" y="19050"/>
                  </a:lnTo>
                  <a:lnTo>
                    <a:pt x="171450" y="9525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71550" y="35814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66675" y="66675"/>
                  </a:ln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200150" y="34385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经营现金流波动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912" y="3802856"/>
            <a:ext cx="2458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经营性现金流净额季度波动达±35%，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912" y="403145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短期偿债能力面临一定挑战。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4572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571500" y="4572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866775" y="4886325"/>
            <a:ext cx="171450" cy="95250"/>
            <a:chOff x="866775" y="4886325"/>
            <a:chExt cx="171450" cy="95250"/>
          </a:xfrm>
        </p:grpSpPr>
        <p:sp>
          <p:nvSpPr>
            <p:cNvPr id="31" name="Freeform 31"/>
            <p:cNvSpPr/>
            <p:nvPr/>
          </p:nvSpPr>
          <p:spPr>
            <a:xfrm>
              <a:off x="866775" y="48863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0"/>
                  </a:moveTo>
                  <a:lnTo>
                    <a:pt x="57150" y="57150"/>
                  </a:lnTo>
                  <a:lnTo>
                    <a:pt x="95250" y="19050"/>
                  </a:lnTo>
                  <a:lnTo>
                    <a:pt x="171450" y="9525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1550" y="491490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0"/>
                  </a:moveTo>
                  <a:lnTo>
                    <a:pt x="66675" y="66675"/>
                  </a:ln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200150" y="47720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毛利率承压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3912" y="513635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原材料成本上涨及竞争加剧，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3912" y="5364956"/>
            <a:ext cx="2226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毛利率同比下滑约2.3个百分点。</a:t>
            </a:r>
          </a:p>
        </p:txBody>
      </p:sp>
      <p:sp>
        <p:nvSpPr>
          <p:cNvPr id="37" name="Ellipse 37"/>
          <p:cNvSpPr/>
          <p:nvPr/>
        </p:nvSpPr>
        <p:spPr>
          <a:xfrm>
            <a:off x="30194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32099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34004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6096000" y="0"/>
            <a:ext cx="60960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6667500" y="76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852" y="0"/>
                  <a:pt x="457200" y="102348"/>
                  <a:pt x="457200" y="228600"/>
                </a:cubicBezTo>
                <a:lnTo>
                  <a:pt x="457200" y="228600"/>
                </a:lnTo>
                <a:cubicBezTo>
                  <a:pt x="457200" y="354852"/>
                  <a:pt x="354852" y="457200"/>
                  <a:pt x="2286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6810375" y="942975"/>
            <a:ext cx="171450" cy="95250"/>
            <a:chOff x="6810375" y="942975"/>
            <a:chExt cx="171450" cy="95250"/>
          </a:xfrm>
        </p:grpSpPr>
        <p:sp>
          <p:nvSpPr>
            <p:cNvPr id="43" name="Freeform 43"/>
            <p:cNvSpPr/>
            <p:nvPr/>
          </p:nvSpPr>
          <p:spPr>
            <a:xfrm>
              <a:off x="6810375" y="94297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95250"/>
                  </a:moveTo>
                  <a:lnTo>
                    <a:pt x="57150" y="38100"/>
                  </a:lnTo>
                  <a:lnTo>
                    <a:pt x="95250" y="7620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915150" y="9429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7250430" y="840105"/>
            <a:ext cx="6414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机遇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63765" y="1182052"/>
            <a:ext cx="10137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OPPORTUNITIES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0" y="1524000"/>
            <a:ext cx="4953000" cy="1905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667500" y="1905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666750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6962775" y="2219325"/>
            <a:ext cx="171450" cy="95250"/>
            <a:chOff x="6962775" y="2219325"/>
            <a:chExt cx="171450" cy="95250"/>
          </a:xfrm>
        </p:grpSpPr>
        <p:sp>
          <p:nvSpPr>
            <p:cNvPr id="51" name="Freeform 51"/>
            <p:cNvSpPr/>
            <p:nvPr/>
          </p:nvSpPr>
          <p:spPr>
            <a:xfrm>
              <a:off x="6962775" y="22193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95250"/>
                  </a:moveTo>
                  <a:lnTo>
                    <a:pt x="57150" y="38100"/>
                  </a:lnTo>
                  <a:lnTo>
                    <a:pt x="95250" y="7620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067550" y="22193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7296150" y="21050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海外市场拓展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19912" y="246935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东南亚及中东新兴市场需求旺盛，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19912" y="2697956"/>
            <a:ext cx="26764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海外营收同比增长32%，增长空间广阔。</a:t>
            </a:r>
          </a:p>
        </p:txBody>
      </p:sp>
      <p:sp>
        <p:nvSpPr>
          <p:cNvPr id="57" name="Freeform 57"/>
          <p:cNvSpPr/>
          <p:nvPr/>
        </p:nvSpPr>
        <p:spPr>
          <a:xfrm>
            <a:off x="6667500" y="32385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6667500" y="32385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6962775" y="3552825"/>
            <a:ext cx="171450" cy="95250"/>
            <a:chOff x="6962775" y="3552825"/>
            <a:chExt cx="171450" cy="95250"/>
          </a:xfrm>
        </p:grpSpPr>
        <p:sp>
          <p:nvSpPr>
            <p:cNvPr id="59" name="Freeform 59"/>
            <p:cNvSpPr/>
            <p:nvPr/>
          </p:nvSpPr>
          <p:spPr>
            <a:xfrm>
              <a:off x="6962775" y="35528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95250"/>
                  </a:moveTo>
                  <a:lnTo>
                    <a:pt x="57150" y="38100"/>
                  </a:lnTo>
                  <a:lnTo>
                    <a:pt x="95250" y="7620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067550" y="35528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7296150" y="34385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产品结构升级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19912" y="380285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高附加值产品占比持续提升，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19912" y="4031456"/>
            <a:ext cx="30214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新品类毛利率较传统产品高出8-12个百分点。</a:t>
            </a:r>
          </a:p>
        </p:txBody>
      </p:sp>
      <p:sp>
        <p:nvSpPr>
          <p:cNvPr id="65" name="Freeform 65"/>
          <p:cNvSpPr/>
          <p:nvPr/>
        </p:nvSpPr>
        <p:spPr>
          <a:xfrm>
            <a:off x="6667500" y="4572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6667500" y="4572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123950"/>
                </a:lnTo>
                <a:cubicBezTo>
                  <a:pt x="38100" y="1134471"/>
                  <a:pt x="29571" y="1143000"/>
                  <a:pt x="19050" y="1143000"/>
                </a:cubicBezTo>
                <a:lnTo>
                  <a:pt x="19050" y="1143000"/>
                </a:lnTo>
                <a:cubicBezTo>
                  <a:pt x="8529" y="1143000"/>
                  <a:pt x="0" y="1134471"/>
                  <a:pt x="0" y="1123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grpSp>
        <p:nvGrpSpPr>
          <p:cNvPr id="69" name="Group 69"/>
          <p:cNvGrpSpPr/>
          <p:nvPr/>
        </p:nvGrpSpPr>
        <p:grpSpPr>
          <a:xfrm>
            <a:off x="6962775" y="4886325"/>
            <a:ext cx="171450" cy="95250"/>
            <a:chOff x="6962775" y="4886325"/>
            <a:chExt cx="171450" cy="95250"/>
          </a:xfrm>
        </p:grpSpPr>
        <p:sp>
          <p:nvSpPr>
            <p:cNvPr id="67" name="Freeform 67"/>
            <p:cNvSpPr/>
            <p:nvPr/>
          </p:nvSpPr>
          <p:spPr>
            <a:xfrm>
              <a:off x="6962775" y="4886325"/>
              <a:ext cx="171450" cy="95250"/>
            </a:xfrm>
            <a:custGeom>
              <a:avLst/>
              <a:gdLst/>
              <a:ahLst/>
              <a:cxnLst/>
              <a:rect l="l" t="t" r="r" b="b"/>
              <a:pathLst>
                <a:path w="171450" h="95250">
                  <a:moveTo>
                    <a:pt x="0" y="95250"/>
                  </a:moveTo>
                  <a:lnTo>
                    <a:pt x="57150" y="38100"/>
                  </a:lnTo>
                  <a:lnTo>
                    <a:pt x="95250" y="7620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067550" y="488632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</a:path>
              </a:pathLst>
            </a:custGeom>
            <a:noFill/>
            <a:ln w="19050">
              <a:solidFill>
                <a:srgbClr val="E67E22"/>
              </a:solidFill>
            </a:ln>
          </p:spPr>
        </p:sp>
      </p:grpSp>
      <p:sp>
        <p:nvSpPr>
          <p:cNvPr id="70" name="TextBox 70"/>
          <p:cNvSpPr txBox="1"/>
          <p:nvPr/>
        </p:nvSpPr>
        <p:spPr>
          <a:xfrm>
            <a:off x="7296150" y="47720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Montserrat SemiBold"/>
                <a:ea typeface="Microsoft YaHei"/>
                <a:cs typeface="Montserrat SemiBold"/>
              </a:rPr>
              <a:t>数字化降本增效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19912" y="5136356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智能制造与数字化供应链投入初见成效，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19912" y="5364956"/>
            <a:ext cx="24888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预计未来两年运营成本可降低约15%。</a:t>
            </a:r>
          </a:p>
        </p:txBody>
      </p:sp>
      <p:sp>
        <p:nvSpPr>
          <p:cNvPr id="73" name="Ellipse 73"/>
          <p:cNvSpPr/>
          <p:nvPr/>
        </p:nvSpPr>
        <p:spPr>
          <a:xfrm>
            <a:off x="91154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93059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9496425" y="6353175"/>
            <a:ext cx="57150" cy="5715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Freeform 76"/>
          <p:cNvSpPr/>
          <p:nvPr/>
        </p:nvSpPr>
        <p:spPr>
          <a:xfrm>
            <a:off x="4191000" y="295275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476250" y="0"/>
                </a:moveTo>
                <a:lnTo>
                  <a:pt x="3333750" y="0"/>
                </a:lnTo>
                <a:cubicBezTo>
                  <a:pt x="3596776" y="0"/>
                  <a:pt x="3810000" y="213224"/>
                  <a:pt x="3810000" y="476250"/>
                </a:cubicBezTo>
                <a:lnTo>
                  <a:pt x="3810000" y="476250"/>
                </a:lnTo>
                <a:cubicBezTo>
                  <a:pt x="3810000" y="739276"/>
                  <a:pt x="3596776" y="952500"/>
                  <a:pt x="3333750" y="952500"/>
                </a:cubicBezTo>
                <a:lnTo>
                  <a:pt x="476250" y="952500"/>
                </a:lnTo>
                <a:cubicBezTo>
                  <a:pt x="213224" y="952500"/>
                  <a:pt x="0" y="739276"/>
                  <a:pt x="0" y="476250"/>
                </a:cubicBezTo>
                <a:lnTo>
                  <a:pt x="0" y="476250"/>
                </a:lnTo>
                <a:cubicBezTo>
                  <a:pt x="0" y="213224"/>
                  <a:pt x="213224" y="0"/>
                  <a:pt x="47625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191030" y="32156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关键风险与机遇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4517" y="3617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关键风险与机遇</a:t>
            </a:r>
          </a:p>
        </p:txBody>
      </p:sp>
      <p:sp>
        <p:nvSpPr>
          <p:cNvPr id="79" name="Line 79"/>
          <p:cNvSpPr/>
          <p:nvPr/>
        </p:nvSpPr>
        <p:spPr>
          <a:xfrm>
            <a:off x="2857500" y="34290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133350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</p:sp>
      <p:sp>
        <p:nvSpPr>
          <p:cNvPr id="80" name="Line 80"/>
          <p:cNvSpPr/>
          <p:nvPr/>
        </p:nvSpPr>
        <p:spPr>
          <a:xfrm>
            <a:off x="8001000" y="34290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883545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04 /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E67E22"/>
              </a:gs>
              <a:gs pos="100000">
                <a:srgbClr val="D35400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1A4F7A"/>
              </a:gs>
            </a:gsLst>
            <a:lin ang="0" scaled="1"/>
          </a:gra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0" y="0"/>
            <a:ext cx="2857500" cy="1143000"/>
          </a:xfrm>
          <a:custGeom>
            <a:avLst/>
            <a:gdLst/>
            <a:ahLst/>
            <a:cxnLst/>
            <a:rect l="l" t="t" r="r" b="b"/>
            <a:pathLst>
              <a:path w="2857500" h="1143000">
                <a:moveTo>
                  <a:pt x="0" y="1143000"/>
                </a:moveTo>
                <a:lnTo>
                  <a:pt x="2857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7E22">
              <a:alpha val="8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9334500" y="0"/>
            <a:ext cx="2857500" cy="1143000"/>
          </a:xfrm>
          <a:custGeom>
            <a:avLst/>
            <a:gdLst/>
            <a:ahLst/>
            <a:cxnLst/>
            <a:rect l="l" t="t" r="r" b="b"/>
            <a:pathLst>
              <a:path w="2857500" h="1143000">
                <a:moveTo>
                  <a:pt x="2857500" y="1143000"/>
                </a:moveTo>
                <a:lnTo>
                  <a:pt x="0" y="0"/>
                </a:lnTo>
                <a:lnTo>
                  <a:pt x="2857500" y="0"/>
                </a:lnTo>
                <a:close/>
              </a:path>
            </a:pathLst>
          </a:custGeom>
          <a:solidFill>
            <a:srgbClr val="E67E22">
              <a:alpha val="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381000" y="2667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71450" y="0"/>
                </a:lnTo>
                <a:cubicBezTo>
                  <a:pt x="266139" y="0"/>
                  <a:pt x="342900" y="76761"/>
                  <a:pt x="342900" y="171450"/>
                </a:cubicBezTo>
                <a:lnTo>
                  <a:pt x="342900" y="171450"/>
                </a:lnTo>
                <a:cubicBezTo>
                  <a:pt x="342900" y="266139"/>
                  <a:pt x="266139" y="342900"/>
                  <a:pt x="1714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/>
          <a:ln w="14288">
            <a:solidFill>
              <a:srgbClr val="FFFFFF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55652" y="373856"/>
            <a:ext cx="1935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>
                    <a:alphaMod val="80000"/>
                  </a:srgbClr>
                </a:solidFill>
                <a:latin typeface="Montserrat SemiBold"/>
                <a:ea typeface="Microsoft YaHei"/>
                <a:cs typeface="Montserrat SemiBold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" y="534352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67E22"/>
                </a:solidFill>
                <a:latin typeface="Montserrat SemiBold"/>
                <a:ea typeface="Microsoft YaHei"/>
                <a:cs typeface="Montserrat SemiBold"/>
              </a:rPr>
              <a:t>SUMMARY &amp; 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2020" y="693420"/>
            <a:ext cx="23012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总结与行动建议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2500" y="10668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571500" y="142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003366">
                <a:alpha val="9000"/>
              </a:srgbClr>
            </a:outerShdw>
          </a:effectLst>
        </p:spPr>
      </p:sp>
      <p:sp>
        <p:nvSpPr>
          <p:cNvPr id="13" name="Freeform 13"/>
          <p:cNvSpPr/>
          <p:nvPr/>
        </p:nvSpPr>
        <p:spPr>
          <a:xfrm>
            <a:off x="571500" y="1428750"/>
            <a:ext cx="57150" cy="1238250"/>
          </a:xfrm>
          <a:custGeom>
            <a:avLst/>
            <a:gdLst/>
            <a:ahLst/>
            <a:cxnLst/>
            <a:rect l="l" t="t" r="r" b="b"/>
            <a:pathLst>
              <a:path w="57150" h="1238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209675"/>
                </a:lnTo>
                <a:cubicBezTo>
                  <a:pt x="57150" y="1225457"/>
                  <a:pt x="44357" y="1238250"/>
                  <a:pt x="28575" y="1238250"/>
                </a:cubicBezTo>
                <a:lnTo>
                  <a:pt x="28575" y="1238250"/>
                </a:lnTo>
                <a:cubicBezTo>
                  <a:pt x="12793" y="1238250"/>
                  <a:pt x="0" y="1225457"/>
                  <a:pt x="0" y="1209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19150" y="1600200"/>
            <a:ext cx="952500" cy="228600"/>
          </a:xfrm>
          <a:custGeom>
            <a:avLst/>
            <a:gdLst/>
            <a:ahLst/>
            <a:cxnLst/>
            <a:rect l="l" t="t" r="r" b="b"/>
            <a:pathLst>
              <a:path w="952500" h="228600">
                <a:moveTo>
                  <a:pt x="114300" y="0"/>
                </a:moveTo>
                <a:lnTo>
                  <a:pt x="838200" y="0"/>
                </a:lnTo>
                <a:cubicBezTo>
                  <a:pt x="901326" y="0"/>
                  <a:pt x="952500" y="51174"/>
                  <a:pt x="952500" y="114300"/>
                </a:cubicBezTo>
                <a:lnTo>
                  <a:pt x="952500" y="114300"/>
                </a:lnTo>
                <a:cubicBezTo>
                  <a:pt x="952500" y="177426"/>
                  <a:pt x="901326" y="228600"/>
                  <a:pt x="838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67E22">
              <a:alpha val="1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3940" y="16554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67E22"/>
                </a:solidFill>
                <a:latin typeface="Montserrat SemiBold"/>
                <a:ea typeface="Microsoft YaHei"/>
                <a:cs typeface="Montserrat SemiBold"/>
              </a:rPr>
              <a:t>核心结论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4905" y="202596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公司整体盈利质量处于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4905" y="2292668"/>
            <a:ext cx="9324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67E22"/>
                </a:solidFill>
                <a:latin typeface="Calibri"/>
                <a:ea typeface="Microsoft YaHei"/>
                <a:cs typeface="Calibri"/>
              </a:rPr>
              <a:t>"中等偏上"</a:t>
            </a:r>
            <a:r>
              <a:rPr lang="zh-CN" sz="1350" b="1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 xml:space="preserve">水平。 </a:t>
            </a:r>
            <a:r>
              <a:rPr lang="zh-CN" sz="135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主营业务造血能力稳健，毛利率连续三年维持在40%以上；但应收账款周转天数延长至72天，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6810" y="2480310"/>
            <a:ext cx="4351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  <a:cs typeface="Calibri"/>
              </a:rPr>
              <a:t>经营性现金流波动较大，需关注回款效率与成本管控的平衡。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857500"/>
            <a:ext cx="11049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8165" y="31251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关键行动建议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333750"/>
            <a:ext cx="381000" cy="28575"/>
          </a:xfrm>
          <a:custGeom>
            <a:avLst/>
            <a:gdLst/>
            <a:ahLst/>
            <a:cxnLst/>
            <a:rect l="l" t="t" r="r" b="b"/>
            <a:pathLst>
              <a:path w="381000" h="28575">
                <a:moveTo>
                  <a:pt x="14288" y="0"/>
                </a:moveTo>
                <a:lnTo>
                  <a:pt x="366712" y="0"/>
                </a:lnTo>
                <a:cubicBezTo>
                  <a:pt x="374603" y="0"/>
                  <a:pt x="381000" y="6397"/>
                  <a:pt x="381000" y="14288"/>
                </a:cubicBezTo>
                <a:lnTo>
                  <a:pt x="381000" y="14288"/>
                </a:lnTo>
                <a:cubicBezTo>
                  <a:pt x="381000" y="22178"/>
                  <a:pt x="374603" y="28575"/>
                  <a:pt x="366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571500" y="3571875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1790700"/>
                </a:lnTo>
                <a:cubicBezTo>
                  <a:pt x="3429000" y="1853826"/>
                  <a:pt x="3377826" y="1905000"/>
                  <a:pt x="33147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11250"/>
              </a:srgbClr>
            </a:outerShdw>
          </a:effectLst>
        </p:spPr>
      </p:sp>
      <p:sp>
        <p:nvSpPr>
          <p:cNvPr id="23" name="Freeform 23"/>
          <p:cNvSpPr/>
          <p:nvPr/>
        </p:nvSpPr>
        <p:spPr>
          <a:xfrm>
            <a:off x="571500" y="3571875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81050" y="3733800"/>
            <a:ext cx="342900" cy="3429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08352" y="3816668"/>
            <a:ext cx="882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3010" y="38423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优化应收账款管理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57250" y="4171950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76300" y="43624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15365" y="43443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建立客户信用分级评估体系</a:t>
            </a:r>
          </a:p>
        </p:txBody>
      </p:sp>
      <p:sp>
        <p:nvSpPr>
          <p:cNvPr id="30" name="Ellipse 30"/>
          <p:cNvSpPr/>
          <p:nvPr/>
        </p:nvSpPr>
        <p:spPr>
          <a:xfrm>
            <a:off x="876300" y="46291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15365" y="4611052"/>
            <a:ext cx="1300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缩短账期至45天以内</a:t>
            </a:r>
          </a:p>
        </p:txBody>
      </p:sp>
      <p:sp>
        <p:nvSpPr>
          <p:cNvPr id="32" name="Ellipse 32"/>
          <p:cNvSpPr/>
          <p:nvPr/>
        </p:nvSpPr>
        <p:spPr>
          <a:xfrm>
            <a:off x="876300" y="48958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15365" y="48777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引入应收账款保理机制</a:t>
            </a:r>
          </a:p>
        </p:txBody>
      </p:sp>
      <p:sp>
        <p:nvSpPr>
          <p:cNvPr id="34" name="Ellipse 34"/>
          <p:cNvSpPr/>
          <p:nvPr/>
        </p:nvSpPr>
        <p:spPr>
          <a:xfrm>
            <a:off x="876300" y="51625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5365" y="51444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设置回款预警与催收自动化</a:t>
            </a:r>
          </a:p>
        </p:txBody>
      </p:sp>
      <p:sp>
        <p:nvSpPr>
          <p:cNvPr id="36" name="Freeform 36"/>
          <p:cNvSpPr/>
          <p:nvPr/>
        </p:nvSpPr>
        <p:spPr>
          <a:xfrm>
            <a:off x="4381500" y="3571875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1790700"/>
                </a:lnTo>
                <a:cubicBezTo>
                  <a:pt x="3429000" y="1853826"/>
                  <a:pt x="3377826" y="1905000"/>
                  <a:pt x="33147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11250"/>
              </a:srgbClr>
            </a:outerShdw>
          </a:effectLst>
        </p:spPr>
      </p:sp>
      <p:sp>
        <p:nvSpPr>
          <p:cNvPr id="37" name="Freeform 37"/>
          <p:cNvSpPr/>
          <p:nvPr/>
        </p:nvSpPr>
        <p:spPr>
          <a:xfrm>
            <a:off x="4381500" y="3571875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4591050" y="3733800"/>
            <a:ext cx="342900" cy="3429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95849" y="38166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33010" y="38423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7E22"/>
                </a:solidFill>
                <a:latin typeface="Montserrat SemiBold"/>
                <a:ea typeface="Microsoft YaHei"/>
                <a:cs typeface="Montserrat SemiBold"/>
              </a:rPr>
              <a:t>加强成本费用管控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667250" y="4171950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4686300" y="436245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825365" y="43443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推行全面预算管理制度</a:t>
            </a:r>
          </a:p>
        </p:txBody>
      </p:sp>
      <p:sp>
        <p:nvSpPr>
          <p:cNvPr id="44" name="Ellipse 44"/>
          <p:cNvSpPr/>
          <p:nvPr/>
        </p:nvSpPr>
        <p:spPr>
          <a:xfrm>
            <a:off x="4686300" y="462915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825365" y="46110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优化供应链降低采购成本</a:t>
            </a:r>
          </a:p>
        </p:txBody>
      </p:sp>
      <p:sp>
        <p:nvSpPr>
          <p:cNvPr id="46" name="Ellipse 46"/>
          <p:cNvSpPr/>
          <p:nvPr/>
        </p:nvSpPr>
        <p:spPr>
          <a:xfrm>
            <a:off x="4686300" y="489585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825365" y="4877752"/>
            <a:ext cx="1531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费用支出同比压降5%-8%</a:t>
            </a:r>
          </a:p>
        </p:txBody>
      </p:sp>
      <p:sp>
        <p:nvSpPr>
          <p:cNvPr id="48" name="Ellipse 48"/>
          <p:cNvSpPr/>
          <p:nvPr/>
        </p:nvSpPr>
        <p:spPr>
          <a:xfrm>
            <a:off x="4686300" y="5162550"/>
            <a:ext cx="76200" cy="76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825365" y="51444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每季度开展成本审计复盘</a:t>
            </a:r>
          </a:p>
        </p:txBody>
      </p:sp>
      <p:sp>
        <p:nvSpPr>
          <p:cNvPr id="50" name="Freeform 50"/>
          <p:cNvSpPr/>
          <p:nvPr/>
        </p:nvSpPr>
        <p:spPr>
          <a:xfrm>
            <a:off x="8191500" y="3571875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1790700"/>
                </a:lnTo>
                <a:cubicBezTo>
                  <a:pt x="3429000" y="1853826"/>
                  <a:pt x="3377826" y="1905000"/>
                  <a:pt x="33147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3366">
                <a:alpha val="11250"/>
              </a:srgbClr>
            </a:outerShdw>
          </a:effectLst>
        </p:spPr>
      </p:sp>
      <p:sp>
        <p:nvSpPr>
          <p:cNvPr id="51" name="Freeform 51"/>
          <p:cNvSpPr/>
          <p:nvPr/>
        </p:nvSpPr>
        <p:spPr>
          <a:xfrm>
            <a:off x="8191500" y="3571875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8401050" y="3733800"/>
            <a:ext cx="342900" cy="3429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505849" y="38166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ontserrat Bold"/>
                <a:ea typeface="Microsoft YaHei"/>
                <a:cs typeface="Montserrat Bold"/>
              </a:rPr>
              <a:t>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843010" y="38423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3366"/>
                </a:solidFill>
                <a:latin typeface="Montserrat SemiBold"/>
                <a:ea typeface="Microsoft YaHei"/>
                <a:cs typeface="Montserrat SemiBold"/>
              </a:rPr>
              <a:t>强化现金流稳定性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477250" y="4171950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496300" y="43624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635365" y="4344352"/>
            <a:ext cx="13638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建立6个月现金流储备</a:t>
            </a:r>
          </a:p>
        </p:txBody>
      </p:sp>
      <p:sp>
        <p:nvSpPr>
          <p:cNvPr id="58" name="Ellipse 58"/>
          <p:cNvSpPr/>
          <p:nvPr/>
        </p:nvSpPr>
        <p:spPr>
          <a:xfrm>
            <a:off x="8496300" y="46291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635365" y="46110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多元化融资渠道分散风险</a:t>
            </a:r>
          </a:p>
        </p:txBody>
      </p:sp>
      <p:sp>
        <p:nvSpPr>
          <p:cNvPr id="60" name="Ellipse 60"/>
          <p:cNvSpPr/>
          <p:nvPr/>
        </p:nvSpPr>
        <p:spPr>
          <a:xfrm>
            <a:off x="8496300" y="48958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635365" y="4877752"/>
            <a:ext cx="16578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优化现金转换周期（CCC）</a:t>
            </a:r>
          </a:p>
        </p:txBody>
      </p:sp>
      <p:sp>
        <p:nvSpPr>
          <p:cNvPr id="62" name="Ellipse 62"/>
          <p:cNvSpPr/>
          <p:nvPr/>
        </p:nvSpPr>
        <p:spPr>
          <a:xfrm>
            <a:off x="8496300" y="5162550"/>
            <a:ext cx="76200" cy="76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635365" y="51444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Calibri"/>
                <a:ea typeface="Microsoft YaHei"/>
                <a:cs typeface="Calibri"/>
              </a:rPr>
              <a:t>定期进行现金流压力测试</a:t>
            </a:r>
          </a:p>
        </p:txBody>
      </p:sp>
      <p:sp>
        <p:nvSpPr>
          <p:cNvPr id="64" name="Freeform 64"/>
          <p:cNvSpPr/>
          <p:nvPr/>
        </p:nvSpPr>
        <p:spPr>
          <a:xfrm>
            <a:off x="571500" y="5715000"/>
            <a:ext cx="11049000" cy="857250"/>
          </a:xfrm>
          <a:custGeom>
            <a:avLst/>
            <a:gdLst/>
            <a:ahLst/>
            <a:cxnLst/>
            <a:rect l="l" t="t" r="r" b="b"/>
            <a:pathLst>
              <a:path w="11049000" h="857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742950"/>
                </a:lnTo>
                <a:cubicBezTo>
                  <a:pt x="11049000" y="806076"/>
                  <a:pt x="10997826" y="857250"/>
                  <a:pt x="109347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  <a:effectLst>
            <a:outerShdw blurRad="114300" dist="28575" dir="5400000" algn="ctr" rotWithShape="0">
              <a:srgbClr val="003366">
                <a:alpha val="11250"/>
              </a:srgbClr>
            </a:outerShdw>
          </a:effectLst>
        </p:spPr>
      </p:sp>
      <p:grpSp>
        <p:nvGrpSpPr>
          <p:cNvPr id="67" name="Group 67"/>
          <p:cNvGrpSpPr/>
          <p:nvPr/>
        </p:nvGrpSpPr>
        <p:grpSpPr>
          <a:xfrm>
            <a:off x="857250" y="5943600"/>
            <a:ext cx="266700" cy="266700"/>
            <a:chOff x="857250" y="5943600"/>
            <a:chExt cx="266700" cy="266700"/>
          </a:xfrm>
        </p:grpSpPr>
        <p:sp>
          <p:nvSpPr>
            <p:cNvPr id="65" name="Freeform 65"/>
            <p:cNvSpPr/>
            <p:nvPr/>
          </p:nvSpPr>
          <p:spPr>
            <a:xfrm>
              <a:off x="857250" y="59436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66688" y="266700"/>
                  </a:moveTo>
                  <a:lnTo>
                    <a:pt x="200025" y="233362"/>
                  </a:lnTo>
                  <a:lnTo>
                    <a:pt x="200025" y="166688"/>
                  </a:lnTo>
                  <a:lnTo>
                    <a:pt x="227643" y="139070"/>
                  </a:lnTo>
                  <a:cubicBezTo>
                    <a:pt x="252650" y="114062"/>
                    <a:pt x="266700" y="80144"/>
                    <a:pt x="266700" y="44777"/>
                  </a:cubicBezTo>
                  <a:lnTo>
                    <a:pt x="266700" y="0"/>
                  </a:lnTo>
                  <a:lnTo>
                    <a:pt x="221923" y="0"/>
                  </a:lnTo>
                  <a:cubicBezTo>
                    <a:pt x="186557" y="0"/>
                    <a:pt x="152638" y="14049"/>
                    <a:pt x="127630" y="39057"/>
                  </a:cubicBezTo>
                  <a:lnTo>
                    <a:pt x="100012" y="66675"/>
                  </a:lnTo>
                  <a:lnTo>
                    <a:pt x="33338" y="66675"/>
                  </a:lnTo>
                  <a:lnTo>
                    <a:pt x="0" y="100012"/>
                  </a:lnTo>
                  <a:lnTo>
                    <a:pt x="166688" y="266700"/>
                  </a:lnTo>
                  <a:close/>
                  <a:moveTo>
                    <a:pt x="175022" y="116681"/>
                  </a:moveTo>
                  <a:cubicBezTo>
                    <a:pt x="188830" y="116681"/>
                    <a:pt x="200025" y="105487"/>
                    <a:pt x="200025" y="91678"/>
                  </a:cubicBezTo>
                  <a:cubicBezTo>
                    <a:pt x="200025" y="77869"/>
                    <a:pt x="188830" y="66675"/>
                    <a:pt x="175022" y="66675"/>
                  </a:cubicBezTo>
                  <a:cubicBezTo>
                    <a:pt x="161213" y="66675"/>
                    <a:pt x="150019" y="77869"/>
                    <a:pt x="150019" y="91678"/>
                  </a:cubicBezTo>
                  <a:cubicBezTo>
                    <a:pt x="150019" y="105487"/>
                    <a:pt x="161213" y="116681"/>
                    <a:pt x="175022" y="116681"/>
                  </a:cubicBez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7250" y="6128166"/>
              <a:ext cx="82134" cy="82134"/>
            </a:xfrm>
            <a:custGeom>
              <a:avLst/>
              <a:gdLst/>
              <a:ahLst/>
              <a:cxnLst/>
              <a:rect l="l" t="t" r="r" b="b"/>
              <a:pathLst>
                <a:path w="82134" h="82134">
                  <a:moveTo>
                    <a:pt x="82134" y="44726"/>
                  </a:moveTo>
                  <a:lnTo>
                    <a:pt x="37409" y="0"/>
                  </a:lnTo>
                  <a:lnTo>
                    <a:pt x="0" y="65465"/>
                  </a:lnTo>
                  <a:lnTo>
                    <a:pt x="16669" y="82134"/>
                  </a:lnTo>
                  <a:lnTo>
                    <a:pt x="82134" y="44726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</p:grpSp>
      <p:sp>
        <p:nvSpPr>
          <p:cNvPr id="68" name="TextBox 68"/>
          <p:cNvSpPr txBox="1"/>
          <p:nvPr/>
        </p:nvSpPr>
        <p:spPr>
          <a:xfrm>
            <a:off x="1223010" y="595693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Montserrat SemiBold"/>
                <a:ea typeface="Microsoft YaHei"/>
                <a:cs typeface="Montserrat SemiBold"/>
              </a:rPr>
              <a:t>下一步工作重点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24915" y="6192202"/>
            <a:ext cx="67895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① 月度跟踪应收账款回收率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 xml:space="preserve"> 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② 季度费用审计与成本对标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 xml:space="preserve"> 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③ 半年度现金流压力测试报告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 xml:space="preserve"> </a:t>
            </a:r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Calibri"/>
                <a:ea typeface="Microsoft YaHei"/>
                <a:cs typeface="Calibri"/>
              </a:rPr>
              <a:t>④ 年度盈利质量全面复盘</a:t>
            </a:r>
          </a:p>
        </p:txBody>
      </p:sp>
      <p:sp>
        <p:nvSpPr>
          <p:cNvPr id="70" name="Rectangle 70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gradFill>
            <a:gsLst>
              <a:gs pos="0">
                <a:srgbClr val="E67E22"/>
              </a:gs>
              <a:gs pos="100000">
                <a:srgbClr val="D35400"/>
              </a:gs>
            </a:gsLst>
            <a:lin ang="540000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